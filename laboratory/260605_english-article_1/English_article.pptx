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37"/>
  </p:notesMasterIdLst>
  <p:sldIdLst>
    <p:sldId id="256" r:id="rId2"/>
    <p:sldId id="339" r:id="rId3"/>
    <p:sldId id="330" r:id="rId4"/>
    <p:sldId id="338" r:id="rId5"/>
    <p:sldId id="340" r:id="rId6"/>
    <p:sldId id="288" r:id="rId7"/>
    <p:sldId id="315" r:id="rId8"/>
    <p:sldId id="294" r:id="rId9"/>
    <p:sldId id="331" r:id="rId10"/>
    <p:sldId id="341" r:id="rId11"/>
    <p:sldId id="333" r:id="rId12"/>
    <p:sldId id="316" r:id="rId13"/>
    <p:sldId id="317" r:id="rId14"/>
    <p:sldId id="334" r:id="rId15"/>
    <p:sldId id="336" r:id="rId16"/>
    <p:sldId id="335" r:id="rId17"/>
    <p:sldId id="275" r:id="rId18"/>
    <p:sldId id="342" r:id="rId19"/>
    <p:sldId id="345" r:id="rId20"/>
    <p:sldId id="318" r:id="rId21"/>
    <p:sldId id="323" r:id="rId22"/>
    <p:sldId id="324" r:id="rId23"/>
    <p:sldId id="346" r:id="rId24"/>
    <p:sldId id="344" r:id="rId25"/>
    <p:sldId id="325" r:id="rId26"/>
    <p:sldId id="328" r:id="rId27"/>
    <p:sldId id="327" r:id="rId28"/>
    <p:sldId id="320" r:id="rId29"/>
    <p:sldId id="329" r:id="rId30"/>
    <p:sldId id="305" r:id="rId31"/>
    <p:sldId id="326" r:id="rId32"/>
    <p:sldId id="321" r:id="rId33"/>
    <p:sldId id="343" r:id="rId34"/>
    <p:sldId id="337" r:id="rId35"/>
    <p:sldId id="332" r:id="rId36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 タイトル" id="{15CF47C2-D507-4EC9-8A71-99F849967173}">
          <p14:sldIdLst>
            <p14:sldId id="256"/>
          </p14:sldIdLst>
        </p14:section>
        <p14:section name="1 選んだ論文" id="{65E4B75B-864D-4AF8-86E4-E175345E852E}">
          <p14:sldIdLst>
            <p14:sldId id="339"/>
            <p14:sldId id="330"/>
            <p14:sldId id="338"/>
          </p14:sldIdLst>
        </p14:section>
        <p14:section name="2 論文の背景" id="{B7B16FC3-35A7-4613-8895-41EEDC6B01A7}">
          <p14:sldIdLst>
            <p14:sldId id="340"/>
            <p14:sldId id="288"/>
            <p14:sldId id="315"/>
            <p14:sldId id="294"/>
            <p14:sldId id="331"/>
          </p14:sldIdLst>
        </p14:section>
        <p14:section name="3 行われた実験" id="{8AEC3324-61EC-4732-A3FD-3F2495DE7069}">
          <p14:sldIdLst>
            <p14:sldId id="341"/>
            <p14:sldId id="333"/>
            <p14:sldId id="316"/>
            <p14:sldId id="317"/>
            <p14:sldId id="334"/>
            <p14:sldId id="336"/>
            <p14:sldId id="335"/>
            <p14:sldId id="275"/>
          </p14:sldIdLst>
        </p14:section>
        <p14:section name="4 生物活性の読み取り" id="{1C29B1B8-C4D7-4E23-8BE0-85B792C7F21A}">
          <p14:sldIdLst>
            <p14:sldId id="342"/>
            <p14:sldId id="345"/>
            <p14:sldId id="318"/>
            <p14:sldId id="323"/>
            <p14:sldId id="324"/>
            <p14:sldId id="346"/>
            <p14:sldId id="344"/>
            <p14:sldId id="325"/>
            <p14:sldId id="328"/>
            <p14:sldId id="327"/>
            <p14:sldId id="320"/>
            <p14:sldId id="329"/>
            <p14:sldId id="305"/>
            <p14:sldId id="326"/>
            <p14:sldId id="321"/>
          </p14:sldIdLst>
        </p14:section>
        <p14:section name="5 今後の展望" id="{4DEE7A46-A87B-4ECE-8843-B035491959DA}">
          <p14:sldIdLst>
            <p14:sldId id="343"/>
            <p14:sldId id="337"/>
          </p14:sldIdLst>
        </p14:section>
        <p14:section name="6 質疑応答" id="{3D60053B-DEEF-488F-81BE-CC06A340CB9B}">
          <p14:sldIdLst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0F3"/>
    <a:srgbClr val="F6FCF5"/>
    <a:srgbClr val="E9F1E1"/>
    <a:srgbClr val="FCF9EE"/>
    <a:srgbClr val="DD6C20"/>
    <a:srgbClr val="EEF3E5"/>
    <a:srgbClr val="EDF1E3"/>
    <a:srgbClr val="F6F2C5"/>
    <a:srgbClr val="F6F4C4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3A17C4-687B-447D-9D45-7F51E16518DA}" v="4" dt="2026-07-05T17:19:32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6242" autoAdjust="0"/>
  </p:normalViewPr>
  <p:slideViewPr>
    <p:cSldViewPr snapToGrid="0">
      <p:cViewPr varScale="1">
        <p:scale>
          <a:sx n="74" d="100"/>
          <a:sy n="74" d="100"/>
        </p:scale>
        <p:origin x="1077" y="27"/>
      </p:cViewPr>
      <p:guideLst>
        <p:guide orient="horz" pos="2381"/>
        <p:guide pos="33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A73E12-B3D2-4CC1-9F93-8FAC42DF89C6}" type="datetimeFigureOut">
              <a:rPr kumimoji="1" lang="ja-JP" altLang="en-US" smtClean="0"/>
              <a:t>2026/7/6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456E0-8D2D-4177-AEEB-66A500BB10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3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通常の実験までのフロー</a:t>
            </a:r>
            <a:endParaRPr kumimoji="1" lang="en-US" altLang="ja-JP" dirty="0"/>
          </a:p>
          <a:p>
            <a:r>
              <a:rPr kumimoji="1" lang="ja-JP" altLang="en-US" dirty="0"/>
              <a:t>「実は，私は工業科出身でこのフローを描いた記憶がほぼないです．」</a:t>
            </a:r>
            <a:endParaRPr kumimoji="1" lang="en-US" altLang="ja-JP" dirty="0"/>
          </a:p>
          <a:p>
            <a:r>
              <a:rPr kumimoji="1" lang="ja-JP" altLang="en-US" dirty="0"/>
              <a:t>物理科，電気科，情報科くらい（よくまとめ講義は割愛されていた．通常講義の復唱のため）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5704C-9C21-4E83-9ED3-5CEAEA6C4541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6054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2A48DA8-B1ED-70B2-C4B0-9F069BDDFAF3}"/>
              </a:ext>
            </a:extLst>
          </p:cNvPr>
          <p:cNvCxnSpPr>
            <a:cxnSpLocks/>
          </p:cNvCxnSpPr>
          <p:nvPr userDrawn="1"/>
        </p:nvCxnSpPr>
        <p:spPr>
          <a:xfrm>
            <a:off x="354001" y="544339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B0ECBFA-C512-79A4-F0E9-14C740556E3A}"/>
              </a:ext>
            </a:extLst>
          </p:cNvPr>
          <p:cNvCxnSpPr>
            <a:cxnSpLocks/>
          </p:cNvCxnSpPr>
          <p:nvPr userDrawn="1"/>
        </p:nvCxnSpPr>
        <p:spPr>
          <a:xfrm>
            <a:off x="354001" y="624660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DF36E7-CFFF-85A6-0641-689925A4075E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B1FB8E5-5650-9B0E-2861-6E80AC2F4A13}"/>
              </a:ext>
            </a:extLst>
          </p:cNvPr>
          <p:cNvCxnSpPr>
            <a:cxnSpLocks/>
          </p:cNvCxnSpPr>
          <p:nvPr userDrawn="1"/>
        </p:nvCxnSpPr>
        <p:spPr>
          <a:xfrm>
            <a:off x="354000" y="5998736"/>
            <a:ext cx="9983811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プレースホルダー 34">
            <a:extLst>
              <a:ext uri="{FF2B5EF4-FFF2-40B4-BE49-F238E27FC236}">
                <a16:creationId xmlns:a16="http://schemas.microsoft.com/office/drawing/2014/main" id="{E8052C91-8300-8C29-5D24-06B756E7EC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2632" y="1506527"/>
            <a:ext cx="2088018" cy="670226"/>
          </a:xfrm>
          <a:prstGeom prst="rect">
            <a:avLst/>
          </a:prstGeom>
          <a:solidFill>
            <a:srgbClr val="3C3C3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（班名）</a:t>
            </a:r>
          </a:p>
        </p:txBody>
      </p:sp>
      <p:sp>
        <p:nvSpPr>
          <p:cNvPr id="39" name="テキスト プレースホルダー 38">
            <a:extLst>
              <a:ext uri="{FF2B5EF4-FFF2-40B4-BE49-F238E27FC236}">
                <a16:creationId xmlns:a16="http://schemas.microsoft.com/office/drawing/2014/main" id="{35D7F784-DFF9-CB6F-6C65-0106BB00E5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4002" y="5998736"/>
            <a:ext cx="4991904" cy="101659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（研究室名）</a:t>
            </a:r>
          </a:p>
        </p:txBody>
      </p:sp>
      <p:sp>
        <p:nvSpPr>
          <p:cNvPr id="40" name="テキスト プレースホルダー 38">
            <a:extLst>
              <a:ext uri="{FF2B5EF4-FFF2-40B4-BE49-F238E27FC236}">
                <a16:creationId xmlns:a16="http://schemas.microsoft.com/office/drawing/2014/main" id="{B07F4C22-7659-A0BA-B20C-9DB0D86A58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5906" y="5998737"/>
            <a:ext cx="4991905" cy="1016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発表者</a:t>
            </a:r>
            <a:r>
              <a:rPr kumimoji="1" lang="en-US" altLang="ja-JP" dirty="0"/>
              <a:t>:</a:t>
            </a:r>
            <a:r>
              <a:rPr kumimoji="1" lang="ja-JP" altLang="en-US" dirty="0"/>
              <a:t>（発表者名）</a:t>
            </a:r>
            <a:endParaRPr kumimoji="1" lang="en-US" altLang="ja-JP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0C97A5A8-7538-45A0-A3AB-57C322E843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2632" y="2191844"/>
            <a:ext cx="7350405" cy="1733549"/>
          </a:xfrm>
          <a:prstGeom prst="rect">
            <a:avLst/>
          </a:prstGeom>
        </p:spPr>
        <p:txBody>
          <a:bodyPr/>
          <a:lstStyle>
            <a:lvl1pPr>
              <a:defRPr sz="4800" b="0">
                <a:latin typeface="+mn-lt"/>
                <a:ea typeface="+mn-ea"/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17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D1731DFA-300F-477F-120B-6B9D3DDD5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68573"/>
            <a:ext cx="10691813" cy="56467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165225" indent="-987425">
              <a:lnSpc>
                <a:spcPct val="200000"/>
              </a:lnSpc>
              <a:spcBef>
                <a:spcPts val="0"/>
              </a:spcBef>
              <a:buFont typeface="+mj-lt"/>
              <a:buAutoNum type="arabicPeriod"/>
              <a:defRPr sz="4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0391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D1731DFA-300F-477F-120B-6B9D3DDD55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368573"/>
            <a:ext cx="10691813" cy="56467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1165225" indent="-987425">
              <a:lnSpc>
                <a:spcPct val="150000"/>
              </a:lnSpc>
              <a:buFont typeface="Wingdings" panose="05000000000000000000" pitchFamily="2" charset="2"/>
              <a:buChar char="u"/>
              <a:defRPr sz="4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F433DACB-F1EA-789F-0C94-25080A8BC88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015337"/>
            <a:ext cx="10665945" cy="5423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 dirty="0"/>
              <a:t>[Ref0] </a:t>
            </a:r>
            <a:r>
              <a:rPr kumimoji="1" lang="ja-JP" altLang="en-US" dirty="0"/>
              <a:t>名前：タイトル，</a:t>
            </a:r>
            <a:r>
              <a:rPr kumimoji="1" lang="en-US" altLang="ja-JP" dirty="0"/>
              <a:t>https:i</a:t>
            </a:r>
          </a:p>
        </p:txBody>
      </p:sp>
    </p:spTree>
    <p:extLst>
      <p:ext uri="{BB962C8B-B14F-4D97-AF65-F5344CB8AC3E}">
        <p14:creationId xmlns:p14="http://schemas.microsoft.com/office/powerpoint/2010/main" val="2925567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02" y="544338"/>
            <a:ext cx="9983810" cy="749989"/>
          </a:xfrm>
          <a:prstGeom prst="rect">
            <a:avLst/>
          </a:prstGeom>
          <a:solidFill>
            <a:srgbClr val="3C3C3C"/>
          </a:solidFill>
        </p:spPr>
        <p:txBody>
          <a:bodyPr>
            <a:normAutofit/>
          </a:bodyPr>
          <a:lstStyle>
            <a:lvl1pPr marL="180975" indent="0">
              <a:defRPr sz="40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D73CEE31-91E3-5472-5072-B902961C3837}"/>
              </a:ext>
            </a:extLst>
          </p:cNvPr>
          <p:cNvCxnSpPr>
            <a:cxnSpLocks/>
          </p:cNvCxnSpPr>
          <p:nvPr userDrawn="1"/>
        </p:nvCxnSpPr>
        <p:spPr>
          <a:xfrm>
            <a:off x="354001" y="1368573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CE2A222-2D21-A58F-5BE2-73623DC79E15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テキスト プレースホルダー 5">
            <a:extLst>
              <a:ext uri="{FF2B5EF4-FFF2-40B4-BE49-F238E27FC236}">
                <a16:creationId xmlns:a16="http://schemas.microsoft.com/office/drawing/2014/main" id="{5921E05D-178E-9CD4-AF54-F3A10F690D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45906" y="1368572"/>
            <a:ext cx="5320039" cy="56467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685800" indent="-685800">
              <a:lnSpc>
                <a:spcPct val="100000"/>
              </a:lnSpc>
              <a:buFont typeface="Wingdings" panose="05000000000000000000" pitchFamily="2" charset="2"/>
              <a:buChar char="u"/>
              <a:defRPr sz="40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6" name="テキスト プレースホルダー 11">
            <a:extLst>
              <a:ext uri="{FF2B5EF4-FFF2-40B4-BE49-F238E27FC236}">
                <a16:creationId xmlns:a16="http://schemas.microsoft.com/office/drawing/2014/main" id="{68260DFC-48FD-E92B-E637-2D7ABA8B10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015337"/>
            <a:ext cx="10665945" cy="54237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 dirty="0"/>
              <a:t>[Ref0] </a:t>
            </a:r>
            <a:r>
              <a:rPr kumimoji="1" lang="ja-JP" altLang="en-US" dirty="0"/>
              <a:t>名前：タイトル，</a:t>
            </a:r>
            <a:r>
              <a:rPr kumimoji="1" lang="en-US" altLang="ja-JP" dirty="0"/>
              <a:t>https:i</a:t>
            </a:r>
          </a:p>
        </p:txBody>
      </p:sp>
    </p:spTree>
    <p:extLst>
      <p:ext uri="{BB962C8B-B14F-4D97-AF65-F5344CB8AC3E}">
        <p14:creationId xmlns:p14="http://schemas.microsoft.com/office/powerpoint/2010/main" val="664316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2">
            <a:extLst>
              <a:ext uri="{FF2B5EF4-FFF2-40B4-BE49-F238E27FC236}">
                <a16:creationId xmlns:a16="http://schemas.microsoft.com/office/drawing/2014/main" id="{4E335B14-1B39-F44D-D009-78A0A022A5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9545033" cy="793324"/>
          </a:xfrm>
          <a:prstGeom prst="rect">
            <a:avLst/>
          </a:prstGeom>
        </p:spPr>
        <p:txBody>
          <a:bodyPr anchor="b"/>
          <a:lstStyle>
            <a:lvl1pPr algn="l">
              <a:defRPr sz="44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kumimoji="1" lang="ja-JP" altLang="en-US" dirty="0"/>
              <a:t>（タイトル）</a:t>
            </a:r>
          </a:p>
        </p:txBody>
      </p:sp>
      <p:sp>
        <p:nvSpPr>
          <p:cNvPr id="2" name="テキスト プレースホルダー 5">
            <a:extLst>
              <a:ext uri="{FF2B5EF4-FFF2-40B4-BE49-F238E27FC236}">
                <a16:creationId xmlns:a16="http://schemas.microsoft.com/office/drawing/2014/main" id="{DCB1C015-A3C0-D2EB-C569-9A9530B204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0" y="1909404"/>
            <a:ext cx="10665945" cy="4678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4800" b="0"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0D17589A-FF8B-457E-3793-602EE0F910F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0" y="7219277"/>
            <a:ext cx="10665945" cy="3384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  <a:ea typeface="+mj-ea"/>
                <a:cs typeface="Courier New" panose="02070309020205020404" pitchFamily="49" charset="0"/>
              </a:defRPr>
            </a:lvl1pPr>
          </a:lstStyle>
          <a:p>
            <a:pPr lvl="0"/>
            <a:r>
              <a:rPr kumimoji="1" lang="en-US" altLang="ja-JP" dirty="0"/>
              <a:t>[Ref0] </a:t>
            </a:r>
            <a:r>
              <a:rPr kumimoji="1" lang="ja-JP" altLang="en-US" dirty="0"/>
              <a:t>名前：タイトル，</a:t>
            </a:r>
            <a:r>
              <a:rPr kumimoji="1" lang="en-US" altLang="ja-JP" dirty="0"/>
              <a:t>https:i</a:t>
            </a:r>
          </a:p>
        </p:txBody>
      </p:sp>
    </p:spTree>
    <p:extLst>
      <p:ext uri="{BB962C8B-B14F-4D97-AF65-F5344CB8AC3E}">
        <p14:creationId xmlns:p14="http://schemas.microsoft.com/office/powerpoint/2010/main" val="3382691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2A48DA8-B1ED-70B2-C4B0-9F069BDDFAF3}"/>
              </a:ext>
            </a:extLst>
          </p:cNvPr>
          <p:cNvCxnSpPr>
            <a:cxnSpLocks/>
          </p:cNvCxnSpPr>
          <p:nvPr userDrawn="1"/>
        </p:nvCxnSpPr>
        <p:spPr>
          <a:xfrm>
            <a:off x="354001" y="544339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B0ECBFA-C512-79A4-F0E9-14C740556E3A}"/>
              </a:ext>
            </a:extLst>
          </p:cNvPr>
          <p:cNvCxnSpPr>
            <a:cxnSpLocks/>
          </p:cNvCxnSpPr>
          <p:nvPr userDrawn="1"/>
        </p:nvCxnSpPr>
        <p:spPr>
          <a:xfrm>
            <a:off x="354001" y="624660"/>
            <a:ext cx="9983811" cy="0"/>
          </a:xfrm>
          <a:prstGeom prst="line">
            <a:avLst/>
          </a:prstGeom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4DF36E7-CFFF-85A6-0641-689925A4075E}"/>
              </a:ext>
            </a:extLst>
          </p:cNvPr>
          <p:cNvCxnSpPr>
            <a:cxnSpLocks/>
          </p:cNvCxnSpPr>
          <p:nvPr userDrawn="1"/>
        </p:nvCxnSpPr>
        <p:spPr>
          <a:xfrm>
            <a:off x="354000" y="7028036"/>
            <a:ext cx="9983811" cy="0"/>
          </a:xfrm>
          <a:prstGeom prst="line">
            <a:avLst/>
          </a:prstGeom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B1FB8E5-5650-9B0E-2861-6E80AC2F4A13}"/>
              </a:ext>
            </a:extLst>
          </p:cNvPr>
          <p:cNvCxnSpPr>
            <a:cxnSpLocks/>
          </p:cNvCxnSpPr>
          <p:nvPr userDrawn="1"/>
        </p:nvCxnSpPr>
        <p:spPr>
          <a:xfrm>
            <a:off x="354000" y="3071425"/>
            <a:ext cx="9983811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17">
            <a:extLst>
              <a:ext uri="{FF2B5EF4-FFF2-40B4-BE49-F238E27FC236}">
                <a16:creationId xmlns:a16="http://schemas.microsoft.com/office/drawing/2014/main" id="{ACFDEB75-DCFB-9F1D-32D0-58CD672DA4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76907" y="1982897"/>
            <a:ext cx="8360904" cy="410630"/>
          </a:xfrm>
        </p:spPr>
        <p:txBody>
          <a:bodyPr anchor="ctr">
            <a:noAutofit/>
          </a:bodyPr>
          <a:lstStyle>
            <a:lvl1pPr marL="0" indent="0">
              <a:buNone/>
              <a:defRPr sz="2400" b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（サブタイトル）</a:t>
            </a:r>
          </a:p>
        </p:txBody>
      </p:sp>
      <p:sp>
        <p:nvSpPr>
          <p:cNvPr id="4" name="テキスト プレースホルダー 34">
            <a:extLst>
              <a:ext uri="{FF2B5EF4-FFF2-40B4-BE49-F238E27FC236}">
                <a16:creationId xmlns:a16="http://schemas.microsoft.com/office/drawing/2014/main" id="{E8052C91-8300-8C29-5D24-06B756E7EC6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047" y="1320088"/>
            <a:ext cx="1054100" cy="1071010"/>
          </a:xfrm>
          <a:prstGeom prst="rect">
            <a:avLst/>
          </a:prstGeom>
          <a:solidFill>
            <a:srgbClr val="3C3C3C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4000" b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en-US" altLang="ja-JP" dirty="0"/>
              <a:t>XX</a:t>
            </a:r>
            <a:endParaRPr kumimoji="1" lang="ja-JP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508ABE-9699-CA25-4D05-3AED8291DD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6907" y="1320089"/>
            <a:ext cx="8360904" cy="66280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000" b="0">
                <a:latin typeface="+mn-lt"/>
                <a:ea typeface="+mn-ea"/>
              </a:defRPr>
            </a:lvl1pPr>
          </a:lstStyle>
          <a:p>
            <a:r>
              <a:rPr lang="ja-JP" altLang="en-US" dirty="0"/>
              <a:t>（タイトル）</a:t>
            </a:r>
            <a:endParaRPr lang="en-US" dirty="0"/>
          </a:p>
        </p:txBody>
      </p:sp>
      <p:sp>
        <p:nvSpPr>
          <p:cNvPr id="6" name="テキスト プレースホルダー 17">
            <a:extLst>
              <a:ext uri="{FF2B5EF4-FFF2-40B4-BE49-F238E27FC236}">
                <a16:creationId xmlns:a16="http://schemas.microsoft.com/office/drawing/2014/main" id="{5EBDA6E0-0F8F-B566-67D1-8B90BC1A37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047" y="4664881"/>
            <a:ext cx="5791399" cy="15712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marL="360363" indent="-360363">
              <a:lnSpc>
                <a:spcPct val="100000"/>
              </a:lnSpc>
              <a:buFont typeface="Wingdings" panose="05000000000000000000" pitchFamily="2" charset="2"/>
              <a:buChar char="u"/>
              <a:defRPr sz="2000" b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（内容）</a:t>
            </a:r>
            <a:endParaRPr kumimoji="1" lang="en-US" altLang="ja-JP" dirty="0"/>
          </a:p>
        </p:txBody>
      </p:sp>
      <p:sp>
        <p:nvSpPr>
          <p:cNvPr id="8" name="テキスト プレースホルダー 38">
            <a:extLst>
              <a:ext uri="{FF2B5EF4-FFF2-40B4-BE49-F238E27FC236}">
                <a16:creationId xmlns:a16="http://schemas.microsoft.com/office/drawing/2014/main" id="{5B993C10-258D-F029-EECB-1E53F8AD03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5906" y="5998737"/>
            <a:ext cx="4991905" cy="10166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2000" b="0"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/>
              <a:t>発表者</a:t>
            </a:r>
            <a:r>
              <a:rPr kumimoji="1" lang="en-US" altLang="ja-JP" dirty="0"/>
              <a:t>:</a:t>
            </a:r>
            <a:r>
              <a:rPr kumimoji="1" lang="ja-JP" altLang="en-US" dirty="0"/>
              <a:t>（発表者名）</a:t>
            </a:r>
          </a:p>
        </p:txBody>
      </p:sp>
    </p:spTree>
    <p:extLst>
      <p:ext uri="{BB962C8B-B14F-4D97-AF65-F5344CB8AC3E}">
        <p14:creationId xmlns:p14="http://schemas.microsoft.com/office/powerpoint/2010/main" val="3107726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+mj-ea"/>
                <a:ea typeface="+mj-ea"/>
              </a:defRPr>
            </a:lvl1pPr>
          </a:lstStyle>
          <a:p>
            <a:fld id="{9B754C0F-D52D-4637-BD6F-C60D88F0DA64}" type="datetimeFigureOut">
              <a:rPr kumimoji="1" lang="ja-JP" altLang="en-US" smtClean="0"/>
              <a:pPr/>
              <a:t>2026/7/6</a:t>
            </a:fld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+mj-ea"/>
                <a:ea typeface="+mj-ea"/>
              </a:defRPr>
            </a:lvl1pPr>
          </a:lstStyle>
          <a:p>
            <a:endParaRPr kumimoji="1" lang="ja-JP" altLang="en-US">
              <a:latin typeface="+mj-ea"/>
              <a:ea typeface="+mj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+mj-ea"/>
                <a:ea typeface="+mj-ea"/>
              </a:defRPr>
            </a:lvl1pPr>
          </a:lstStyle>
          <a:p>
            <a:fld id="{602FBE8C-8092-4725-BF1C-D62B9ACA2D6C}" type="slidenum">
              <a:rPr kumimoji="1" lang="ja-JP" altLang="en-US" smtClean="0"/>
              <a:pPr/>
              <a:t>‹#›</a:t>
            </a:fld>
            <a:endParaRPr kumimoji="1" lang="ja-JP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81448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5" r:id="rId2"/>
    <p:sldLayoutId id="2147483667" r:id="rId3"/>
    <p:sldLayoutId id="2147483663" r:id="rId4"/>
    <p:sldLayoutId id="2147483666" r:id="rId5"/>
    <p:sldLayoutId id="2147483664" r:id="rId6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kumimoji="1" sz="48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11/j.1747-0765.2010.00467.x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5962/bhl.title.27102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71/PP9870689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4/pp.89.1.169" TargetMode="External"/><Relationship Id="rId2" Type="http://schemas.openxmlformats.org/officeDocument/2006/relationships/hyperlink" Target="https://doi.org/10.1038/nature08670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svg"/><Relationship Id="rId4" Type="http://schemas.openxmlformats.org/officeDocument/2006/relationships/image" Target="../media/image32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5199CF-07F1-2D81-A0A6-7E7EEFAFD4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631" y="1506527"/>
            <a:ext cx="2839569" cy="670226"/>
          </a:xfrm>
          <a:effectLst/>
        </p:spPr>
        <p:txBody>
          <a:bodyPr>
            <a:normAutofit/>
          </a:bodyPr>
          <a:lstStyle/>
          <a:p>
            <a:r>
              <a:rPr lang="zh-TW" altLang="en-US" dirty="0">
                <a:latin typeface="+mn-ea"/>
              </a:rPr>
              <a:t>英語論文紹介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A56591-FB87-49EC-75E3-BC0D3907D1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893763" indent="-893763"/>
            <a:r>
              <a:rPr lang="ja-JP" altLang="en-US" dirty="0"/>
              <a:t>著者名</a:t>
            </a:r>
            <a:r>
              <a:rPr lang="en-US" altLang="ja-JP" dirty="0">
                <a:ea typeface="Inter Medium" panose="02000503000000020004" pitchFamily="2" charset="0"/>
              </a:rPr>
              <a:t>: </a:t>
            </a:r>
            <a:r>
              <a:rPr lang="en-US" altLang="ja-JP" dirty="0">
                <a:latin typeface="+mj-lt"/>
                <a:ea typeface="Inter Medium" panose="02000503000000020004" pitchFamily="2" charset="0"/>
              </a:rPr>
              <a:t>Takashi</a:t>
            </a:r>
            <a:r>
              <a:rPr lang="en-US" altLang="ja-JP" dirty="0">
                <a:ea typeface="Inter Medium" panose="02000503000000020004" pitchFamily="2" charset="0"/>
              </a:rPr>
              <a:t> Kenjo, Hiroko Yamaya </a:t>
            </a:r>
          </a:p>
          <a:p>
            <a:pPr marL="893763"/>
            <a:r>
              <a:rPr lang="en-US" altLang="ja-JP" dirty="0">
                <a:ea typeface="Inter Medium" panose="02000503000000020004" pitchFamily="2" charset="0"/>
              </a:rPr>
              <a:t>&amp; Yasuhiro Arima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8B7459-6A67-E30A-E35E-03CEAF38F3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発表者</a:t>
            </a:r>
            <a:r>
              <a:rPr lang="en-US" altLang="ja-JP" dirty="0"/>
              <a:t>: </a:t>
            </a:r>
            <a:r>
              <a:rPr lang="ja-JP" altLang="en-US" dirty="0"/>
              <a:t>寺谷優輝</a:t>
            </a: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30204CBD-7B1E-5C41-FC84-0B74C162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632" y="2191844"/>
            <a:ext cx="9899181" cy="2708929"/>
          </a:xfrm>
        </p:spPr>
        <p:txBody>
          <a:bodyPr>
            <a:noAutofit/>
          </a:bodyPr>
          <a:lstStyle/>
          <a:p>
            <a:r>
              <a:rPr lang="en-US" altLang="ja-JP" sz="3600" dirty="0">
                <a:ea typeface="Inter 28pt" panose="02000503000000020004" pitchFamily="2" charset="0"/>
              </a:rPr>
              <a:t>Shoot-synthesized nodulation-restricting substances of wild-type soybean present in two different high-performance liquid chromatography peaks of the ethanol-soluble medium-polarity fraction</a:t>
            </a:r>
          </a:p>
        </p:txBody>
      </p:sp>
    </p:spTree>
    <p:extLst>
      <p:ext uri="{BB962C8B-B14F-4D97-AF65-F5344CB8AC3E}">
        <p14:creationId xmlns:p14="http://schemas.microsoft.com/office/powerpoint/2010/main" val="276655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2A69C8A-315B-8D0D-810F-C1D1A1264F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論文の情報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5EFBBF-98C5-0B0B-2153-1B61D4B775B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01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11D96CAA-C702-B265-F122-A0939BBC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選んだ論文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EED3A9B-C990-0678-C821-C29C673059B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 dirty="0"/>
              <a:t>紹介する論文</a:t>
            </a:r>
            <a:endParaRPr kumimoji="1" lang="en-US" altLang="ja-JP" dirty="0"/>
          </a:p>
          <a:p>
            <a:r>
              <a:rPr kumimoji="1" lang="ja-JP" altLang="en-US" dirty="0"/>
              <a:t>理解した内容</a:t>
            </a:r>
          </a:p>
        </p:txBody>
      </p:sp>
    </p:spTree>
    <p:extLst>
      <p:ext uri="{BB962C8B-B14F-4D97-AF65-F5344CB8AC3E}">
        <p14:creationId xmlns:p14="http://schemas.microsoft.com/office/powerpoint/2010/main" val="365991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477660-5B28-C4E4-FF33-30627AD91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紹介論文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B456E7-8C9F-85B3-F121-631878C8B46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pPr marL="719138" indent="-541338">
              <a:lnSpc>
                <a:spcPct val="100000"/>
              </a:lnSpc>
            </a:pPr>
            <a:r>
              <a:rPr lang="ja-JP" altLang="en-US" sz="2000" dirty="0">
                <a:latin typeface="+mn-ea"/>
              </a:rPr>
              <a:t>論文タイトル</a:t>
            </a:r>
            <a:endParaRPr lang="en-US" altLang="ja-JP" sz="2000" dirty="0">
              <a:latin typeface="+mn-ea"/>
            </a:endParaRPr>
          </a:p>
          <a:p>
            <a:pPr marL="1079500" lvl="1" indent="-360363">
              <a:lnSpc>
                <a:spcPct val="100000"/>
              </a:lnSpc>
            </a:pPr>
            <a:r>
              <a:rPr lang="en-US" altLang="ja-JP" sz="2000" dirty="0">
                <a:latin typeface="+mn-lt"/>
              </a:rPr>
              <a:t>Shoot-synthesized nodulation-restricting substances of wild-type soybean present in two different high-performance liquid chromatography peaks of the ethanol-soluble medium-polarity fraction</a:t>
            </a:r>
          </a:p>
          <a:p>
            <a:pPr marL="1079500" lvl="1" indent="-360363">
              <a:lnSpc>
                <a:spcPct val="100000"/>
              </a:lnSpc>
            </a:pPr>
            <a:r>
              <a:rPr lang="ja-JP" altLang="en-US" sz="2000" dirty="0"/>
              <a:t>野生型ダイズのシュートで合成される根粒着生抑制物質は，エタノール可溶性中極性画分の</a:t>
            </a:r>
            <a:r>
              <a:rPr lang="en-US" altLang="ja-JP" sz="2000" dirty="0">
                <a:latin typeface="+mn-lt"/>
                <a:ea typeface="+mj-ea"/>
              </a:rPr>
              <a:t>2</a:t>
            </a:r>
            <a:r>
              <a:rPr lang="ja-JP" altLang="en-US" sz="2000" dirty="0"/>
              <a:t>つの異なる</a:t>
            </a:r>
            <a:r>
              <a:rPr lang="en-US" altLang="ja-JP" sz="2000" dirty="0">
                <a:latin typeface="+mn-lt"/>
                <a:ea typeface="+mj-ea"/>
              </a:rPr>
              <a:t>HPLC</a:t>
            </a:r>
            <a:r>
              <a:rPr lang="ja-JP" altLang="en-US" sz="2000" dirty="0"/>
              <a:t>ピークに存在する．</a:t>
            </a:r>
            <a:endParaRPr lang="en-US" altLang="ja-JP" sz="2000" dirty="0"/>
          </a:p>
          <a:p>
            <a:pPr marL="719138" indent="-541338">
              <a:lnSpc>
                <a:spcPct val="100000"/>
              </a:lnSpc>
            </a:pPr>
            <a:r>
              <a:rPr lang="ja-JP" altLang="en-US" sz="2000" dirty="0"/>
              <a:t>著者名</a:t>
            </a:r>
            <a:endParaRPr lang="en-US" altLang="ja-JP" sz="2000" dirty="0"/>
          </a:p>
          <a:p>
            <a:pPr marL="1079500" lvl="1" indent="-360363">
              <a:lnSpc>
                <a:spcPct val="100000"/>
              </a:lnSpc>
            </a:pPr>
            <a:r>
              <a:rPr lang="en-US" altLang="ja-JP" sz="2000" dirty="0">
                <a:latin typeface="+mn-lt"/>
              </a:rPr>
              <a:t>Takashi Kenjo, Hiroko Yamaya &amp; Yasuhiro Arima.</a:t>
            </a:r>
          </a:p>
          <a:p>
            <a:pPr marL="719138" indent="-541338">
              <a:lnSpc>
                <a:spcPct val="100000"/>
              </a:lnSpc>
            </a:pPr>
            <a:r>
              <a:rPr lang="ja-JP" altLang="en-US" sz="2000" dirty="0"/>
              <a:t>著者の所属</a:t>
            </a:r>
            <a:endParaRPr lang="en-US" altLang="ja-JP" sz="2000" dirty="0"/>
          </a:p>
          <a:p>
            <a:pPr marL="1079500" lvl="1" indent="-360363">
              <a:lnSpc>
                <a:spcPct val="100000"/>
              </a:lnSpc>
            </a:pPr>
            <a:r>
              <a:rPr lang="en-US" altLang="ja-JP" sz="2000" dirty="0">
                <a:latin typeface="+mn-lt"/>
              </a:rPr>
              <a:t>Faculty of Agriculture, Tokyo University of Agriculture and Technology.</a:t>
            </a:r>
          </a:p>
          <a:p>
            <a:pPr marL="1079500" lvl="1" indent="-360363">
              <a:lnSpc>
                <a:spcPct val="100000"/>
              </a:lnSpc>
            </a:pPr>
            <a:r>
              <a:rPr lang="ja-JP" altLang="en-US" sz="2000" dirty="0"/>
              <a:t>東京農工大学 農学府</a:t>
            </a:r>
            <a:endParaRPr lang="en-US" altLang="ja-JP" sz="2000" dirty="0"/>
          </a:p>
          <a:p>
            <a:pPr marL="719138" indent="-541338">
              <a:lnSpc>
                <a:spcPct val="100000"/>
              </a:lnSpc>
            </a:pPr>
            <a:r>
              <a:rPr lang="ja-JP" altLang="en-US" sz="2000" dirty="0"/>
              <a:t>論文掲載誌</a:t>
            </a:r>
            <a:endParaRPr lang="en-US" altLang="ja-JP" sz="2000" dirty="0"/>
          </a:p>
          <a:p>
            <a:pPr marL="1079500" lvl="1" indent="-360363">
              <a:lnSpc>
                <a:spcPct val="100000"/>
              </a:lnSpc>
            </a:pPr>
            <a:r>
              <a:rPr lang="en-US" altLang="ja-JP" sz="2000" dirty="0">
                <a:latin typeface="+mn-lt"/>
              </a:rPr>
              <a:t>Journal: </a:t>
            </a:r>
            <a:r>
              <a:rPr lang="en-US" altLang="ja-JP" sz="2000" i="1" dirty="0">
                <a:latin typeface="+mn-lt"/>
              </a:rPr>
              <a:t>Soil Science and Plant Nutrition</a:t>
            </a:r>
            <a:r>
              <a:rPr lang="en-US" altLang="ja-JP" sz="2000" dirty="0">
                <a:latin typeface="+mn-lt"/>
              </a:rPr>
              <a:t>, Vol: 56, Pages: 399 – 406.</a:t>
            </a:r>
          </a:p>
          <a:p>
            <a:pPr marL="1079500" lvl="1" indent="-360363">
              <a:lnSpc>
                <a:spcPct val="100000"/>
              </a:lnSpc>
            </a:pPr>
            <a:r>
              <a:rPr lang="en-US" altLang="ja-JP" sz="2000" dirty="0">
                <a:latin typeface="+mn-lt"/>
              </a:rPr>
              <a:t>DOI: </a:t>
            </a:r>
            <a:r>
              <a:rPr lang="en-US" altLang="ja-JP" sz="2000" dirty="0">
                <a:latin typeface="+mn-lt"/>
                <a:hlinkClick r:id="rId2"/>
              </a:rPr>
              <a:t>10.1111/j.1747-0765.2010.00467.x</a:t>
            </a:r>
            <a:endParaRPr lang="en-US" altLang="ja-JP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2805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92F9A9-50C9-D337-0256-A3251909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理解内容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3353FC7-7E7C-D762-6A24-F81725AC15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83" t="21639" r="14922" b="3571"/>
          <a:stretch>
            <a:fillRect/>
          </a:stretch>
        </p:blipFill>
        <p:spPr>
          <a:xfrm>
            <a:off x="846697" y="1548085"/>
            <a:ext cx="8998418" cy="53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1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8883944-9907-957A-81F7-40BD758A72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前提事項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53DFCB6-50BA-7D1A-F211-38D0DA420A1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02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7A230A3-80AC-546E-5821-9D36D787A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論文の背景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1C2CF4-4331-860A-9EB3-E6828EB3B99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 dirty="0"/>
              <a:t>マメ科植物と根粒菌の相互作用</a:t>
            </a:r>
            <a:endParaRPr kumimoji="1" lang="en-US" altLang="ja-JP" dirty="0"/>
          </a:p>
          <a:p>
            <a:r>
              <a:rPr lang="ja-JP" altLang="en-US" dirty="0"/>
              <a:t>オートレギュレーション</a:t>
            </a:r>
            <a:endParaRPr lang="en-US" altLang="ja-JP" dirty="0"/>
          </a:p>
          <a:p>
            <a:r>
              <a:rPr lang="ja-JP" altLang="en-US" dirty="0"/>
              <a:t>論文の要旨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47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FE7F453-2611-9FD4-1436-F65FD29062AF}"/>
              </a:ext>
            </a:extLst>
          </p:cNvPr>
          <p:cNvSpPr/>
          <p:nvPr/>
        </p:nvSpPr>
        <p:spPr>
          <a:xfrm>
            <a:off x="3658791" y="5893027"/>
            <a:ext cx="1683513" cy="457697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951694B-6669-17E0-5B9E-A8DC8848AC15}"/>
              </a:ext>
            </a:extLst>
          </p:cNvPr>
          <p:cNvSpPr/>
          <p:nvPr/>
        </p:nvSpPr>
        <p:spPr>
          <a:xfrm>
            <a:off x="1975278" y="5893027"/>
            <a:ext cx="1683513" cy="457697"/>
          </a:xfrm>
          <a:prstGeom prst="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9376CD6-4D3B-3FD1-625A-FE823AE04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マメ科植物と根粒菌の相互作用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B9C05A-FB01-B339-F4C8-072FCA1ADDC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ja-JP" altLang="en-US" sz="3200" dirty="0"/>
              <a:t>マメ科植物と根粒菌は，</a:t>
            </a:r>
            <a:r>
              <a:rPr lang="ja-JP" altLang="en-US" sz="3200" dirty="0">
                <a:solidFill>
                  <a:schemeClr val="accent6"/>
                </a:solidFill>
              </a:rPr>
              <a:t>相利共生の関係</a:t>
            </a:r>
            <a:r>
              <a:rPr lang="ja-JP" altLang="en-US" sz="3200" dirty="0"/>
              <a:t>．</a:t>
            </a:r>
            <a:endParaRPr lang="en-US" altLang="ja-JP" sz="3200" dirty="0"/>
          </a:p>
          <a:p>
            <a:r>
              <a:rPr lang="ja-JP" altLang="en-US" sz="3200" dirty="0"/>
              <a:t>マメ科植物は，アンモニアという</a:t>
            </a:r>
            <a:r>
              <a:rPr lang="ja-JP" altLang="en-US" sz="3200" dirty="0">
                <a:solidFill>
                  <a:schemeClr val="accent6"/>
                </a:solidFill>
              </a:rPr>
              <a:t>窒素源をもらう</a:t>
            </a:r>
            <a:r>
              <a:rPr lang="ja-JP" altLang="en-US" sz="3200" dirty="0"/>
              <a:t>．</a:t>
            </a:r>
            <a:r>
              <a:rPr lang="en-US" altLang="ja-JP" sz="3200" dirty="0"/>
              <a:t>(</a:t>
            </a:r>
            <a:r>
              <a:rPr lang="ja-JP" altLang="en-US" sz="3200" dirty="0">
                <a:solidFill>
                  <a:schemeClr val="accent6"/>
                </a:solidFill>
              </a:rPr>
              <a:t>＋</a:t>
            </a:r>
            <a:r>
              <a:rPr lang="en-US" altLang="ja-JP" sz="3200" dirty="0"/>
              <a:t>)</a:t>
            </a:r>
          </a:p>
          <a:p>
            <a:r>
              <a:rPr lang="ja-JP" altLang="en-US" sz="3200" dirty="0"/>
              <a:t>根粒菌は，光合成産物である </a:t>
            </a:r>
            <a:r>
              <a:rPr lang="ja-JP" altLang="en-US" sz="3200" dirty="0">
                <a:solidFill>
                  <a:schemeClr val="accent6"/>
                </a:solidFill>
              </a:rPr>
              <a:t>炭素源をもらう</a:t>
            </a:r>
            <a:r>
              <a:rPr lang="ja-JP" altLang="en-US" sz="3200" dirty="0"/>
              <a:t>． </a:t>
            </a:r>
            <a:r>
              <a:rPr lang="en-US" altLang="ja-JP" sz="3200" dirty="0"/>
              <a:t>(</a:t>
            </a:r>
            <a:r>
              <a:rPr lang="ja-JP" altLang="en-US" sz="3200" dirty="0">
                <a:solidFill>
                  <a:schemeClr val="accent6"/>
                </a:solidFill>
              </a:rPr>
              <a:t>＋</a:t>
            </a:r>
            <a:r>
              <a:rPr lang="en-US" altLang="ja-JP" sz="3200" dirty="0"/>
              <a:t>)</a:t>
            </a:r>
          </a:p>
          <a:p>
            <a:pPr>
              <a:buClr>
                <a:schemeClr val="tx1"/>
              </a:buClr>
            </a:pPr>
            <a:r>
              <a:rPr lang="ja-JP" altLang="en-US" sz="3200" dirty="0"/>
              <a:t>根粒数が増えすぎると炭素源を取られ続け，</a:t>
            </a:r>
            <a:r>
              <a:rPr lang="ja-JP" altLang="en-US" sz="3200" dirty="0">
                <a:solidFill>
                  <a:schemeClr val="accent6"/>
                </a:solidFill>
              </a:rPr>
              <a:t>寄生状態となる</a:t>
            </a:r>
            <a:r>
              <a:rPr lang="ja-JP" altLang="en-US" sz="3200" dirty="0"/>
              <a:t>．</a:t>
            </a:r>
            <a:r>
              <a:rPr lang="en-US" altLang="ja-JP" sz="3200" dirty="0"/>
              <a:t> (</a:t>
            </a:r>
            <a:r>
              <a:rPr lang="ja-JP" altLang="en-US" sz="3200" dirty="0">
                <a:solidFill>
                  <a:schemeClr val="accent6"/>
                </a:solidFill>
              </a:rPr>
              <a:t>－</a:t>
            </a:r>
            <a:r>
              <a:rPr lang="en-US" altLang="ja-JP" sz="3200" dirty="0"/>
              <a:t>) </a:t>
            </a:r>
            <a:endParaRPr lang="ja-JP" altLang="en-US" sz="32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01CFA7-5E3F-C036-64CE-AC9AAF8C62E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Autofit/>
          </a:bodyPr>
          <a:lstStyle/>
          <a:p>
            <a:r>
              <a:rPr lang="de-DE" altLang="ja-JP" dirty="0"/>
              <a:t>[Ref1] H. Hellriegel and H. Wilfarth. (1888). Untersuchungen über die Stickstoffnahrung der Gramineen und Leguminosen; </a:t>
            </a:r>
            <a:r>
              <a:rPr lang="en-US" altLang="ja-JP" dirty="0"/>
              <a:t>doi: </a:t>
            </a:r>
            <a:r>
              <a:rPr lang="en-US" altLang="ja-JP" dirty="0">
                <a:hlinkClick r:id="rId2"/>
              </a:rPr>
              <a:t>10.5962/bhl.title.27102</a:t>
            </a:r>
            <a:r>
              <a:rPr lang="en-US" altLang="ja-JP" dirty="0"/>
              <a:t>.</a:t>
            </a:r>
          </a:p>
        </p:txBody>
      </p:sp>
      <p:graphicFrame>
        <p:nvGraphicFramePr>
          <p:cNvPr id="12" name="表 11">
            <a:extLst>
              <a:ext uri="{FF2B5EF4-FFF2-40B4-BE49-F238E27FC236}">
                <a16:creationId xmlns:a16="http://schemas.microsoft.com/office/drawing/2014/main" id="{5F46E3EF-04D8-6B4B-9D50-D11EC2442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212292"/>
              </p:ext>
            </p:extLst>
          </p:nvPr>
        </p:nvGraphicFramePr>
        <p:xfrm>
          <a:off x="289704" y="4734318"/>
          <a:ext cx="5056203" cy="161358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85401">
                  <a:extLst>
                    <a:ext uri="{9D8B030D-6E8A-4147-A177-3AD203B41FA5}">
                      <a16:colId xmlns:a16="http://schemas.microsoft.com/office/drawing/2014/main" val="263933829"/>
                    </a:ext>
                  </a:extLst>
                </a:gridCol>
                <a:gridCol w="1685401">
                  <a:extLst>
                    <a:ext uri="{9D8B030D-6E8A-4147-A177-3AD203B41FA5}">
                      <a16:colId xmlns:a16="http://schemas.microsoft.com/office/drawing/2014/main" val="3351973871"/>
                    </a:ext>
                  </a:extLst>
                </a:gridCol>
                <a:gridCol w="1685401">
                  <a:extLst>
                    <a:ext uri="{9D8B030D-6E8A-4147-A177-3AD203B41FA5}">
                      <a16:colId xmlns:a16="http://schemas.microsoft.com/office/drawing/2014/main" val="3009587926"/>
                    </a:ext>
                  </a:extLst>
                </a:gridCol>
              </a:tblGrid>
              <a:tr h="132345"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b="0" dirty="0">
                          <a:latin typeface="+mj-ea"/>
                          <a:ea typeface="+mj-ea"/>
                        </a:rPr>
                        <a:t>Table α: </a:t>
                      </a:r>
                      <a:r>
                        <a:rPr kumimoji="1" lang="ja-JP" altLang="en-US" sz="1600" b="0" dirty="0">
                          <a:latin typeface="+mj-ea"/>
                          <a:ea typeface="+mj-ea"/>
                        </a:rPr>
                        <a:t>共生と寄生の関係</a:t>
                      </a:r>
                    </a:p>
                  </a:txBody>
                  <a:tcPr anchor="b">
                    <a:lnL>
                      <a:noFill/>
                    </a:lnL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sz="1800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905765"/>
                  </a:ext>
                </a:extLst>
              </a:tr>
              <a:tr h="14421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latin typeface="+mn-ea"/>
                          <a:ea typeface="+mn-ea"/>
                        </a:rPr>
                        <a:t>種間関係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latin typeface="+mn-ea"/>
                          <a:ea typeface="+mn-ea"/>
                        </a:rPr>
                        <a:t>利害関係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130975"/>
                  </a:ext>
                </a:extLst>
              </a:tr>
              <a:tr h="45627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latin typeface="+mn-ea"/>
                          <a:ea typeface="+mn-ea"/>
                        </a:rPr>
                        <a:t>相利共生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latin typeface="+mn-ea"/>
                          <a:ea typeface="+mn-ea"/>
                        </a:rPr>
                        <a:t>＋（共生者）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953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800" b="0">
                          <a:latin typeface="+mn-ea"/>
                          <a:ea typeface="+mn-ea"/>
                        </a:rPr>
                        <a:t>＋（共生者）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788926"/>
                  </a:ext>
                </a:extLst>
              </a:tr>
              <a:tr h="45627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latin typeface="+mn-ea"/>
                          <a:ea typeface="+mn-ea"/>
                        </a:rPr>
                        <a:t>寄　　生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latin typeface="+mn-ea"/>
                          <a:ea typeface="+mn-ea"/>
                        </a:rPr>
                        <a:t>＋（寄生者）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dirty="0">
                          <a:latin typeface="+mn-ea"/>
                          <a:ea typeface="+mn-ea"/>
                        </a:rPr>
                        <a:t>－（宿　主）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24014"/>
                  </a:ext>
                </a:extLst>
              </a:tr>
            </a:tbl>
          </a:graphicData>
        </a:graphic>
      </p:graphicFrame>
      <p:sp>
        <p:nvSpPr>
          <p:cNvPr id="13" name="楕円 12">
            <a:extLst>
              <a:ext uri="{FF2B5EF4-FFF2-40B4-BE49-F238E27FC236}">
                <a16:creationId xmlns:a16="http://schemas.microsoft.com/office/drawing/2014/main" id="{E774ACCA-7348-4801-E513-20235CFE911A}"/>
              </a:ext>
            </a:extLst>
          </p:cNvPr>
          <p:cNvSpPr/>
          <p:nvPr/>
        </p:nvSpPr>
        <p:spPr>
          <a:xfrm>
            <a:off x="3979304" y="2326114"/>
            <a:ext cx="1261858" cy="1233696"/>
          </a:xfrm>
          <a:prstGeom prst="ellipse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6200000" scaled="1"/>
            <a:tileRect/>
          </a:gradFill>
          <a:ln w="9525">
            <a:solidFill>
              <a:srgbClr val="00B050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800">
                <a:latin typeface="+mn-ea"/>
              </a:rPr>
              <a:t>マメ科</a:t>
            </a:r>
            <a:endParaRPr kumimoji="1" lang="en-US" altLang="ja-JP" sz="1800">
              <a:latin typeface="+mn-ea"/>
            </a:endParaRPr>
          </a:p>
          <a:p>
            <a:pPr algn="ctr"/>
            <a:r>
              <a:rPr kumimoji="1" lang="ja-JP" altLang="en-US" sz="1800">
                <a:latin typeface="+mn-ea"/>
              </a:rPr>
              <a:t>植物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F564FAED-55FC-B0E8-F96F-CCBD0E9F481F}"/>
              </a:ext>
            </a:extLst>
          </p:cNvPr>
          <p:cNvSpPr/>
          <p:nvPr/>
        </p:nvSpPr>
        <p:spPr>
          <a:xfrm>
            <a:off x="270687" y="2296006"/>
            <a:ext cx="1261858" cy="1233696"/>
          </a:xfrm>
          <a:prstGeom prst="ellipse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800">
                <a:latin typeface="+mn-ea"/>
              </a:rPr>
              <a:t>根粒菌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CF1D342F-1FA6-B88E-B7EC-99DA025016D8}"/>
              </a:ext>
            </a:extLst>
          </p:cNvPr>
          <p:cNvSpPr/>
          <p:nvPr/>
        </p:nvSpPr>
        <p:spPr>
          <a:xfrm>
            <a:off x="1885446" y="2326114"/>
            <a:ext cx="1740959" cy="586740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</a:schemeClr>
              </a:gs>
            </a:gsLst>
            <a:lin ang="0" scaled="1"/>
            <a:tileRect/>
          </a:gradFill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800" dirty="0">
                <a:latin typeface="+mn-ea"/>
              </a:rPr>
              <a:t>窒素源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C1B89B6A-D23D-6D71-F925-DAFEC4F51C59}"/>
              </a:ext>
            </a:extLst>
          </p:cNvPr>
          <p:cNvSpPr/>
          <p:nvPr/>
        </p:nvSpPr>
        <p:spPr>
          <a:xfrm flipH="1">
            <a:off x="1885445" y="2975237"/>
            <a:ext cx="1740959" cy="586740"/>
          </a:xfrm>
          <a:prstGeom prst="rightArrow">
            <a:avLst/>
          </a:prstGeom>
          <a:gradFill flip="none" rotWithShape="1">
            <a:gsLst>
              <a:gs pos="0">
                <a:schemeClr val="accent3">
                  <a:tint val="50000"/>
                  <a:satMod val="300000"/>
                </a:schemeClr>
              </a:gs>
              <a:gs pos="35000">
                <a:schemeClr val="accent3">
                  <a:tint val="37000"/>
                  <a:satMod val="300000"/>
                </a:schemeClr>
              </a:gs>
              <a:gs pos="100000">
                <a:schemeClr val="accent3">
                  <a:tint val="15000"/>
                  <a:satMod val="350000"/>
                </a:schemeClr>
              </a:gs>
            </a:gsLst>
            <a:lin ang="0" scaled="1"/>
            <a:tileRect/>
          </a:gradFill>
          <a:ln/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800">
                <a:solidFill>
                  <a:schemeClr val="tx1"/>
                </a:solidFill>
                <a:latin typeface="+mn-ea"/>
              </a:rPr>
              <a:t>炭素源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8804D5-36AE-8CAA-8BAF-8BD7D0944D4E}"/>
              </a:ext>
            </a:extLst>
          </p:cNvPr>
          <p:cNvSpPr txBox="1"/>
          <p:nvPr/>
        </p:nvSpPr>
        <p:spPr>
          <a:xfrm>
            <a:off x="270688" y="3779837"/>
            <a:ext cx="49704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+mj-lt"/>
              </a:rPr>
              <a:t>Fig α: </a:t>
            </a:r>
            <a:r>
              <a:rPr kumimoji="1" lang="ja-JP" altLang="en-US" sz="1600" dirty="0">
                <a:latin typeface="+mj-ea"/>
                <a:ea typeface="+mj-ea"/>
              </a:rPr>
              <a:t>マメ科植物と根粒菌の相互関係</a:t>
            </a:r>
          </a:p>
        </p:txBody>
      </p:sp>
    </p:spTree>
    <p:extLst>
      <p:ext uri="{BB962C8B-B14F-4D97-AF65-F5344CB8AC3E}">
        <p14:creationId xmlns:p14="http://schemas.microsoft.com/office/powerpoint/2010/main" val="61340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3" grpId="0" uiExpand="1" build="p"/>
      <p:bldP spid="13" grpId="0" animBg="1"/>
      <p:bldP spid="14" grpId="0" animBg="1"/>
      <p:bldP spid="15" grpId="0" animBg="1"/>
      <p:bldP spid="16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0F450-66F7-ED0D-1883-9221F18F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ラフィックス 4">
            <a:extLst>
              <a:ext uri="{FF2B5EF4-FFF2-40B4-BE49-F238E27FC236}">
                <a16:creationId xmlns:a16="http://schemas.microsoft.com/office/drawing/2014/main" id="{376C5AC1-E928-CC6C-5348-9A178E7D6FB4}"/>
              </a:ext>
            </a:extLst>
          </p:cNvPr>
          <p:cNvGrpSpPr/>
          <p:nvPr/>
        </p:nvGrpSpPr>
        <p:grpSpPr>
          <a:xfrm>
            <a:off x="938870" y="1570904"/>
            <a:ext cx="4490079" cy="4865965"/>
            <a:chOff x="6056232" y="1175065"/>
            <a:chExt cx="4951274" cy="5365769"/>
          </a:xfrm>
        </p:grpSpPr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4C88CABA-CEDB-AE47-6CCA-6482C8D62719}"/>
                </a:ext>
              </a:extLst>
            </p:cNvPr>
            <p:cNvSpPr/>
            <p:nvPr/>
          </p:nvSpPr>
          <p:spPr>
            <a:xfrm rot="2724109">
              <a:off x="10222080" y="3116661"/>
              <a:ext cx="713442" cy="297186"/>
            </a:xfrm>
            <a:custGeom>
              <a:avLst/>
              <a:gdLst>
                <a:gd name="csX0" fmla="*/ 287108 w 713442"/>
                <a:gd name="csY0" fmla="*/ 2199 h 297186"/>
                <a:gd name="csX1" fmla="*/ 713088 w 713442"/>
                <a:gd name="csY1" fmla="*/ 200899 h 297186"/>
                <a:gd name="csX2" fmla="*/ 251994 w 713442"/>
                <a:gd name="csY2" fmla="*/ 293302 h 297186"/>
                <a:gd name="csX3" fmla="*/ 179 w 713442"/>
                <a:gd name="csY3" fmla="*/ 112446 h 297186"/>
                <a:gd name="csX4" fmla="*/ 287108 w 713442"/>
                <a:gd name="csY4" fmla="*/ 2199 h 297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3442" h="297186">
                  <a:moveTo>
                    <a:pt x="287108" y="2199"/>
                  </a:moveTo>
                  <a:cubicBezTo>
                    <a:pt x="405926" y="16952"/>
                    <a:pt x="604275" y="103875"/>
                    <a:pt x="713088" y="200899"/>
                  </a:cubicBezTo>
                  <a:cubicBezTo>
                    <a:pt x="585061" y="265836"/>
                    <a:pt x="389931" y="309170"/>
                    <a:pt x="251994" y="293302"/>
                  </a:cubicBezTo>
                  <a:cubicBezTo>
                    <a:pt x="114090" y="277466"/>
                    <a:pt x="-9507" y="192837"/>
                    <a:pt x="179" y="112446"/>
                  </a:cubicBezTo>
                  <a:cubicBezTo>
                    <a:pt x="9897" y="32055"/>
                    <a:pt x="168289" y="-12554"/>
                    <a:pt x="287108" y="2199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412389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A36C771D-8F8F-1FB3-603E-A44D314B0C4B}"/>
                </a:ext>
              </a:extLst>
            </p:cNvPr>
            <p:cNvSpPr/>
            <p:nvPr/>
          </p:nvSpPr>
          <p:spPr>
            <a:xfrm rot="2724109">
              <a:off x="10238451" y="3236874"/>
              <a:ext cx="681268" cy="79753"/>
            </a:xfrm>
            <a:custGeom>
              <a:avLst/>
              <a:gdLst>
                <a:gd name="csX0" fmla="*/ 680913 w 681268"/>
                <a:gd name="csY0" fmla="*/ 79155 h 79753"/>
                <a:gd name="csX1" fmla="*/ 323758 w 681268"/>
                <a:gd name="csY1" fmla="*/ 10681 h 79753"/>
                <a:gd name="csX2" fmla="*/ -355 w 681268"/>
                <a:gd name="csY2" fmla="*/ -598 h 79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81268" h="79753">
                  <a:moveTo>
                    <a:pt x="680913" y="79155"/>
                  </a:moveTo>
                  <a:cubicBezTo>
                    <a:pt x="574936" y="51976"/>
                    <a:pt x="468991" y="24797"/>
                    <a:pt x="323758" y="10681"/>
                  </a:cubicBezTo>
                  <a:cubicBezTo>
                    <a:pt x="178525" y="-3434"/>
                    <a:pt x="184133" y="453"/>
                    <a:pt x="-355" y="-598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B1268C62-3788-C4E9-91BE-8BC799D6BD7D}"/>
                </a:ext>
              </a:extLst>
            </p:cNvPr>
            <p:cNvSpPr/>
            <p:nvPr/>
          </p:nvSpPr>
          <p:spPr>
            <a:xfrm rot="4870947">
              <a:off x="9149235" y="1805311"/>
              <a:ext cx="614353" cy="341742"/>
            </a:xfrm>
            <a:custGeom>
              <a:avLst/>
              <a:gdLst>
                <a:gd name="csX0" fmla="*/ 355462 w 614353"/>
                <a:gd name="csY0" fmla="*/ 338243 h 341742"/>
                <a:gd name="csX1" fmla="*/ -355 w 614353"/>
                <a:gd name="csY1" fmla="*/ 112342 h 341742"/>
                <a:gd name="csX2" fmla="*/ 406921 w 614353"/>
                <a:gd name="csY2" fmla="*/ 2771 h 341742"/>
                <a:gd name="csX3" fmla="*/ 612663 w 614353"/>
                <a:gd name="csY3" fmla="*/ 209315 h 341742"/>
                <a:gd name="csX4" fmla="*/ 355462 w 614353"/>
                <a:gd name="csY4" fmla="*/ 338243 h 341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4353" h="341742">
                  <a:moveTo>
                    <a:pt x="355462" y="338243"/>
                  </a:moveTo>
                  <a:cubicBezTo>
                    <a:pt x="253277" y="322089"/>
                    <a:pt x="87205" y="223344"/>
                    <a:pt x="-355" y="112342"/>
                  </a:cubicBezTo>
                  <a:cubicBezTo>
                    <a:pt x="115532" y="36680"/>
                    <a:pt x="288231" y="-14521"/>
                    <a:pt x="406921" y="2771"/>
                  </a:cubicBezTo>
                  <a:cubicBezTo>
                    <a:pt x="525612" y="20063"/>
                    <a:pt x="626873" y="116679"/>
                    <a:pt x="612663" y="209315"/>
                  </a:cubicBezTo>
                  <a:cubicBezTo>
                    <a:pt x="598451" y="301951"/>
                    <a:pt x="457616" y="354398"/>
                    <a:pt x="355462" y="338243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1323304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C479778B-5DC3-7B6D-15D7-2EF8EF50310D}"/>
                </a:ext>
              </a:extLst>
            </p:cNvPr>
            <p:cNvSpPr/>
            <p:nvPr/>
          </p:nvSpPr>
          <p:spPr>
            <a:xfrm rot="4870947">
              <a:off x="9164479" y="1926721"/>
              <a:ext cx="606613" cy="85479"/>
            </a:xfrm>
            <a:custGeom>
              <a:avLst/>
              <a:gdLst>
                <a:gd name="csX0" fmla="*/ -355 w 606613"/>
                <a:gd name="csY0" fmla="*/ -598 h 85479"/>
                <a:gd name="csX1" fmla="*/ 310344 w 606613"/>
                <a:gd name="csY1" fmla="*/ 70279 h 85479"/>
                <a:gd name="csX2" fmla="*/ 606258 w 606613"/>
                <a:gd name="csY2" fmla="*/ 84881 h 8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6613" h="85479">
                  <a:moveTo>
                    <a:pt x="-355" y="-598"/>
                  </a:moveTo>
                  <a:cubicBezTo>
                    <a:pt x="89945" y="27142"/>
                    <a:pt x="180246" y="54879"/>
                    <a:pt x="310344" y="70279"/>
                  </a:cubicBezTo>
                  <a:cubicBezTo>
                    <a:pt x="440441" y="85678"/>
                    <a:pt x="436363" y="81823"/>
                    <a:pt x="606258" y="84881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AF8935B5-88E9-F960-6014-6189DD0E7C7B}"/>
                </a:ext>
              </a:extLst>
            </p:cNvPr>
            <p:cNvSpPr/>
            <p:nvPr/>
          </p:nvSpPr>
          <p:spPr>
            <a:xfrm rot="3441237" flipV="1">
              <a:off x="7375323" y="2867042"/>
              <a:ext cx="293107" cy="718364"/>
            </a:xfrm>
            <a:custGeom>
              <a:avLst/>
              <a:gdLst>
                <a:gd name="csX0" fmla="*/ 431 w 293107"/>
                <a:gd name="csY0" fmla="*/ 447155 h 718364"/>
                <a:gd name="csX1" fmla="*/ 146665 w 293107"/>
                <a:gd name="csY1" fmla="*/ 441 h 718364"/>
                <a:gd name="csX2" fmla="*/ 293530 w 293107"/>
                <a:gd name="csY2" fmla="*/ 447155 h 718364"/>
                <a:gd name="csX3" fmla="*/ 144164 w 293107"/>
                <a:gd name="csY3" fmla="*/ 718805 h 718364"/>
                <a:gd name="csX4" fmla="*/ 431 w 293107"/>
                <a:gd name="csY4" fmla="*/ 447155 h 71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3107" h="718364">
                  <a:moveTo>
                    <a:pt x="431" y="447155"/>
                  </a:moveTo>
                  <a:cubicBezTo>
                    <a:pt x="848" y="327428"/>
                    <a:pt x="63381" y="120106"/>
                    <a:pt x="146665" y="441"/>
                  </a:cubicBezTo>
                  <a:cubicBezTo>
                    <a:pt x="226428" y="119767"/>
                    <a:pt x="292747" y="308335"/>
                    <a:pt x="293530" y="447155"/>
                  </a:cubicBezTo>
                  <a:cubicBezTo>
                    <a:pt x="294312" y="585973"/>
                    <a:pt x="225101" y="718805"/>
                    <a:pt x="144164" y="718805"/>
                  </a:cubicBezTo>
                  <a:cubicBezTo>
                    <a:pt x="63227" y="718805"/>
                    <a:pt x="14" y="566881"/>
                    <a:pt x="431" y="447155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6200000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1CD0840D-882E-7E63-EC7F-4EA7BC89792D}"/>
                </a:ext>
              </a:extLst>
            </p:cNvPr>
            <p:cNvSpPr/>
            <p:nvPr/>
          </p:nvSpPr>
          <p:spPr>
            <a:xfrm rot="7143704" flipV="1">
              <a:off x="7218882" y="3065468"/>
              <a:ext cx="604627" cy="323727"/>
            </a:xfrm>
            <a:custGeom>
              <a:avLst/>
              <a:gdLst>
                <a:gd name="csX0" fmla="*/ 605008 w 604627"/>
                <a:gd name="csY0" fmla="*/ 503 h 323727"/>
                <a:gd name="csX1" fmla="*/ 272792 w 604627"/>
                <a:gd name="csY1" fmla="*/ 148339 h 323727"/>
                <a:gd name="csX2" fmla="*/ 380 w 604627"/>
                <a:gd name="csY2" fmla="*/ 324231 h 3237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4627" h="323727">
                  <a:moveTo>
                    <a:pt x="605008" y="503"/>
                  </a:moveTo>
                  <a:cubicBezTo>
                    <a:pt x="502516" y="38733"/>
                    <a:pt x="400028" y="76963"/>
                    <a:pt x="272792" y="148339"/>
                  </a:cubicBezTo>
                  <a:cubicBezTo>
                    <a:pt x="145557" y="219715"/>
                    <a:pt x="152362" y="219709"/>
                    <a:pt x="380" y="324231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EAFEC60D-592D-0B1A-EC64-98DDBFFE08AD}"/>
                </a:ext>
              </a:extLst>
            </p:cNvPr>
            <p:cNvSpPr/>
            <p:nvPr/>
          </p:nvSpPr>
          <p:spPr>
            <a:xfrm>
              <a:off x="8477344" y="4118054"/>
              <a:ext cx="999022" cy="478244"/>
            </a:xfrm>
            <a:custGeom>
              <a:avLst/>
              <a:gdLst>
                <a:gd name="csX0" fmla="*/ 350919 w 999022"/>
                <a:gd name="csY0" fmla="*/ 2481 h 478244"/>
                <a:gd name="csX1" fmla="*/ 998667 w 999022"/>
                <a:gd name="csY1" fmla="*/ 165685 h 478244"/>
                <a:gd name="csX2" fmla="*/ 405628 w 999022"/>
                <a:gd name="csY2" fmla="*/ 473866 h 478244"/>
                <a:gd name="csX3" fmla="*/ 454 w 999022"/>
                <a:gd name="csY3" fmla="*/ 277430 h 478244"/>
                <a:gd name="csX4" fmla="*/ 350919 w 999022"/>
                <a:gd name="csY4" fmla="*/ 2481 h 478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999022" h="478244">
                  <a:moveTo>
                    <a:pt x="350919" y="2481"/>
                  </a:moveTo>
                  <a:cubicBezTo>
                    <a:pt x="517277" y="-16127"/>
                    <a:pt x="816919" y="51009"/>
                    <a:pt x="998667" y="165685"/>
                  </a:cubicBezTo>
                  <a:cubicBezTo>
                    <a:pt x="847827" y="313180"/>
                    <a:pt x="598273" y="450256"/>
                    <a:pt x="405628" y="473866"/>
                  </a:cubicBezTo>
                  <a:cubicBezTo>
                    <a:pt x="212983" y="497509"/>
                    <a:pt x="15558" y="407623"/>
                    <a:pt x="454" y="277430"/>
                  </a:cubicBezTo>
                  <a:cubicBezTo>
                    <a:pt x="-14649" y="147268"/>
                    <a:pt x="184561" y="21121"/>
                    <a:pt x="350919" y="2481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21202826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E29E4338-AE72-4427-CA81-3061ECB94D67}"/>
                </a:ext>
              </a:extLst>
            </p:cNvPr>
            <p:cNvSpPr/>
            <p:nvPr/>
          </p:nvSpPr>
          <p:spPr>
            <a:xfrm>
              <a:off x="8470840" y="4281059"/>
              <a:ext cx="987188" cy="124487"/>
            </a:xfrm>
            <a:custGeom>
              <a:avLst/>
              <a:gdLst>
                <a:gd name="csX0" fmla="*/ 986833 w 987188"/>
                <a:gd name="csY0" fmla="*/ 1947 h 124486"/>
                <a:gd name="csX1" fmla="*/ 464785 w 987188"/>
                <a:gd name="csY1" fmla="*/ 24794 h 124486"/>
                <a:gd name="csX2" fmla="*/ -355 w 987188"/>
                <a:gd name="csY2" fmla="*/ 123888 h 1244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987188" h="124486">
                  <a:moveTo>
                    <a:pt x="986833" y="1947"/>
                  </a:moveTo>
                  <a:cubicBezTo>
                    <a:pt x="830767" y="-1876"/>
                    <a:pt x="674732" y="-5668"/>
                    <a:pt x="464785" y="24794"/>
                  </a:cubicBezTo>
                  <a:cubicBezTo>
                    <a:pt x="254838" y="55223"/>
                    <a:pt x="263473" y="59206"/>
                    <a:pt x="-355" y="123888"/>
                  </a:cubicBezTo>
                </a:path>
              </a:pathLst>
            </a:custGeom>
            <a:noFill/>
            <a:ln w="14598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2ED216B6-ECFF-B487-B3E0-BE1BF70C7DCA}"/>
                </a:ext>
              </a:extLst>
            </p:cNvPr>
            <p:cNvSpPr/>
            <p:nvPr/>
          </p:nvSpPr>
          <p:spPr>
            <a:xfrm rot="6264362" flipV="1">
              <a:off x="7467696" y="3735948"/>
              <a:ext cx="500628" cy="1058074"/>
            </a:xfrm>
            <a:custGeom>
              <a:avLst/>
              <a:gdLst>
                <a:gd name="csX0" fmla="*/ 459 w 500628"/>
                <a:gd name="csY0" fmla="*/ 658778 h 1058074"/>
                <a:gd name="csX1" fmla="*/ 250227 w 500628"/>
                <a:gd name="csY1" fmla="*/ 817 h 1058074"/>
                <a:gd name="csX2" fmla="*/ 501072 w 500628"/>
                <a:gd name="csY2" fmla="*/ 658778 h 1058074"/>
                <a:gd name="csX3" fmla="*/ 245956 w 500628"/>
                <a:gd name="csY3" fmla="*/ 1058892 h 1058074"/>
                <a:gd name="csX4" fmla="*/ 459 w 500628"/>
                <a:gd name="csY4" fmla="*/ 658778 h 10580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00628" h="1058074">
                  <a:moveTo>
                    <a:pt x="459" y="658778"/>
                  </a:moveTo>
                  <a:cubicBezTo>
                    <a:pt x="1171" y="482434"/>
                    <a:pt x="107979" y="177071"/>
                    <a:pt x="250227" y="817"/>
                  </a:cubicBezTo>
                  <a:cubicBezTo>
                    <a:pt x="386463" y="176572"/>
                    <a:pt x="499737" y="454315"/>
                    <a:pt x="501072" y="658778"/>
                  </a:cubicBezTo>
                  <a:cubicBezTo>
                    <a:pt x="502410" y="863245"/>
                    <a:pt x="384198" y="1058892"/>
                    <a:pt x="245956" y="1058892"/>
                  </a:cubicBezTo>
                  <a:cubicBezTo>
                    <a:pt x="107715" y="1058892"/>
                    <a:pt x="-253" y="835126"/>
                    <a:pt x="459" y="658778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6200000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フリーフォーム: 図形 10">
              <a:extLst>
                <a:ext uri="{FF2B5EF4-FFF2-40B4-BE49-F238E27FC236}">
                  <a16:creationId xmlns:a16="http://schemas.microsoft.com/office/drawing/2014/main" id="{572064C8-1979-2BDF-9BFC-5E46641D15A5}"/>
                </a:ext>
              </a:extLst>
            </p:cNvPr>
            <p:cNvSpPr/>
            <p:nvPr/>
          </p:nvSpPr>
          <p:spPr>
            <a:xfrm rot="9781883" flipV="1">
              <a:off x="7266613" y="3990357"/>
              <a:ext cx="890550" cy="552928"/>
            </a:xfrm>
            <a:custGeom>
              <a:avLst/>
              <a:gdLst>
                <a:gd name="csX0" fmla="*/ 890944 w 890550"/>
                <a:gd name="csY0" fmla="*/ 897 h 552929"/>
                <a:gd name="csX1" fmla="*/ 401629 w 890550"/>
                <a:gd name="csY1" fmla="*/ 253402 h 552929"/>
                <a:gd name="csX2" fmla="*/ 394 w 890550"/>
                <a:gd name="csY2" fmla="*/ 553827 h 552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90550" h="552929">
                  <a:moveTo>
                    <a:pt x="890944" y="897"/>
                  </a:moveTo>
                  <a:cubicBezTo>
                    <a:pt x="739988" y="66194"/>
                    <a:pt x="589033" y="131492"/>
                    <a:pt x="401629" y="253402"/>
                  </a:cubicBezTo>
                  <a:cubicBezTo>
                    <a:pt x="214224" y="375313"/>
                    <a:pt x="224248" y="375304"/>
                    <a:pt x="394" y="553827"/>
                  </a:cubicBezTo>
                </a:path>
              </a:pathLst>
            </a:custGeom>
            <a:noFill/>
            <a:ln w="14598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フリーフォーム: 図形 11">
              <a:extLst>
                <a:ext uri="{FF2B5EF4-FFF2-40B4-BE49-F238E27FC236}">
                  <a16:creationId xmlns:a16="http://schemas.microsoft.com/office/drawing/2014/main" id="{87AE9D85-5805-38A8-29AF-16D786FA8A25}"/>
                </a:ext>
              </a:extLst>
            </p:cNvPr>
            <p:cNvSpPr/>
            <p:nvPr/>
          </p:nvSpPr>
          <p:spPr>
            <a:xfrm rot="15171322" flipV="1">
              <a:off x="7073472" y="2008865"/>
              <a:ext cx="402528" cy="78905"/>
            </a:xfrm>
            <a:custGeom>
              <a:avLst/>
              <a:gdLst>
                <a:gd name="csX0" fmla="*/ 333 w 402528"/>
                <a:gd name="csY0" fmla="*/ 79181 h 78905"/>
                <a:gd name="csX1" fmla="*/ 170634 w 402528"/>
                <a:gd name="csY1" fmla="*/ 299 h 78905"/>
                <a:gd name="csX2" fmla="*/ 402862 w 402528"/>
                <a:gd name="csY2" fmla="*/ 72608 h 78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2528" h="78905">
                  <a:moveTo>
                    <a:pt x="333" y="79181"/>
                  </a:moveTo>
                  <a:cubicBezTo>
                    <a:pt x="51940" y="40288"/>
                    <a:pt x="103546" y="1395"/>
                    <a:pt x="170634" y="299"/>
                  </a:cubicBezTo>
                  <a:cubicBezTo>
                    <a:pt x="237723" y="-796"/>
                    <a:pt x="320292" y="35906"/>
                    <a:pt x="402862" y="72608"/>
                  </a:cubicBezTo>
                </a:path>
              </a:pathLst>
            </a:custGeom>
            <a:noFill/>
            <a:ln w="32846" cap="flat">
              <a:solidFill>
                <a:srgbClr val="70AD47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フリーフォーム: 図形 17">
              <a:extLst>
                <a:ext uri="{FF2B5EF4-FFF2-40B4-BE49-F238E27FC236}">
                  <a16:creationId xmlns:a16="http://schemas.microsoft.com/office/drawing/2014/main" id="{5E76C5D1-A617-E7C6-54C3-401B65448A3D}"/>
                </a:ext>
              </a:extLst>
            </p:cNvPr>
            <p:cNvSpPr/>
            <p:nvPr/>
          </p:nvSpPr>
          <p:spPr>
            <a:xfrm rot="10488834" flipV="1">
              <a:off x="7837040" y="2890698"/>
              <a:ext cx="402528" cy="78905"/>
            </a:xfrm>
            <a:custGeom>
              <a:avLst/>
              <a:gdLst>
                <a:gd name="csX0" fmla="*/ 573 w 402528"/>
                <a:gd name="csY0" fmla="*/ 79458 h 78905"/>
                <a:gd name="csX1" fmla="*/ 170874 w 402528"/>
                <a:gd name="csY1" fmla="*/ 576 h 78905"/>
                <a:gd name="csX2" fmla="*/ 403101 w 402528"/>
                <a:gd name="csY2" fmla="*/ 72885 h 78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2528" h="78905">
                  <a:moveTo>
                    <a:pt x="573" y="79458"/>
                  </a:moveTo>
                  <a:cubicBezTo>
                    <a:pt x="52179" y="40565"/>
                    <a:pt x="103786" y="1672"/>
                    <a:pt x="170874" y="576"/>
                  </a:cubicBezTo>
                  <a:cubicBezTo>
                    <a:pt x="237962" y="-519"/>
                    <a:pt x="320531" y="36183"/>
                    <a:pt x="403101" y="72885"/>
                  </a:cubicBezTo>
                </a:path>
              </a:pathLst>
            </a:custGeom>
            <a:noFill/>
            <a:ln w="32846" cap="flat">
              <a:solidFill>
                <a:srgbClr val="70AD47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0CD78735-C464-DAFD-F474-3C5601DC1079}"/>
                </a:ext>
              </a:extLst>
            </p:cNvPr>
            <p:cNvSpPr/>
            <p:nvPr/>
          </p:nvSpPr>
          <p:spPr>
            <a:xfrm rot="6394323" flipV="1">
              <a:off x="7378754" y="2535935"/>
              <a:ext cx="293107" cy="718364"/>
            </a:xfrm>
            <a:custGeom>
              <a:avLst/>
              <a:gdLst>
                <a:gd name="csX0" fmla="*/ 431 w 293107"/>
                <a:gd name="csY0" fmla="*/ 447155 h 718364"/>
                <a:gd name="csX1" fmla="*/ 146665 w 293107"/>
                <a:gd name="csY1" fmla="*/ 441 h 718364"/>
                <a:gd name="csX2" fmla="*/ 293530 w 293107"/>
                <a:gd name="csY2" fmla="*/ 447155 h 718364"/>
                <a:gd name="csX3" fmla="*/ 144164 w 293107"/>
                <a:gd name="csY3" fmla="*/ 718805 h 718364"/>
                <a:gd name="csX4" fmla="*/ 431 w 293107"/>
                <a:gd name="csY4" fmla="*/ 447155 h 7183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3107" h="718364">
                  <a:moveTo>
                    <a:pt x="431" y="447155"/>
                  </a:moveTo>
                  <a:cubicBezTo>
                    <a:pt x="848" y="327428"/>
                    <a:pt x="63381" y="120106"/>
                    <a:pt x="146665" y="441"/>
                  </a:cubicBezTo>
                  <a:cubicBezTo>
                    <a:pt x="226428" y="119767"/>
                    <a:pt x="292747" y="308335"/>
                    <a:pt x="293530" y="447155"/>
                  </a:cubicBezTo>
                  <a:cubicBezTo>
                    <a:pt x="294312" y="585973"/>
                    <a:pt x="225101" y="718805"/>
                    <a:pt x="144164" y="718805"/>
                  </a:cubicBezTo>
                  <a:cubicBezTo>
                    <a:pt x="63227" y="718805"/>
                    <a:pt x="14" y="566881"/>
                    <a:pt x="431" y="447155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6200000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フリーフォーム: 図形 19">
              <a:extLst>
                <a:ext uri="{FF2B5EF4-FFF2-40B4-BE49-F238E27FC236}">
                  <a16:creationId xmlns:a16="http://schemas.microsoft.com/office/drawing/2014/main" id="{2BEAC0A5-282D-A7E8-55B4-0C6330D30405}"/>
                </a:ext>
              </a:extLst>
            </p:cNvPr>
            <p:cNvSpPr/>
            <p:nvPr/>
          </p:nvSpPr>
          <p:spPr>
            <a:xfrm rot="10096790" flipV="1">
              <a:off x="7222313" y="2734360"/>
              <a:ext cx="604627" cy="323727"/>
            </a:xfrm>
            <a:custGeom>
              <a:avLst/>
              <a:gdLst>
                <a:gd name="csX0" fmla="*/ 605008 w 604627"/>
                <a:gd name="csY0" fmla="*/ 503 h 323727"/>
                <a:gd name="csX1" fmla="*/ 272792 w 604627"/>
                <a:gd name="csY1" fmla="*/ 148339 h 323727"/>
                <a:gd name="csX2" fmla="*/ 380 w 604627"/>
                <a:gd name="csY2" fmla="*/ 324231 h 3237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4627" h="323727">
                  <a:moveTo>
                    <a:pt x="605008" y="503"/>
                  </a:moveTo>
                  <a:cubicBezTo>
                    <a:pt x="502516" y="38733"/>
                    <a:pt x="400028" y="76963"/>
                    <a:pt x="272792" y="148339"/>
                  </a:cubicBezTo>
                  <a:cubicBezTo>
                    <a:pt x="145557" y="219715"/>
                    <a:pt x="152362" y="219709"/>
                    <a:pt x="380" y="324231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フリーフォーム: 図形 20">
              <a:extLst>
                <a:ext uri="{FF2B5EF4-FFF2-40B4-BE49-F238E27FC236}">
                  <a16:creationId xmlns:a16="http://schemas.microsoft.com/office/drawing/2014/main" id="{171CE581-6A87-3883-84BD-CD047E1D0224}"/>
                </a:ext>
              </a:extLst>
            </p:cNvPr>
            <p:cNvSpPr/>
            <p:nvPr/>
          </p:nvSpPr>
          <p:spPr>
            <a:xfrm>
              <a:off x="7774750" y="2960590"/>
              <a:ext cx="348680" cy="603063"/>
            </a:xfrm>
            <a:custGeom>
              <a:avLst/>
              <a:gdLst>
                <a:gd name="csX0" fmla="*/ 337306 w 348680"/>
                <a:gd name="csY0" fmla="*/ 185534 h 603063"/>
                <a:gd name="csX1" fmla="*/ 275666 w 348680"/>
                <a:gd name="csY1" fmla="*/ 602466 h 603063"/>
                <a:gd name="csX2" fmla="*/ 9920 w 348680"/>
                <a:gd name="csY2" fmla="*/ 274975 h 603063"/>
                <a:gd name="csX3" fmla="*/ 114925 w 348680"/>
                <a:gd name="csY3" fmla="*/ 2990 h 603063"/>
                <a:gd name="csX4" fmla="*/ 337306 w 348680"/>
                <a:gd name="csY4" fmla="*/ 185534 h 6030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48680" h="603063">
                  <a:moveTo>
                    <a:pt x="337306" y="185534"/>
                  </a:moveTo>
                  <a:cubicBezTo>
                    <a:pt x="364103" y="285458"/>
                    <a:pt x="341448" y="477339"/>
                    <a:pt x="275666" y="602466"/>
                  </a:cubicBezTo>
                  <a:cubicBezTo>
                    <a:pt x="159404" y="527364"/>
                    <a:pt x="42398" y="390415"/>
                    <a:pt x="9920" y="274975"/>
                  </a:cubicBezTo>
                  <a:cubicBezTo>
                    <a:pt x="-22555" y="159502"/>
                    <a:pt x="24517" y="27684"/>
                    <a:pt x="114925" y="2990"/>
                  </a:cubicBezTo>
                  <a:cubicBezTo>
                    <a:pt x="205334" y="-21704"/>
                    <a:pt x="310541" y="85611"/>
                    <a:pt x="337306" y="185534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4483355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5668D5D0-2BAA-96B2-B562-017C648D37D4}"/>
                </a:ext>
              </a:extLst>
            </p:cNvPr>
            <p:cNvSpPr/>
            <p:nvPr/>
          </p:nvSpPr>
          <p:spPr>
            <a:xfrm>
              <a:off x="7882894" y="2974948"/>
              <a:ext cx="168623" cy="588928"/>
            </a:xfrm>
            <a:custGeom>
              <a:avLst/>
              <a:gdLst>
                <a:gd name="csX0" fmla="*/ 168269 w 168623"/>
                <a:gd name="csY0" fmla="*/ 588331 h 588928"/>
                <a:gd name="csX1" fmla="*/ 106655 w 168623"/>
                <a:gd name="csY1" fmla="*/ 275656 h 588928"/>
                <a:gd name="csX2" fmla="*/ -355 w 168623"/>
                <a:gd name="csY2" fmla="*/ -598 h 588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68623" h="588928">
                  <a:moveTo>
                    <a:pt x="168269" y="588331"/>
                  </a:moveTo>
                  <a:cubicBezTo>
                    <a:pt x="156884" y="494557"/>
                    <a:pt x="145499" y="400784"/>
                    <a:pt x="106655" y="275656"/>
                  </a:cubicBezTo>
                  <a:cubicBezTo>
                    <a:pt x="67810" y="150561"/>
                    <a:pt x="65949" y="155851"/>
                    <a:pt x="-355" y="-598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フリーフォーム: 図形 22">
              <a:extLst>
                <a:ext uri="{FF2B5EF4-FFF2-40B4-BE49-F238E27FC236}">
                  <a16:creationId xmlns:a16="http://schemas.microsoft.com/office/drawing/2014/main" id="{019F0529-AA56-D06E-E471-FBDB08AB9D67}"/>
                </a:ext>
              </a:extLst>
            </p:cNvPr>
            <p:cNvSpPr/>
            <p:nvPr/>
          </p:nvSpPr>
          <p:spPr>
            <a:xfrm>
              <a:off x="10033544" y="2633947"/>
              <a:ext cx="286450" cy="272973"/>
            </a:xfrm>
            <a:custGeom>
              <a:avLst/>
              <a:gdLst>
                <a:gd name="csX0" fmla="*/ -355 w 286450"/>
                <a:gd name="csY0" fmla="*/ -598 h 272972"/>
                <a:gd name="csX1" fmla="*/ 174256 w 286450"/>
                <a:gd name="csY1" fmla="*/ 60675 h 272972"/>
                <a:gd name="csX2" fmla="*/ 286096 w 286450"/>
                <a:gd name="csY2" fmla="*/ 272375 h 2729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86450" h="272972">
                  <a:moveTo>
                    <a:pt x="-355" y="-598"/>
                  </a:moveTo>
                  <a:cubicBezTo>
                    <a:pt x="63085" y="7304"/>
                    <a:pt x="126492" y="15174"/>
                    <a:pt x="174256" y="60675"/>
                  </a:cubicBezTo>
                  <a:cubicBezTo>
                    <a:pt x="221987" y="106176"/>
                    <a:pt x="254041" y="189275"/>
                    <a:pt x="286096" y="272375"/>
                  </a:cubicBezTo>
                </a:path>
              </a:pathLst>
            </a:custGeom>
            <a:noFill/>
            <a:ln w="32846" cap="flat">
              <a:solidFill>
                <a:srgbClr val="70AD47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フリーフォーム: 図形 23">
              <a:extLst>
                <a:ext uri="{FF2B5EF4-FFF2-40B4-BE49-F238E27FC236}">
                  <a16:creationId xmlns:a16="http://schemas.microsoft.com/office/drawing/2014/main" id="{5D5637F0-212D-F214-3C20-62D92D071FF8}"/>
                </a:ext>
              </a:extLst>
            </p:cNvPr>
            <p:cNvSpPr/>
            <p:nvPr/>
          </p:nvSpPr>
          <p:spPr>
            <a:xfrm rot="2231094" flipV="1">
              <a:off x="9950221" y="2838856"/>
              <a:ext cx="339249" cy="620654"/>
            </a:xfrm>
            <a:custGeom>
              <a:avLst/>
              <a:gdLst>
                <a:gd name="csX0" fmla="*/ 1238 w 339249"/>
                <a:gd name="csY0" fmla="*/ 386489 h 620654"/>
                <a:gd name="csX1" fmla="*/ 170493 w 339249"/>
                <a:gd name="csY1" fmla="*/ 536 h 620654"/>
                <a:gd name="csX2" fmla="*/ 340478 w 339249"/>
                <a:gd name="csY2" fmla="*/ 386489 h 620654"/>
                <a:gd name="csX3" fmla="*/ 167599 w 339249"/>
                <a:gd name="csY3" fmla="*/ 621191 h 620654"/>
                <a:gd name="csX4" fmla="*/ 1238 w 339249"/>
                <a:gd name="csY4" fmla="*/ 386489 h 620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9249" h="620654">
                  <a:moveTo>
                    <a:pt x="1238" y="386489"/>
                  </a:moveTo>
                  <a:cubicBezTo>
                    <a:pt x="1721" y="283047"/>
                    <a:pt x="74099" y="103925"/>
                    <a:pt x="170493" y="536"/>
                  </a:cubicBezTo>
                  <a:cubicBezTo>
                    <a:pt x="262814" y="103631"/>
                    <a:pt x="339573" y="266552"/>
                    <a:pt x="340478" y="386489"/>
                  </a:cubicBezTo>
                  <a:cubicBezTo>
                    <a:pt x="341383" y="506426"/>
                    <a:pt x="261278" y="621191"/>
                    <a:pt x="167599" y="621191"/>
                  </a:cubicBezTo>
                  <a:cubicBezTo>
                    <a:pt x="73921" y="621191"/>
                    <a:pt x="756" y="489933"/>
                    <a:pt x="1238" y="386489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6200000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E605D741-E247-30E1-0978-8FDBBD722CC2}"/>
                </a:ext>
              </a:extLst>
            </p:cNvPr>
            <p:cNvSpPr/>
            <p:nvPr/>
          </p:nvSpPr>
          <p:spPr>
            <a:xfrm rot="5525761" flipV="1">
              <a:off x="9868987" y="2952078"/>
              <a:ext cx="522388" cy="374689"/>
            </a:xfrm>
            <a:custGeom>
              <a:avLst/>
              <a:gdLst>
                <a:gd name="csX0" fmla="*/ 523599 w 522388"/>
                <a:gd name="csY0" fmla="*/ 571 h 374689"/>
                <a:gd name="csX1" fmla="*/ 236571 w 522388"/>
                <a:gd name="csY1" fmla="*/ 171681 h 374689"/>
                <a:gd name="csX2" fmla="*/ 1211 w 522388"/>
                <a:gd name="csY2" fmla="*/ 375261 h 3746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22388" h="374689">
                  <a:moveTo>
                    <a:pt x="523599" y="571"/>
                  </a:moveTo>
                  <a:cubicBezTo>
                    <a:pt x="435048" y="44820"/>
                    <a:pt x="346500" y="89069"/>
                    <a:pt x="236571" y="171681"/>
                  </a:cubicBezTo>
                  <a:cubicBezTo>
                    <a:pt x="126641" y="254293"/>
                    <a:pt x="132521" y="254286"/>
                    <a:pt x="1211" y="375261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83A73828-2C07-A0C2-F3A1-F6B614238A40}"/>
                </a:ext>
              </a:extLst>
            </p:cNvPr>
            <p:cNvSpPr/>
            <p:nvPr/>
          </p:nvSpPr>
          <p:spPr>
            <a:xfrm>
              <a:off x="10294064" y="2794227"/>
              <a:ext cx="713442" cy="297186"/>
            </a:xfrm>
            <a:custGeom>
              <a:avLst/>
              <a:gdLst>
                <a:gd name="csX0" fmla="*/ 287108 w 713442"/>
                <a:gd name="csY0" fmla="*/ 2199 h 297186"/>
                <a:gd name="csX1" fmla="*/ 713088 w 713442"/>
                <a:gd name="csY1" fmla="*/ 200899 h 297186"/>
                <a:gd name="csX2" fmla="*/ 251994 w 713442"/>
                <a:gd name="csY2" fmla="*/ 293302 h 297186"/>
                <a:gd name="csX3" fmla="*/ 179 w 713442"/>
                <a:gd name="csY3" fmla="*/ 112446 h 297186"/>
                <a:gd name="csX4" fmla="*/ 287108 w 713442"/>
                <a:gd name="csY4" fmla="*/ 2199 h 2971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13442" h="297186">
                  <a:moveTo>
                    <a:pt x="287108" y="2199"/>
                  </a:moveTo>
                  <a:cubicBezTo>
                    <a:pt x="405926" y="16952"/>
                    <a:pt x="604275" y="103875"/>
                    <a:pt x="713088" y="200899"/>
                  </a:cubicBezTo>
                  <a:cubicBezTo>
                    <a:pt x="585061" y="265836"/>
                    <a:pt x="389931" y="309170"/>
                    <a:pt x="251994" y="293302"/>
                  </a:cubicBezTo>
                  <a:cubicBezTo>
                    <a:pt x="114090" y="277466"/>
                    <a:pt x="-9507" y="192837"/>
                    <a:pt x="179" y="112446"/>
                  </a:cubicBezTo>
                  <a:cubicBezTo>
                    <a:pt x="9897" y="32055"/>
                    <a:pt x="168289" y="-12554"/>
                    <a:pt x="287108" y="2199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412389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DE390763-D4F1-E45A-07DA-5900848B8CA4}"/>
                </a:ext>
              </a:extLst>
            </p:cNvPr>
            <p:cNvSpPr/>
            <p:nvPr/>
          </p:nvSpPr>
          <p:spPr>
            <a:xfrm>
              <a:off x="10310435" y="2914439"/>
              <a:ext cx="681268" cy="79753"/>
            </a:xfrm>
            <a:custGeom>
              <a:avLst/>
              <a:gdLst>
                <a:gd name="csX0" fmla="*/ 680913 w 681268"/>
                <a:gd name="csY0" fmla="*/ 79155 h 79753"/>
                <a:gd name="csX1" fmla="*/ 323758 w 681268"/>
                <a:gd name="csY1" fmla="*/ 10681 h 79753"/>
                <a:gd name="csX2" fmla="*/ -355 w 681268"/>
                <a:gd name="csY2" fmla="*/ -598 h 79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81268" h="79753">
                  <a:moveTo>
                    <a:pt x="680913" y="79155"/>
                  </a:moveTo>
                  <a:cubicBezTo>
                    <a:pt x="574936" y="51976"/>
                    <a:pt x="468991" y="24797"/>
                    <a:pt x="323758" y="10681"/>
                  </a:cubicBezTo>
                  <a:cubicBezTo>
                    <a:pt x="178525" y="-3434"/>
                    <a:pt x="184133" y="453"/>
                    <a:pt x="-355" y="-598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EEBD8AA3-AAC6-94EC-3353-88A661EAF5C4}"/>
                </a:ext>
              </a:extLst>
            </p:cNvPr>
            <p:cNvSpPr/>
            <p:nvPr/>
          </p:nvSpPr>
          <p:spPr>
            <a:xfrm rot="17328749" flipV="1">
              <a:off x="9290152" y="2514251"/>
              <a:ext cx="402528" cy="78905"/>
            </a:xfrm>
            <a:custGeom>
              <a:avLst/>
              <a:gdLst>
                <a:gd name="csX0" fmla="*/ 1029 w 402528"/>
                <a:gd name="csY0" fmla="*/ 79340 h 78905"/>
                <a:gd name="csX1" fmla="*/ 171330 w 402528"/>
                <a:gd name="csY1" fmla="*/ 458 h 78905"/>
                <a:gd name="csX2" fmla="*/ 403558 w 402528"/>
                <a:gd name="csY2" fmla="*/ 72767 h 789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02528" h="78905">
                  <a:moveTo>
                    <a:pt x="1029" y="79340"/>
                  </a:moveTo>
                  <a:cubicBezTo>
                    <a:pt x="52635" y="40447"/>
                    <a:pt x="104242" y="1554"/>
                    <a:pt x="171330" y="458"/>
                  </a:cubicBezTo>
                  <a:cubicBezTo>
                    <a:pt x="238418" y="-638"/>
                    <a:pt x="320987" y="36065"/>
                    <a:pt x="403558" y="72767"/>
                  </a:cubicBezTo>
                </a:path>
              </a:pathLst>
            </a:custGeom>
            <a:noFill/>
            <a:ln w="32846" cap="flat">
              <a:solidFill>
                <a:srgbClr val="70AD47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5EF717D0-A0CD-5BC0-00E4-E2BDAA43285C}"/>
                </a:ext>
              </a:extLst>
            </p:cNvPr>
            <p:cNvSpPr/>
            <p:nvPr/>
          </p:nvSpPr>
          <p:spPr>
            <a:xfrm rot="13234240" flipV="1">
              <a:off x="9585490" y="1740131"/>
              <a:ext cx="293106" cy="718363"/>
            </a:xfrm>
            <a:custGeom>
              <a:avLst/>
              <a:gdLst>
                <a:gd name="csX0" fmla="*/ 1124 w 293106"/>
                <a:gd name="csY0" fmla="*/ 446904 h 718363"/>
                <a:gd name="csX1" fmla="*/ 147357 w 293106"/>
                <a:gd name="csY1" fmla="*/ 191 h 718363"/>
                <a:gd name="csX2" fmla="*/ 294222 w 293106"/>
                <a:gd name="csY2" fmla="*/ 446904 h 718363"/>
                <a:gd name="csX3" fmla="*/ 144857 w 293106"/>
                <a:gd name="csY3" fmla="*/ 718555 h 718363"/>
                <a:gd name="csX4" fmla="*/ 1124 w 293106"/>
                <a:gd name="csY4" fmla="*/ 446904 h 718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3106" h="718363">
                  <a:moveTo>
                    <a:pt x="1124" y="446904"/>
                  </a:moveTo>
                  <a:cubicBezTo>
                    <a:pt x="1540" y="327178"/>
                    <a:pt x="64074" y="119856"/>
                    <a:pt x="147357" y="191"/>
                  </a:cubicBezTo>
                  <a:cubicBezTo>
                    <a:pt x="227121" y="119517"/>
                    <a:pt x="293440" y="308085"/>
                    <a:pt x="294222" y="446904"/>
                  </a:cubicBezTo>
                  <a:cubicBezTo>
                    <a:pt x="295004" y="585723"/>
                    <a:pt x="225794" y="718555"/>
                    <a:pt x="144857" y="718555"/>
                  </a:cubicBezTo>
                  <a:cubicBezTo>
                    <a:pt x="63920" y="718555"/>
                    <a:pt x="707" y="566631"/>
                    <a:pt x="1124" y="446904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6200000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BE0891DB-234F-0038-60CB-6FA25806F088}"/>
                </a:ext>
              </a:extLst>
            </p:cNvPr>
            <p:cNvSpPr/>
            <p:nvPr/>
          </p:nvSpPr>
          <p:spPr>
            <a:xfrm rot="16936707" flipV="1">
              <a:off x="9429004" y="1936393"/>
              <a:ext cx="604628" cy="323727"/>
            </a:xfrm>
            <a:custGeom>
              <a:avLst/>
              <a:gdLst>
                <a:gd name="csX0" fmla="*/ 605701 w 604628"/>
                <a:gd name="csY0" fmla="*/ 253 h 323727"/>
                <a:gd name="csX1" fmla="*/ 273485 w 604628"/>
                <a:gd name="csY1" fmla="*/ 148088 h 323727"/>
                <a:gd name="csX2" fmla="*/ 1072 w 604628"/>
                <a:gd name="csY2" fmla="*/ 323981 h 3237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4628" h="323727">
                  <a:moveTo>
                    <a:pt x="605701" y="253"/>
                  </a:moveTo>
                  <a:cubicBezTo>
                    <a:pt x="503209" y="38483"/>
                    <a:pt x="400721" y="76713"/>
                    <a:pt x="273485" y="148088"/>
                  </a:cubicBezTo>
                  <a:cubicBezTo>
                    <a:pt x="146249" y="219464"/>
                    <a:pt x="153055" y="219458"/>
                    <a:pt x="1072" y="323981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C7504A52-17AF-2DE3-74B3-B393831C934E}"/>
                </a:ext>
              </a:extLst>
            </p:cNvPr>
            <p:cNvSpPr/>
            <p:nvPr/>
          </p:nvSpPr>
          <p:spPr>
            <a:xfrm>
              <a:off x="8907590" y="2194513"/>
              <a:ext cx="614353" cy="341742"/>
            </a:xfrm>
            <a:custGeom>
              <a:avLst/>
              <a:gdLst>
                <a:gd name="csX0" fmla="*/ 355462 w 614353"/>
                <a:gd name="csY0" fmla="*/ 338243 h 341742"/>
                <a:gd name="csX1" fmla="*/ -355 w 614353"/>
                <a:gd name="csY1" fmla="*/ 112342 h 341742"/>
                <a:gd name="csX2" fmla="*/ 406921 w 614353"/>
                <a:gd name="csY2" fmla="*/ 2771 h 341742"/>
                <a:gd name="csX3" fmla="*/ 612663 w 614353"/>
                <a:gd name="csY3" fmla="*/ 209315 h 341742"/>
                <a:gd name="csX4" fmla="*/ 355462 w 614353"/>
                <a:gd name="csY4" fmla="*/ 338243 h 341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14353" h="341742">
                  <a:moveTo>
                    <a:pt x="355462" y="338243"/>
                  </a:moveTo>
                  <a:cubicBezTo>
                    <a:pt x="253277" y="322089"/>
                    <a:pt x="87205" y="223344"/>
                    <a:pt x="-355" y="112342"/>
                  </a:cubicBezTo>
                  <a:cubicBezTo>
                    <a:pt x="115532" y="36680"/>
                    <a:pt x="288231" y="-14521"/>
                    <a:pt x="406921" y="2771"/>
                  </a:cubicBezTo>
                  <a:cubicBezTo>
                    <a:pt x="525612" y="20063"/>
                    <a:pt x="626873" y="116679"/>
                    <a:pt x="612663" y="209315"/>
                  </a:cubicBezTo>
                  <a:cubicBezTo>
                    <a:pt x="598451" y="301951"/>
                    <a:pt x="457616" y="354398"/>
                    <a:pt x="355462" y="338243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1323304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FC5478C6-659F-8A04-CA47-8E891FC7441F}"/>
                </a:ext>
              </a:extLst>
            </p:cNvPr>
            <p:cNvSpPr/>
            <p:nvPr/>
          </p:nvSpPr>
          <p:spPr>
            <a:xfrm>
              <a:off x="8907080" y="2308047"/>
              <a:ext cx="606613" cy="85479"/>
            </a:xfrm>
            <a:custGeom>
              <a:avLst/>
              <a:gdLst>
                <a:gd name="csX0" fmla="*/ -355 w 606613"/>
                <a:gd name="csY0" fmla="*/ -598 h 85479"/>
                <a:gd name="csX1" fmla="*/ 310344 w 606613"/>
                <a:gd name="csY1" fmla="*/ 70279 h 85479"/>
                <a:gd name="csX2" fmla="*/ 606258 w 606613"/>
                <a:gd name="csY2" fmla="*/ 84881 h 854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6613" h="85479">
                  <a:moveTo>
                    <a:pt x="-355" y="-598"/>
                  </a:moveTo>
                  <a:cubicBezTo>
                    <a:pt x="89945" y="27142"/>
                    <a:pt x="180246" y="54879"/>
                    <a:pt x="310344" y="70279"/>
                  </a:cubicBezTo>
                  <a:cubicBezTo>
                    <a:pt x="440441" y="85678"/>
                    <a:pt x="436363" y="81823"/>
                    <a:pt x="606258" y="84881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DEB9C56F-B6DA-9326-B3F2-EC6663529BF7}"/>
                </a:ext>
              </a:extLst>
            </p:cNvPr>
            <p:cNvSpPr/>
            <p:nvPr/>
          </p:nvSpPr>
          <p:spPr>
            <a:xfrm>
              <a:off x="6056232" y="1175065"/>
              <a:ext cx="4725327" cy="5365769"/>
            </a:xfrm>
            <a:custGeom>
              <a:avLst/>
              <a:gdLst>
                <a:gd name="csX0" fmla="*/ 2397111 w 4725327"/>
                <a:gd name="csY0" fmla="*/ -477 h 5365769"/>
                <a:gd name="csX1" fmla="*/ 2485595 w 4725327"/>
                <a:gd name="csY1" fmla="*/ 4105 h 5365769"/>
                <a:gd name="csX2" fmla="*/ 2473742 w 4725327"/>
                <a:gd name="csY2" fmla="*/ 112335 h 5365769"/>
                <a:gd name="csX3" fmla="*/ 2467624 w 4725327"/>
                <a:gd name="csY3" fmla="*/ 220581 h 5365769"/>
                <a:gd name="csX4" fmla="*/ 2463355 w 4725327"/>
                <a:gd name="csY4" fmla="*/ 693085 h 5365769"/>
                <a:gd name="csX5" fmla="*/ 2458830 w 4725327"/>
                <a:gd name="csY5" fmla="*/ 774065 h 5365769"/>
                <a:gd name="csX6" fmla="*/ 2455007 w 4725327"/>
                <a:gd name="csY6" fmla="*/ 916198 h 5365769"/>
                <a:gd name="csX7" fmla="*/ 2447646 w 4725327"/>
                <a:gd name="csY7" fmla="*/ 1060927 h 5365769"/>
                <a:gd name="csX8" fmla="*/ 2448762 w 4725327"/>
                <a:gd name="csY8" fmla="*/ 1134337 h 5365769"/>
                <a:gd name="csX9" fmla="*/ 2438756 w 4725327"/>
                <a:gd name="csY9" fmla="*/ 1284502 h 5365769"/>
                <a:gd name="csX10" fmla="*/ 2436717 w 4725327"/>
                <a:gd name="csY10" fmla="*/ 1345552 h 5365769"/>
                <a:gd name="csX11" fmla="*/ 2425437 w 4725327"/>
                <a:gd name="csY11" fmla="*/ 1630028 h 5365769"/>
                <a:gd name="csX12" fmla="*/ 2417631 w 4725327"/>
                <a:gd name="csY12" fmla="*/ 1877860 h 5365769"/>
                <a:gd name="csX13" fmla="*/ 2415337 w 4725327"/>
                <a:gd name="csY13" fmla="*/ 1961724 h 5365769"/>
                <a:gd name="csX14" fmla="*/ 2415209 w 4725327"/>
                <a:gd name="csY14" fmla="*/ 2005218 h 5365769"/>
                <a:gd name="csX15" fmla="*/ 2627068 w 4725327"/>
                <a:gd name="csY15" fmla="*/ 1885443 h 5365769"/>
                <a:gd name="csX16" fmla="*/ 3533833 w 4725327"/>
                <a:gd name="csY16" fmla="*/ 1481576 h 5365769"/>
                <a:gd name="csX17" fmla="*/ 4713539 w 4725327"/>
                <a:gd name="csY17" fmla="*/ 1363141 h 5365769"/>
                <a:gd name="csX18" fmla="*/ 4086725 w 4725327"/>
                <a:gd name="csY18" fmla="*/ 1433367 h 5365769"/>
                <a:gd name="csX19" fmla="*/ 3620470 w 4725327"/>
                <a:gd name="csY19" fmla="*/ 1474917 h 5365769"/>
                <a:gd name="csX20" fmla="*/ 3148989 w 4725327"/>
                <a:gd name="csY20" fmla="*/ 1627542 h 5365769"/>
                <a:gd name="csX21" fmla="*/ 2679388 w 4725327"/>
                <a:gd name="csY21" fmla="*/ 1864987 h 5365769"/>
                <a:gd name="csX22" fmla="*/ 2415114 w 4725327"/>
                <a:gd name="csY22" fmla="*/ 2028541 h 5365769"/>
                <a:gd name="csX23" fmla="*/ 2414955 w 4725327"/>
                <a:gd name="csY23" fmla="*/ 2083059 h 5365769"/>
                <a:gd name="csX24" fmla="*/ 2407212 w 4725327"/>
                <a:gd name="csY24" fmla="*/ 2236927 h 5365769"/>
                <a:gd name="csX25" fmla="*/ 2402687 w 4725327"/>
                <a:gd name="csY25" fmla="*/ 2303075 h 5365769"/>
                <a:gd name="csX26" fmla="*/ 2403739 w 4725327"/>
                <a:gd name="csY26" fmla="*/ 2431453 h 5365769"/>
                <a:gd name="csX27" fmla="*/ 2401285 w 4725327"/>
                <a:gd name="csY27" fmla="*/ 2573850 h 5365769"/>
                <a:gd name="csX28" fmla="*/ 2388444 w 4725327"/>
                <a:gd name="csY28" fmla="*/ 2686868 h 5365769"/>
                <a:gd name="csX29" fmla="*/ 2387775 w 4725327"/>
                <a:gd name="csY29" fmla="*/ 2712327 h 5365769"/>
                <a:gd name="csX30" fmla="*/ 2375444 w 4725327"/>
                <a:gd name="csY30" fmla="*/ 2982018 h 5365769"/>
                <a:gd name="csX31" fmla="*/ 2373692 w 4725327"/>
                <a:gd name="csY31" fmla="*/ 3013690 h 5365769"/>
                <a:gd name="csX32" fmla="*/ 2373819 w 4725327"/>
                <a:gd name="csY32" fmla="*/ 3027615 h 5365769"/>
                <a:gd name="csX33" fmla="*/ 2359353 w 4725327"/>
                <a:gd name="csY33" fmla="*/ 3416793 h 5365769"/>
                <a:gd name="csX34" fmla="*/ 2358238 w 4725327"/>
                <a:gd name="csY34" fmla="*/ 3426064 h 5365769"/>
                <a:gd name="csX35" fmla="*/ 2357378 w 4725327"/>
                <a:gd name="csY35" fmla="*/ 3470386 h 5365769"/>
                <a:gd name="csX36" fmla="*/ 2352248 w 4725327"/>
                <a:gd name="csY36" fmla="*/ 3649968 h 5365769"/>
                <a:gd name="csX37" fmla="*/ 2344059 w 4725327"/>
                <a:gd name="csY37" fmla="*/ 3768786 h 5365769"/>
                <a:gd name="csX38" fmla="*/ 2346544 w 4725327"/>
                <a:gd name="csY38" fmla="*/ 3774203 h 5365769"/>
                <a:gd name="csX39" fmla="*/ 2343581 w 4725327"/>
                <a:gd name="csY39" fmla="*/ 3775445 h 5365769"/>
                <a:gd name="csX40" fmla="*/ 2340171 w 4725327"/>
                <a:gd name="csY40" fmla="*/ 3824833 h 5365769"/>
                <a:gd name="csX41" fmla="*/ 2332333 w 4725327"/>
                <a:gd name="csY41" fmla="*/ 3960890 h 5365769"/>
                <a:gd name="csX42" fmla="*/ 2333576 w 4725327"/>
                <a:gd name="csY42" fmla="*/ 3973890 h 5365769"/>
                <a:gd name="csX43" fmla="*/ 2409920 w 4725327"/>
                <a:gd name="csY43" fmla="*/ 4014930 h 5365769"/>
                <a:gd name="csX44" fmla="*/ 2515101 w 4725327"/>
                <a:gd name="csY44" fmla="*/ 4072475 h 5365769"/>
                <a:gd name="csX45" fmla="*/ 2597053 w 4725327"/>
                <a:gd name="csY45" fmla="*/ 4112145 h 5365769"/>
                <a:gd name="csX46" fmla="*/ 2638220 w 4725327"/>
                <a:gd name="csY46" fmla="*/ 4130848 h 5365769"/>
                <a:gd name="csX47" fmla="*/ 2756879 w 4725327"/>
                <a:gd name="csY47" fmla="*/ 4175553 h 5365769"/>
                <a:gd name="csX48" fmla="*/ 2894816 w 4725327"/>
                <a:gd name="csY48" fmla="*/ 4229625 h 5365769"/>
                <a:gd name="csX49" fmla="*/ 2969376 w 4725327"/>
                <a:gd name="csY49" fmla="*/ 4266936 h 5365769"/>
                <a:gd name="csX50" fmla="*/ 3013857 w 4725327"/>
                <a:gd name="csY50" fmla="*/ 4287934 h 5365769"/>
                <a:gd name="csX51" fmla="*/ 3221733 w 4725327"/>
                <a:gd name="csY51" fmla="*/ 4398372 h 5365769"/>
                <a:gd name="csX52" fmla="*/ 3260383 w 4725327"/>
                <a:gd name="csY52" fmla="*/ 4417777 h 5365769"/>
                <a:gd name="csX53" fmla="*/ 3320668 w 4725327"/>
                <a:gd name="csY53" fmla="*/ 4448366 h 5365769"/>
                <a:gd name="csX54" fmla="*/ 3421802 w 4725327"/>
                <a:gd name="csY54" fmla="*/ 4492624 h 5365769"/>
                <a:gd name="csX55" fmla="*/ 3649433 w 4725327"/>
                <a:gd name="csY55" fmla="*/ 4604910 h 5365769"/>
                <a:gd name="csX56" fmla="*/ 3659566 w 4725327"/>
                <a:gd name="csY56" fmla="*/ 4610805 h 5365769"/>
                <a:gd name="csX57" fmla="*/ 3672311 w 4725327"/>
                <a:gd name="csY57" fmla="*/ 4615903 h 5365769"/>
                <a:gd name="csX58" fmla="*/ 3963032 w 4725327"/>
                <a:gd name="csY58" fmla="*/ 4741572 h 5365769"/>
                <a:gd name="csX59" fmla="*/ 4120373 w 4725327"/>
                <a:gd name="csY59" fmla="*/ 4825436 h 5365769"/>
                <a:gd name="csX60" fmla="*/ 4083411 w 4725327"/>
                <a:gd name="csY60" fmla="*/ 4863003 h 5365769"/>
                <a:gd name="csX61" fmla="*/ 4023222 w 4725327"/>
                <a:gd name="csY61" fmla="*/ 4836046 h 5365769"/>
                <a:gd name="csX62" fmla="*/ 3927504 w 4725327"/>
                <a:gd name="csY62" fmla="*/ 4799818 h 5365769"/>
                <a:gd name="csX63" fmla="*/ 3599408 w 4725327"/>
                <a:gd name="csY63" fmla="*/ 4650952 h 5365769"/>
                <a:gd name="csX64" fmla="*/ 3506622 w 4725327"/>
                <a:gd name="csY64" fmla="*/ 4614533 h 5365769"/>
                <a:gd name="csX65" fmla="*/ 3465997 w 4725327"/>
                <a:gd name="csY65" fmla="*/ 4600322 h 5365769"/>
                <a:gd name="csX66" fmla="*/ 3445986 w 4725327"/>
                <a:gd name="csY66" fmla="*/ 4590763 h 5365769"/>
                <a:gd name="csX67" fmla="*/ 3366870 w 4725327"/>
                <a:gd name="csY67" fmla="*/ 4559696 h 5365769"/>
                <a:gd name="csX68" fmla="*/ 3179832 w 4725327"/>
                <a:gd name="csY68" fmla="*/ 4468790 h 5365769"/>
                <a:gd name="csX69" fmla="*/ 3171867 w 4725327"/>
                <a:gd name="csY69" fmla="*/ 4464871 h 5365769"/>
                <a:gd name="csX70" fmla="*/ 3156541 w 4725327"/>
                <a:gd name="csY70" fmla="*/ 4458690 h 5365769"/>
                <a:gd name="csX71" fmla="*/ 2954782 w 4725327"/>
                <a:gd name="csY71" fmla="*/ 4367370 h 5365769"/>
                <a:gd name="csX72" fmla="*/ 2935505 w 4725327"/>
                <a:gd name="csY72" fmla="*/ 4358129 h 5365769"/>
                <a:gd name="csX73" fmla="*/ 2760289 w 4725327"/>
                <a:gd name="csY73" fmla="*/ 4286628 h 5365769"/>
                <a:gd name="csX74" fmla="*/ 2649213 w 4725327"/>
                <a:gd name="csY74" fmla="*/ 4245174 h 5365769"/>
                <a:gd name="csX75" fmla="*/ 2624774 w 4725327"/>
                <a:gd name="csY75" fmla="*/ 4233321 h 5365769"/>
                <a:gd name="csX76" fmla="*/ 2510735 w 4725327"/>
                <a:gd name="csY76" fmla="*/ 4188712 h 5365769"/>
                <a:gd name="csX77" fmla="*/ 2376113 w 4725327"/>
                <a:gd name="csY77" fmla="*/ 4130657 h 5365769"/>
                <a:gd name="csX78" fmla="*/ 2343358 w 4725327"/>
                <a:gd name="csY78" fmla="*/ 4113674 h 5365769"/>
                <a:gd name="csX79" fmla="*/ 2344951 w 4725327"/>
                <a:gd name="csY79" fmla="*/ 4140822 h 5365769"/>
                <a:gd name="csX80" fmla="*/ 2337527 w 4725327"/>
                <a:gd name="csY80" fmla="*/ 4279873 h 5365769"/>
                <a:gd name="csX81" fmla="*/ 2333416 w 4725327"/>
                <a:gd name="csY81" fmla="*/ 4330950 h 5365769"/>
                <a:gd name="csX82" fmla="*/ 2333608 w 4725327"/>
                <a:gd name="csY82" fmla="*/ 4345575 h 5365769"/>
                <a:gd name="csX83" fmla="*/ 2309360 w 4725327"/>
                <a:gd name="csY83" fmla="*/ 4768720 h 5365769"/>
                <a:gd name="csX84" fmla="*/ 2305122 w 4725327"/>
                <a:gd name="csY84" fmla="*/ 4865042 h 5365769"/>
                <a:gd name="csX85" fmla="*/ 2304230 w 4725327"/>
                <a:gd name="csY85" fmla="*/ 4887123 h 5365769"/>
                <a:gd name="csX86" fmla="*/ 2293269 w 4725327"/>
                <a:gd name="csY86" fmla="*/ 5078335 h 5365769"/>
                <a:gd name="csX87" fmla="*/ 2286546 w 4725327"/>
                <a:gd name="csY87" fmla="*/ 5221496 h 5365769"/>
                <a:gd name="csX88" fmla="*/ 2287342 w 4725327"/>
                <a:gd name="csY88" fmla="*/ 5364308 h 5365769"/>
                <a:gd name="csX89" fmla="*/ 2260386 w 4725327"/>
                <a:gd name="csY89" fmla="*/ 5365168 h 5365769"/>
                <a:gd name="csX90" fmla="*/ 2237380 w 4725327"/>
                <a:gd name="csY90" fmla="*/ 5364499 h 5365769"/>
                <a:gd name="csX91" fmla="*/ 2230530 w 4725327"/>
                <a:gd name="csY91" fmla="*/ 5252786 h 5365769"/>
                <a:gd name="csX92" fmla="*/ 2231613 w 4725327"/>
                <a:gd name="csY92" fmla="*/ 5229972 h 5365769"/>
                <a:gd name="csX93" fmla="*/ 2230689 w 4725327"/>
                <a:gd name="csY93" fmla="*/ 5208465 h 5365769"/>
                <a:gd name="csX94" fmla="*/ 2234672 w 4725327"/>
                <a:gd name="csY94" fmla="*/ 4828590 h 5365769"/>
                <a:gd name="csX95" fmla="*/ 2221194 w 4725327"/>
                <a:gd name="csY95" fmla="*/ 4490139 h 5365769"/>
                <a:gd name="csX96" fmla="*/ 2223393 w 4725327"/>
                <a:gd name="csY96" fmla="*/ 4409971 h 5365769"/>
                <a:gd name="csX97" fmla="*/ 2159921 w 4725327"/>
                <a:gd name="csY97" fmla="*/ 4436067 h 5365769"/>
                <a:gd name="csX98" fmla="*/ 2046966 w 4725327"/>
                <a:gd name="csY98" fmla="*/ 4481567 h 5365769"/>
                <a:gd name="csX99" fmla="*/ 1963006 w 4725327"/>
                <a:gd name="csY99" fmla="*/ 4520218 h 5365769"/>
                <a:gd name="csX100" fmla="*/ 1921768 w 4725327"/>
                <a:gd name="csY100" fmla="*/ 4540387 h 5365769"/>
                <a:gd name="csX101" fmla="*/ 1810024 w 4725327"/>
                <a:gd name="csY101" fmla="*/ 4604273 h 5365769"/>
                <a:gd name="csX102" fmla="*/ 1678524 w 4725327"/>
                <a:gd name="csY102" fmla="*/ 4677145 h 5365769"/>
                <a:gd name="csX103" fmla="*/ 1601176 w 4725327"/>
                <a:gd name="csY103" fmla="*/ 4711556 h 5365769"/>
                <a:gd name="csX104" fmla="*/ 1556029 w 4725327"/>
                <a:gd name="csY104" fmla="*/ 4732905 h 5365769"/>
                <a:gd name="csX105" fmla="*/ 1335369 w 4725327"/>
                <a:gd name="csY105" fmla="*/ 4824862 h 5365769"/>
                <a:gd name="csX106" fmla="*/ 1295266 w 4725327"/>
                <a:gd name="csY106" fmla="*/ 4842642 h 5365769"/>
                <a:gd name="csX107" fmla="*/ 1232378 w 4725327"/>
                <a:gd name="csY107" fmla="*/ 4870236 h 5365769"/>
                <a:gd name="csX108" fmla="*/ 1132410 w 4725327"/>
                <a:gd name="csY108" fmla="*/ 4920835 h 5365769"/>
                <a:gd name="csX109" fmla="*/ 897498 w 4725327"/>
                <a:gd name="csY109" fmla="*/ 5026876 h 5365769"/>
                <a:gd name="csX110" fmla="*/ 886317 w 4725327"/>
                <a:gd name="csY110" fmla="*/ 5031049 h 5365769"/>
                <a:gd name="csX111" fmla="*/ 874101 w 4725327"/>
                <a:gd name="csY111" fmla="*/ 5037709 h 5365769"/>
                <a:gd name="csX112" fmla="*/ 449589 w 4725327"/>
                <a:gd name="csY112" fmla="*/ 5204035 h 5365769"/>
                <a:gd name="csX113" fmla="*/ 415496 w 4725327"/>
                <a:gd name="csY113" fmla="*/ 5201837 h 5365769"/>
                <a:gd name="csX114" fmla="*/ 565722 w 4725327"/>
                <a:gd name="csY114" fmla="*/ 5120777 h 5365769"/>
                <a:gd name="csX115" fmla="*/ 894235 w 4725327"/>
                <a:gd name="csY115" fmla="*/ 4959804 h 5365769"/>
                <a:gd name="csX116" fmla="*/ 982726 w 4725327"/>
                <a:gd name="csY116" fmla="*/ 4910797 h 5365769"/>
                <a:gd name="csX117" fmla="*/ 1020133 w 4725327"/>
                <a:gd name="csY117" fmla="*/ 4888271 h 5365769"/>
                <a:gd name="csX118" fmla="*/ 1040535 w 4725327"/>
                <a:gd name="csY118" fmla="*/ 4878775 h 5365769"/>
                <a:gd name="csX119" fmla="*/ 1116010 w 4725327"/>
                <a:gd name="csY119" fmla="*/ 4836971 h 5365769"/>
                <a:gd name="csX120" fmla="*/ 1307929 w 4725327"/>
                <a:gd name="csY120" fmla="*/ 4748996 h 5365769"/>
                <a:gd name="csX121" fmla="*/ 1316159 w 4725327"/>
                <a:gd name="csY121" fmla="*/ 4745268 h 5365769"/>
                <a:gd name="csX122" fmla="*/ 1330912 w 4725327"/>
                <a:gd name="csY122" fmla="*/ 4737270 h 5365769"/>
                <a:gd name="csX123" fmla="*/ 1532727 w 4725327"/>
                <a:gd name="csY123" fmla="*/ 4638207 h 5365769"/>
                <a:gd name="csX124" fmla="*/ 1552432 w 4725327"/>
                <a:gd name="csY124" fmla="*/ 4629063 h 5365769"/>
                <a:gd name="csX125" fmla="*/ 1721622 w 4725327"/>
                <a:gd name="csY125" fmla="*/ 4538157 h 5365769"/>
                <a:gd name="csX126" fmla="*/ 1825908 w 4725327"/>
                <a:gd name="csY126" fmla="*/ 4478158 h 5365769"/>
                <a:gd name="csX127" fmla="*/ 1850990 w 4725327"/>
                <a:gd name="csY127" fmla="*/ 4466624 h 5365769"/>
                <a:gd name="csX128" fmla="*/ 1959609 w 4725327"/>
                <a:gd name="csY128" fmla="*/ 4406306 h 5365769"/>
                <a:gd name="csX129" fmla="*/ 2092052 w 4725327"/>
                <a:gd name="csY129" fmla="*/ 4338406 h 5365769"/>
                <a:gd name="csX130" fmla="*/ 2226961 w 4725327"/>
                <a:gd name="csY130" fmla="*/ 4280606 h 5365769"/>
                <a:gd name="csX131" fmla="*/ 2231199 w 4725327"/>
                <a:gd name="csY131" fmla="*/ 4125909 h 5365769"/>
                <a:gd name="csX132" fmla="*/ 2231677 w 4725327"/>
                <a:gd name="csY132" fmla="*/ 3892798 h 5365769"/>
                <a:gd name="csX133" fmla="*/ 2229861 w 4725327"/>
                <a:gd name="csY133" fmla="*/ 3851981 h 5365769"/>
                <a:gd name="csX134" fmla="*/ 2227662 w 4725327"/>
                <a:gd name="csY134" fmla="*/ 3823081 h 5365769"/>
                <a:gd name="csX135" fmla="*/ 2115503 w 4725327"/>
                <a:gd name="csY135" fmla="*/ 3868263 h 5365769"/>
                <a:gd name="csX136" fmla="*/ 2031544 w 4725327"/>
                <a:gd name="csY136" fmla="*/ 3906913 h 5365769"/>
                <a:gd name="csX137" fmla="*/ 1990328 w 4725327"/>
                <a:gd name="csY137" fmla="*/ 3927083 h 5365769"/>
                <a:gd name="csX138" fmla="*/ 1878584 w 4725327"/>
                <a:gd name="csY138" fmla="*/ 3990969 h 5365769"/>
                <a:gd name="csX139" fmla="*/ 1747084 w 4725327"/>
                <a:gd name="csY139" fmla="*/ 4063840 h 5365769"/>
                <a:gd name="csX140" fmla="*/ 1669736 w 4725327"/>
                <a:gd name="csY140" fmla="*/ 4098252 h 5365769"/>
                <a:gd name="csX141" fmla="*/ 1624589 w 4725327"/>
                <a:gd name="csY141" fmla="*/ 4119601 h 5365769"/>
                <a:gd name="csX142" fmla="*/ 1403930 w 4725327"/>
                <a:gd name="csY142" fmla="*/ 4211558 h 5365769"/>
                <a:gd name="csX143" fmla="*/ 1363830 w 4725327"/>
                <a:gd name="csY143" fmla="*/ 4229338 h 5365769"/>
                <a:gd name="csX144" fmla="*/ 1300938 w 4725327"/>
                <a:gd name="csY144" fmla="*/ 4256931 h 5365769"/>
                <a:gd name="csX145" fmla="*/ 1200970 w 4725327"/>
                <a:gd name="csY145" fmla="*/ 4307530 h 5365769"/>
                <a:gd name="csX146" fmla="*/ 966058 w 4725327"/>
                <a:gd name="csY146" fmla="*/ 4413571 h 5365769"/>
                <a:gd name="csX147" fmla="*/ 954874 w 4725327"/>
                <a:gd name="csY147" fmla="*/ 4417745 h 5365769"/>
                <a:gd name="csX148" fmla="*/ 942661 w 4725327"/>
                <a:gd name="csY148" fmla="*/ 4424405 h 5365769"/>
                <a:gd name="csX149" fmla="*/ 662882 w 4725327"/>
                <a:gd name="csY149" fmla="*/ 4546154 h 5365769"/>
                <a:gd name="csX150" fmla="*/ 484716 w 4725327"/>
                <a:gd name="csY150" fmla="*/ 4616158 h 5365769"/>
                <a:gd name="csX151" fmla="*/ 467487 w 4725327"/>
                <a:gd name="csY151" fmla="*/ 4596944 h 5365769"/>
                <a:gd name="csX152" fmla="*/ 634282 w 4725327"/>
                <a:gd name="csY152" fmla="*/ 4507440 h 5365769"/>
                <a:gd name="csX153" fmla="*/ 962795 w 4725327"/>
                <a:gd name="csY153" fmla="*/ 4346499 h 5365769"/>
                <a:gd name="csX154" fmla="*/ 1051286 w 4725327"/>
                <a:gd name="csY154" fmla="*/ 4297493 h 5365769"/>
                <a:gd name="csX155" fmla="*/ 1088694 w 4725327"/>
                <a:gd name="csY155" fmla="*/ 4274998 h 5365769"/>
                <a:gd name="csX156" fmla="*/ 1109096 w 4725327"/>
                <a:gd name="csY156" fmla="*/ 4265471 h 5365769"/>
                <a:gd name="csX157" fmla="*/ 1184567 w 4725327"/>
                <a:gd name="csY157" fmla="*/ 4223666 h 5365769"/>
                <a:gd name="csX158" fmla="*/ 1376489 w 4725327"/>
                <a:gd name="csY158" fmla="*/ 4135692 h 5365769"/>
                <a:gd name="csX159" fmla="*/ 1384719 w 4725327"/>
                <a:gd name="csY159" fmla="*/ 4131964 h 5365769"/>
                <a:gd name="csX160" fmla="*/ 1399472 w 4725327"/>
                <a:gd name="csY160" fmla="*/ 4123966 h 5365769"/>
                <a:gd name="csX161" fmla="*/ 1601288 w 4725327"/>
                <a:gd name="csY161" fmla="*/ 4024903 h 5365769"/>
                <a:gd name="csX162" fmla="*/ 1620992 w 4725327"/>
                <a:gd name="csY162" fmla="*/ 4015758 h 5365769"/>
                <a:gd name="csX163" fmla="*/ 1790183 w 4725327"/>
                <a:gd name="csY163" fmla="*/ 3924852 h 5365769"/>
                <a:gd name="csX164" fmla="*/ 1894468 w 4725327"/>
                <a:gd name="csY164" fmla="*/ 3864854 h 5365769"/>
                <a:gd name="csX165" fmla="*/ 1919551 w 4725327"/>
                <a:gd name="csY165" fmla="*/ 3853319 h 5365769"/>
                <a:gd name="csX166" fmla="*/ 2028166 w 4725327"/>
                <a:gd name="csY166" fmla="*/ 3793002 h 5365769"/>
                <a:gd name="csX167" fmla="*/ 2160622 w 4725327"/>
                <a:gd name="csY167" fmla="*/ 3725102 h 5365769"/>
                <a:gd name="csX168" fmla="*/ 2218454 w 4725327"/>
                <a:gd name="csY168" fmla="*/ 3700312 h 5365769"/>
                <a:gd name="csX169" fmla="*/ 2216351 w 4725327"/>
                <a:gd name="csY169" fmla="*/ 3672240 h 5365769"/>
                <a:gd name="csX170" fmla="*/ 2226611 w 4725327"/>
                <a:gd name="csY170" fmla="*/ 3202894 h 5365769"/>
                <a:gd name="csX171" fmla="*/ 2226802 w 4725327"/>
                <a:gd name="csY171" fmla="*/ 3201014 h 5365769"/>
                <a:gd name="csX172" fmla="*/ 2226101 w 4725327"/>
                <a:gd name="csY172" fmla="*/ 3095706 h 5365769"/>
                <a:gd name="csX173" fmla="*/ 2227598 w 4725327"/>
                <a:gd name="csY173" fmla="*/ 2683746 h 5365769"/>
                <a:gd name="csX174" fmla="*/ 2225751 w 4725327"/>
                <a:gd name="csY174" fmla="*/ 2625850 h 5365769"/>
                <a:gd name="csX175" fmla="*/ 2223679 w 4725327"/>
                <a:gd name="csY175" fmla="*/ 2607402 h 5365769"/>
                <a:gd name="csX176" fmla="*/ 2213483 w 4725327"/>
                <a:gd name="csY176" fmla="*/ 2449742 h 5365769"/>
                <a:gd name="csX177" fmla="*/ 2217976 w 4725327"/>
                <a:gd name="csY177" fmla="*/ 2295970 h 5365769"/>
                <a:gd name="csX178" fmla="*/ 2221226 w 4725327"/>
                <a:gd name="csY178" fmla="*/ 2119097 h 5365769"/>
                <a:gd name="csX179" fmla="*/ 2221449 w 4725327"/>
                <a:gd name="csY179" fmla="*/ 2030867 h 5365769"/>
                <a:gd name="csX180" fmla="*/ 2220684 w 4725327"/>
                <a:gd name="csY180" fmla="*/ 2011909 h 5365769"/>
                <a:gd name="csX181" fmla="*/ 2218549 w 4725327"/>
                <a:gd name="csY181" fmla="*/ 1577198 h 5365769"/>
                <a:gd name="csX182" fmla="*/ 2218549 w 4725327"/>
                <a:gd name="csY182" fmla="*/ 1577198 h 5365769"/>
                <a:gd name="csX183" fmla="*/ 2217179 w 4725327"/>
                <a:gd name="csY183" fmla="*/ 1303301 h 5365769"/>
                <a:gd name="csX184" fmla="*/ 1655927 w 4725327"/>
                <a:gd name="csY184" fmla="*/ 1138059 h 5365769"/>
                <a:gd name="csX185" fmla="*/ 1293374 w 4725327"/>
                <a:gd name="csY185" fmla="*/ 1114222 h 5365769"/>
                <a:gd name="csX186" fmla="*/ 974502 w 4725327"/>
                <a:gd name="csY186" fmla="*/ 1120091 h 5365769"/>
                <a:gd name="csX187" fmla="*/ 616636 w 4725327"/>
                <a:gd name="csY187" fmla="*/ 1178401 h 5365769"/>
                <a:gd name="csX188" fmla="*/ -355 w 4725327"/>
                <a:gd name="csY188" fmla="*/ 1327199 h 5365769"/>
                <a:gd name="csX189" fmla="*/ 1174587 w 4725327"/>
                <a:gd name="csY189" fmla="*/ 1074616 h 5365769"/>
                <a:gd name="csX190" fmla="*/ 2035335 w 4725327"/>
                <a:gd name="csY190" fmla="*/ 1207511 h 5365769"/>
                <a:gd name="csX191" fmla="*/ 2217052 w 4725327"/>
                <a:gd name="csY191" fmla="*/ 1273732 h 5365769"/>
                <a:gd name="csX192" fmla="*/ 2216924 w 4725327"/>
                <a:gd name="csY192" fmla="*/ 1249676 h 5365769"/>
                <a:gd name="csX193" fmla="*/ 2217530 w 4725327"/>
                <a:gd name="csY193" fmla="*/ 1184831 h 5365769"/>
                <a:gd name="csX194" fmla="*/ 2216383 w 4725327"/>
                <a:gd name="csY194" fmla="*/ 1142503 h 5365769"/>
                <a:gd name="csX195" fmla="*/ 2214216 w 4725327"/>
                <a:gd name="csY195" fmla="*/ 707799 h 5365769"/>
                <a:gd name="csX196" fmla="*/ 2210743 w 4725327"/>
                <a:gd name="csY196" fmla="*/ 5122 h 5365769"/>
                <a:gd name="csX197" fmla="*/ 2397111 w 4725327"/>
                <a:gd name="csY197" fmla="*/ -477 h 53657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</a:cxnLst>
              <a:rect l="l" t="t" r="r" b="b"/>
              <a:pathLst>
                <a:path w="4725327" h="5365769">
                  <a:moveTo>
                    <a:pt x="2397111" y="-477"/>
                  </a:moveTo>
                  <a:cubicBezTo>
                    <a:pt x="2423398" y="-101"/>
                    <a:pt x="2452521" y="1225"/>
                    <a:pt x="2485595" y="4105"/>
                  </a:cubicBezTo>
                  <a:lnTo>
                    <a:pt x="2473742" y="112335"/>
                  </a:lnTo>
                  <a:lnTo>
                    <a:pt x="2467624" y="220581"/>
                  </a:lnTo>
                  <a:cubicBezTo>
                    <a:pt x="2461762" y="378339"/>
                    <a:pt x="2465522" y="553935"/>
                    <a:pt x="2463355" y="693085"/>
                  </a:cubicBezTo>
                  <a:lnTo>
                    <a:pt x="2458830" y="774065"/>
                  </a:lnTo>
                  <a:lnTo>
                    <a:pt x="2455007" y="916198"/>
                  </a:lnTo>
                  <a:lnTo>
                    <a:pt x="2447646" y="1060927"/>
                  </a:lnTo>
                  <a:lnTo>
                    <a:pt x="2448762" y="1134337"/>
                  </a:lnTo>
                  <a:lnTo>
                    <a:pt x="2438756" y="1284502"/>
                  </a:lnTo>
                  <a:lnTo>
                    <a:pt x="2436717" y="1345552"/>
                  </a:lnTo>
                  <a:cubicBezTo>
                    <a:pt x="2434391" y="1421546"/>
                    <a:pt x="2431237" y="1510986"/>
                    <a:pt x="2425437" y="1630028"/>
                  </a:cubicBezTo>
                  <a:cubicBezTo>
                    <a:pt x="2419639" y="1749101"/>
                    <a:pt x="2418842" y="1814102"/>
                    <a:pt x="2417631" y="1877860"/>
                  </a:cubicBezTo>
                  <a:lnTo>
                    <a:pt x="2415337" y="1961724"/>
                  </a:lnTo>
                  <a:lnTo>
                    <a:pt x="2415209" y="2005218"/>
                  </a:lnTo>
                  <a:lnTo>
                    <a:pt x="2627068" y="1885443"/>
                  </a:lnTo>
                  <a:cubicBezTo>
                    <a:pt x="2925787" y="1726318"/>
                    <a:pt x="3186077" y="1568659"/>
                    <a:pt x="3533833" y="1481576"/>
                  </a:cubicBezTo>
                  <a:cubicBezTo>
                    <a:pt x="3881589" y="1394558"/>
                    <a:pt x="4616388" y="1345871"/>
                    <a:pt x="4713539" y="1363141"/>
                  </a:cubicBezTo>
                  <a:cubicBezTo>
                    <a:pt x="4810722" y="1380410"/>
                    <a:pt x="4261368" y="1437414"/>
                    <a:pt x="4086725" y="1433367"/>
                  </a:cubicBezTo>
                  <a:cubicBezTo>
                    <a:pt x="3912082" y="1429321"/>
                    <a:pt x="3769494" y="1458412"/>
                    <a:pt x="3620470" y="1474917"/>
                  </a:cubicBezTo>
                  <a:cubicBezTo>
                    <a:pt x="3471445" y="1491454"/>
                    <a:pt x="3309962" y="1559737"/>
                    <a:pt x="3148989" y="1627542"/>
                  </a:cubicBezTo>
                  <a:cubicBezTo>
                    <a:pt x="2987984" y="1695315"/>
                    <a:pt x="2801743" y="1798170"/>
                    <a:pt x="2679388" y="1864987"/>
                  </a:cubicBezTo>
                  <a:cubicBezTo>
                    <a:pt x="2557097" y="1931836"/>
                    <a:pt x="2459117" y="1999036"/>
                    <a:pt x="2415114" y="2028541"/>
                  </a:cubicBezTo>
                  <a:lnTo>
                    <a:pt x="2414955" y="2083059"/>
                  </a:lnTo>
                  <a:cubicBezTo>
                    <a:pt x="2413234" y="2138948"/>
                    <a:pt x="2410334" y="2189674"/>
                    <a:pt x="2407212" y="2236927"/>
                  </a:cubicBezTo>
                  <a:lnTo>
                    <a:pt x="2402687" y="2303075"/>
                  </a:lnTo>
                  <a:lnTo>
                    <a:pt x="2403739" y="2431453"/>
                  </a:lnTo>
                  <a:cubicBezTo>
                    <a:pt x="2404089" y="2479917"/>
                    <a:pt x="2403803" y="2527074"/>
                    <a:pt x="2401285" y="2573850"/>
                  </a:cubicBezTo>
                  <a:lnTo>
                    <a:pt x="2388444" y="2686868"/>
                  </a:lnTo>
                  <a:lnTo>
                    <a:pt x="2387775" y="2712327"/>
                  </a:lnTo>
                  <a:lnTo>
                    <a:pt x="2375444" y="2982018"/>
                  </a:lnTo>
                  <a:lnTo>
                    <a:pt x="2373692" y="3013690"/>
                  </a:lnTo>
                  <a:lnTo>
                    <a:pt x="2373819" y="3027615"/>
                  </a:lnTo>
                  <a:cubicBezTo>
                    <a:pt x="2376464" y="3143788"/>
                    <a:pt x="2378630" y="3272579"/>
                    <a:pt x="2359353" y="3416793"/>
                  </a:cubicBezTo>
                  <a:lnTo>
                    <a:pt x="2358238" y="3426064"/>
                  </a:lnTo>
                  <a:lnTo>
                    <a:pt x="2357378" y="3470386"/>
                  </a:lnTo>
                  <a:cubicBezTo>
                    <a:pt x="2357856" y="3531373"/>
                    <a:pt x="2355593" y="3591053"/>
                    <a:pt x="2352248" y="3649968"/>
                  </a:cubicBezTo>
                  <a:lnTo>
                    <a:pt x="2344059" y="3768786"/>
                  </a:lnTo>
                  <a:lnTo>
                    <a:pt x="2346544" y="3774203"/>
                  </a:lnTo>
                  <a:lnTo>
                    <a:pt x="2343581" y="3775445"/>
                  </a:lnTo>
                  <a:lnTo>
                    <a:pt x="2340171" y="3824833"/>
                  </a:lnTo>
                  <a:lnTo>
                    <a:pt x="2332333" y="3960890"/>
                  </a:lnTo>
                  <a:lnTo>
                    <a:pt x="2333576" y="3973890"/>
                  </a:lnTo>
                  <a:lnTo>
                    <a:pt x="2409920" y="4014930"/>
                  </a:lnTo>
                  <a:lnTo>
                    <a:pt x="2515101" y="4072475"/>
                  </a:lnTo>
                  <a:lnTo>
                    <a:pt x="2597053" y="4112145"/>
                  </a:lnTo>
                  <a:lnTo>
                    <a:pt x="2638220" y="4130848"/>
                  </a:lnTo>
                  <a:lnTo>
                    <a:pt x="2756879" y="4175553"/>
                  </a:lnTo>
                  <a:cubicBezTo>
                    <a:pt x="2804674" y="4190911"/>
                    <a:pt x="2850557" y="4209423"/>
                    <a:pt x="2894816" y="4229625"/>
                  </a:cubicBezTo>
                  <a:lnTo>
                    <a:pt x="2969376" y="4266936"/>
                  </a:lnTo>
                  <a:lnTo>
                    <a:pt x="3013857" y="4287934"/>
                  </a:lnTo>
                  <a:lnTo>
                    <a:pt x="3221733" y="4398372"/>
                  </a:lnTo>
                  <a:lnTo>
                    <a:pt x="3260383" y="4417777"/>
                  </a:lnTo>
                  <a:lnTo>
                    <a:pt x="3320668" y="4448366"/>
                  </a:lnTo>
                  <a:lnTo>
                    <a:pt x="3421802" y="4492624"/>
                  </a:lnTo>
                  <a:cubicBezTo>
                    <a:pt x="3494450" y="4524264"/>
                    <a:pt x="3574364" y="4560333"/>
                    <a:pt x="3649433" y="4604910"/>
                  </a:cubicBezTo>
                  <a:lnTo>
                    <a:pt x="3659566" y="4610805"/>
                  </a:lnTo>
                  <a:lnTo>
                    <a:pt x="3672311" y="4615903"/>
                  </a:lnTo>
                  <a:cubicBezTo>
                    <a:pt x="3800593" y="4662136"/>
                    <a:pt x="3888312" y="4702635"/>
                    <a:pt x="3963032" y="4741572"/>
                  </a:cubicBezTo>
                  <a:lnTo>
                    <a:pt x="4120373" y="4825436"/>
                  </a:lnTo>
                  <a:lnTo>
                    <a:pt x="4083411" y="4863003"/>
                  </a:lnTo>
                  <a:lnTo>
                    <a:pt x="4023222" y="4836046"/>
                  </a:lnTo>
                  <a:lnTo>
                    <a:pt x="3927504" y="4799818"/>
                  </a:lnTo>
                  <a:cubicBezTo>
                    <a:pt x="3820730" y="4753042"/>
                    <a:pt x="3731195" y="4698014"/>
                    <a:pt x="3599408" y="4650952"/>
                  </a:cubicBezTo>
                  <a:lnTo>
                    <a:pt x="3506622" y="4614533"/>
                  </a:lnTo>
                  <a:lnTo>
                    <a:pt x="3465997" y="4600322"/>
                  </a:lnTo>
                  <a:lnTo>
                    <a:pt x="3445986" y="4590763"/>
                  </a:lnTo>
                  <a:lnTo>
                    <a:pt x="3366870" y="4559696"/>
                  </a:lnTo>
                  <a:cubicBezTo>
                    <a:pt x="3298300" y="4529777"/>
                    <a:pt x="3237378" y="4499953"/>
                    <a:pt x="3179832" y="4468790"/>
                  </a:cubicBezTo>
                  <a:lnTo>
                    <a:pt x="3171867" y="4464871"/>
                  </a:lnTo>
                  <a:lnTo>
                    <a:pt x="3156541" y="4458690"/>
                  </a:lnTo>
                  <a:cubicBezTo>
                    <a:pt x="3095172" y="4439412"/>
                    <a:pt x="3024371" y="4402515"/>
                    <a:pt x="2954782" y="4367370"/>
                  </a:cubicBezTo>
                  <a:lnTo>
                    <a:pt x="2935505" y="4358129"/>
                  </a:lnTo>
                  <a:lnTo>
                    <a:pt x="2760289" y="4286628"/>
                  </a:lnTo>
                  <a:cubicBezTo>
                    <a:pt x="2732026" y="4280542"/>
                    <a:pt x="2693280" y="4265184"/>
                    <a:pt x="2649213" y="4245174"/>
                  </a:cubicBezTo>
                  <a:lnTo>
                    <a:pt x="2624774" y="4233321"/>
                  </a:lnTo>
                  <a:lnTo>
                    <a:pt x="2510735" y="4188712"/>
                  </a:lnTo>
                  <a:cubicBezTo>
                    <a:pt x="2465904" y="4170582"/>
                    <a:pt x="2420531" y="4151336"/>
                    <a:pt x="2376113" y="4130657"/>
                  </a:cubicBezTo>
                  <a:lnTo>
                    <a:pt x="2343358" y="4113674"/>
                  </a:lnTo>
                  <a:lnTo>
                    <a:pt x="2344951" y="4140822"/>
                  </a:lnTo>
                  <a:cubicBezTo>
                    <a:pt x="2344473" y="4184410"/>
                    <a:pt x="2341510" y="4229752"/>
                    <a:pt x="2337527" y="4279873"/>
                  </a:cubicBezTo>
                  <a:lnTo>
                    <a:pt x="2333416" y="4330950"/>
                  </a:lnTo>
                  <a:lnTo>
                    <a:pt x="2333608" y="4345575"/>
                  </a:lnTo>
                  <a:cubicBezTo>
                    <a:pt x="2329497" y="4512666"/>
                    <a:pt x="2310124" y="4661404"/>
                    <a:pt x="2309360" y="4768720"/>
                  </a:cubicBezTo>
                  <a:lnTo>
                    <a:pt x="2305122" y="4865042"/>
                  </a:lnTo>
                  <a:lnTo>
                    <a:pt x="2304230" y="4887123"/>
                  </a:lnTo>
                  <a:lnTo>
                    <a:pt x="2293269" y="5078335"/>
                  </a:lnTo>
                  <a:lnTo>
                    <a:pt x="2286546" y="5221496"/>
                  </a:lnTo>
                  <a:lnTo>
                    <a:pt x="2287342" y="5364308"/>
                  </a:lnTo>
                  <a:cubicBezTo>
                    <a:pt x="2274979" y="5364817"/>
                    <a:pt x="2267364" y="5365104"/>
                    <a:pt x="2260386" y="5365168"/>
                  </a:cubicBezTo>
                  <a:cubicBezTo>
                    <a:pt x="2253440" y="5365200"/>
                    <a:pt x="2247099" y="5365009"/>
                    <a:pt x="2237380" y="5364499"/>
                  </a:cubicBezTo>
                  <a:cubicBezTo>
                    <a:pt x="2231486" y="5329449"/>
                    <a:pt x="2229956" y="5292328"/>
                    <a:pt x="2230530" y="5252786"/>
                  </a:cubicBezTo>
                  <a:lnTo>
                    <a:pt x="2231613" y="5229972"/>
                  </a:lnTo>
                  <a:lnTo>
                    <a:pt x="2230689" y="5208465"/>
                  </a:lnTo>
                  <a:cubicBezTo>
                    <a:pt x="2227662" y="5067278"/>
                    <a:pt x="2234035" y="4963117"/>
                    <a:pt x="2234672" y="4828590"/>
                  </a:cubicBezTo>
                  <a:cubicBezTo>
                    <a:pt x="2222341" y="4717865"/>
                    <a:pt x="2219792" y="4606153"/>
                    <a:pt x="2221194" y="4490139"/>
                  </a:cubicBezTo>
                  <a:lnTo>
                    <a:pt x="2223393" y="4409971"/>
                  </a:lnTo>
                  <a:lnTo>
                    <a:pt x="2159921" y="4436067"/>
                  </a:lnTo>
                  <a:cubicBezTo>
                    <a:pt x="2121749" y="4451170"/>
                    <a:pt x="2084500" y="4465795"/>
                    <a:pt x="2046966" y="4481567"/>
                  </a:cubicBezTo>
                  <a:lnTo>
                    <a:pt x="1963006" y="4520218"/>
                  </a:lnTo>
                  <a:lnTo>
                    <a:pt x="1921768" y="4540387"/>
                  </a:lnTo>
                  <a:lnTo>
                    <a:pt x="1810024" y="4604273"/>
                  </a:lnTo>
                  <a:cubicBezTo>
                    <a:pt x="1767091" y="4631612"/>
                    <a:pt x="1722957" y="4655509"/>
                    <a:pt x="1678524" y="4677145"/>
                  </a:cubicBezTo>
                  <a:lnTo>
                    <a:pt x="1601176" y="4711556"/>
                  </a:lnTo>
                  <a:lnTo>
                    <a:pt x="1556029" y="4732905"/>
                  </a:lnTo>
                  <a:lnTo>
                    <a:pt x="1335369" y="4824862"/>
                  </a:lnTo>
                  <a:lnTo>
                    <a:pt x="1295266" y="4842642"/>
                  </a:lnTo>
                  <a:lnTo>
                    <a:pt x="1232378" y="4870236"/>
                  </a:lnTo>
                  <a:lnTo>
                    <a:pt x="1132410" y="4920835"/>
                  </a:lnTo>
                  <a:cubicBezTo>
                    <a:pt x="1060667" y="4957286"/>
                    <a:pt x="980814" y="4996606"/>
                    <a:pt x="897498" y="5026876"/>
                  </a:cubicBezTo>
                  <a:lnTo>
                    <a:pt x="886317" y="5031049"/>
                  </a:lnTo>
                  <a:lnTo>
                    <a:pt x="874101" y="5037709"/>
                  </a:lnTo>
                  <a:cubicBezTo>
                    <a:pt x="754938" y="5108063"/>
                    <a:pt x="528308" y="5170483"/>
                    <a:pt x="449589" y="5204035"/>
                  </a:cubicBezTo>
                  <a:lnTo>
                    <a:pt x="415496" y="5201837"/>
                  </a:lnTo>
                  <a:lnTo>
                    <a:pt x="565722" y="5120777"/>
                  </a:lnTo>
                  <a:cubicBezTo>
                    <a:pt x="671329" y="5067342"/>
                    <a:pt x="772157" y="5032324"/>
                    <a:pt x="894235" y="4959804"/>
                  </a:cubicBezTo>
                  <a:lnTo>
                    <a:pt x="982726" y="4910797"/>
                  </a:lnTo>
                  <a:lnTo>
                    <a:pt x="1020133" y="4888271"/>
                  </a:lnTo>
                  <a:lnTo>
                    <a:pt x="1040535" y="4878775"/>
                  </a:lnTo>
                  <a:lnTo>
                    <a:pt x="1116010" y="4836971"/>
                  </a:lnTo>
                  <a:cubicBezTo>
                    <a:pt x="1183713" y="4802590"/>
                    <a:pt x="1246442" y="4774072"/>
                    <a:pt x="1307929" y="4748996"/>
                  </a:cubicBezTo>
                  <a:lnTo>
                    <a:pt x="1316159" y="4745268"/>
                  </a:lnTo>
                  <a:lnTo>
                    <a:pt x="1330912" y="4737270"/>
                  </a:lnTo>
                  <a:cubicBezTo>
                    <a:pt x="1385691" y="4701871"/>
                    <a:pt x="1460283" y="4670102"/>
                    <a:pt x="1532727" y="4638207"/>
                  </a:cubicBezTo>
                  <a:lnTo>
                    <a:pt x="1552432" y="4629063"/>
                  </a:lnTo>
                  <a:lnTo>
                    <a:pt x="1721622" y="4538157"/>
                  </a:lnTo>
                  <a:cubicBezTo>
                    <a:pt x="1744704" y="4520122"/>
                    <a:pt x="1781771" y="4499762"/>
                    <a:pt x="1825908" y="4478158"/>
                  </a:cubicBezTo>
                  <a:lnTo>
                    <a:pt x="1850990" y="4466624"/>
                  </a:lnTo>
                  <a:lnTo>
                    <a:pt x="1959609" y="4406306"/>
                  </a:lnTo>
                  <a:cubicBezTo>
                    <a:pt x="2002774" y="4382951"/>
                    <a:pt x="2047189" y="4359850"/>
                    <a:pt x="2092052" y="4338406"/>
                  </a:cubicBezTo>
                  <a:lnTo>
                    <a:pt x="2226961" y="4280606"/>
                  </a:lnTo>
                  <a:lnTo>
                    <a:pt x="2231199" y="4125909"/>
                  </a:lnTo>
                  <a:lnTo>
                    <a:pt x="2231677" y="3892798"/>
                  </a:lnTo>
                  <a:lnTo>
                    <a:pt x="2229861" y="3851981"/>
                  </a:lnTo>
                  <a:lnTo>
                    <a:pt x="2227662" y="3823081"/>
                  </a:lnTo>
                  <a:lnTo>
                    <a:pt x="2115503" y="3868263"/>
                  </a:lnTo>
                  <a:lnTo>
                    <a:pt x="2031544" y="3906913"/>
                  </a:lnTo>
                  <a:lnTo>
                    <a:pt x="1990328" y="3927083"/>
                  </a:lnTo>
                  <a:lnTo>
                    <a:pt x="1878584" y="3990969"/>
                  </a:lnTo>
                  <a:cubicBezTo>
                    <a:pt x="1835655" y="4018307"/>
                    <a:pt x="1791518" y="4042205"/>
                    <a:pt x="1747084" y="4063840"/>
                  </a:cubicBezTo>
                  <a:lnTo>
                    <a:pt x="1669736" y="4098252"/>
                  </a:lnTo>
                  <a:lnTo>
                    <a:pt x="1624589" y="4119601"/>
                  </a:lnTo>
                  <a:lnTo>
                    <a:pt x="1403930" y="4211558"/>
                  </a:lnTo>
                  <a:lnTo>
                    <a:pt x="1363830" y="4229338"/>
                  </a:lnTo>
                  <a:lnTo>
                    <a:pt x="1300938" y="4256931"/>
                  </a:lnTo>
                  <a:lnTo>
                    <a:pt x="1200970" y="4307530"/>
                  </a:lnTo>
                  <a:cubicBezTo>
                    <a:pt x="1129230" y="4343982"/>
                    <a:pt x="1049374" y="4383301"/>
                    <a:pt x="966058" y="4413571"/>
                  </a:cubicBezTo>
                  <a:lnTo>
                    <a:pt x="954874" y="4417745"/>
                  </a:lnTo>
                  <a:lnTo>
                    <a:pt x="942661" y="4424405"/>
                  </a:lnTo>
                  <a:cubicBezTo>
                    <a:pt x="823499" y="4494727"/>
                    <a:pt x="741600" y="4512602"/>
                    <a:pt x="662882" y="4546154"/>
                  </a:cubicBezTo>
                  <a:lnTo>
                    <a:pt x="484716" y="4616158"/>
                  </a:lnTo>
                  <a:lnTo>
                    <a:pt x="467487" y="4596944"/>
                  </a:lnTo>
                  <a:lnTo>
                    <a:pt x="634282" y="4507440"/>
                  </a:lnTo>
                  <a:cubicBezTo>
                    <a:pt x="739889" y="4454038"/>
                    <a:pt x="840714" y="4419020"/>
                    <a:pt x="962795" y="4346499"/>
                  </a:cubicBezTo>
                  <a:lnTo>
                    <a:pt x="1051286" y="4297493"/>
                  </a:lnTo>
                  <a:lnTo>
                    <a:pt x="1088694" y="4274998"/>
                  </a:lnTo>
                  <a:lnTo>
                    <a:pt x="1109096" y="4265471"/>
                  </a:lnTo>
                  <a:lnTo>
                    <a:pt x="1184567" y="4223666"/>
                  </a:lnTo>
                  <a:cubicBezTo>
                    <a:pt x="1252273" y="4189286"/>
                    <a:pt x="1315002" y="4160768"/>
                    <a:pt x="1376489" y="4135692"/>
                  </a:cubicBezTo>
                  <a:lnTo>
                    <a:pt x="1384719" y="4131964"/>
                  </a:lnTo>
                  <a:lnTo>
                    <a:pt x="1399472" y="4123966"/>
                  </a:lnTo>
                  <a:cubicBezTo>
                    <a:pt x="1454251" y="4088566"/>
                    <a:pt x="1528850" y="4056798"/>
                    <a:pt x="1601288" y="4024903"/>
                  </a:cubicBezTo>
                  <a:lnTo>
                    <a:pt x="1620992" y="4015758"/>
                  </a:lnTo>
                  <a:lnTo>
                    <a:pt x="1790183" y="3924852"/>
                  </a:lnTo>
                  <a:cubicBezTo>
                    <a:pt x="1813264" y="3906818"/>
                    <a:pt x="1850334" y="3886457"/>
                    <a:pt x="1894468" y="3864854"/>
                  </a:cubicBezTo>
                  <a:lnTo>
                    <a:pt x="1919551" y="3853319"/>
                  </a:lnTo>
                  <a:lnTo>
                    <a:pt x="2028166" y="3793002"/>
                  </a:lnTo>
                  <a:cubicBezTo>
                    <a:pt x="2071341" y="3769646"/>
                    <a:pt x="2115727" y="3746546"/>
                    <a:pt x="2160622" y="3725102"/>
                  </a:cubicBezTo>
                  <a:lnTo>
                    <a:pt x="2218454" y="3700312"/>
                  </a:lnTo>
                  <a:lnTo>
                    <a:pt x="2216351" y="3672240"/>
                  </a:lnTo>
                  <a:cubicBezTo>
                    <a:pt x="2206441" y="3500083"/>
                    <a:pt x="2207939" y="3348860"/>
                    <a:pt x="2226611" y="3202894"/>
                  </a:cubicBezTo>
                  <a:lnTo>
                    <a:pt x="2226802" y="3201014"/>
                  </a:lnTo>
                  <a:lnTo>
                    <a:pt x="2226101" y="3095706"/>
                  </a:lnTo>
                  <a:cubicBezTo>
                    <a:pt x="2225495" y="2920809"/>
                    <a:pt x="2229510" y="2807471"/>
                    <a:pt x="2227598" y="2683746"/>
                  </a:cubicBezTo>
                  <a:lnTo>
                    <a:pt x="2225751" y="2625850"/>
                  </a:lnTo>
                  <a:lnTo>
                    <a:pt x="2223679" y="2607402"/>
                  </a:lnTo>
                  <a:cubicBezTo>
                    <a:pt x="2216287" y="2559861"/>
                    <a:pt x="2213642" y="2505822"/>
                    <a:pt x="2213483" y="2449742"/>
                  </a:cubicBezTo>
                  <a:lnTo>
                    <a:pt x="2217976" y="2295970"/>
                  </a:lnTo>
                  <a:lnTo>
                    <a:pt x="2221226" y="2119097"/>
                  </a:lnTo>
                  <a:lnTo>
                    <a:pt x="2221449" y="2030867"/>
                  </a:lnTo>
                  <a:lnTo>
                    <a:pt x="2220684" y="2011909"/>
                  </a:lnTo>
                  <a:cubicBezTo>
                    <a:pt x="2201184" y="1901248"/>
                    <a:pt x="2207461" y="1755282"/>
                    <a:pt x="2218549" y="1577198"/>
                  </a:cubicBezTo>
                  <a:lnTo>
                    <a:pt x="2218549" y="1577198"/>
                  </a:lnTo>
                  <a:lnTo>
                    <a:pt x="2217179" y="1303301"/>
                  </a:lnTo>
                  <a:lnTo>
                    <a:pt x="1655927" y="1138059"/>
                  </a:lnTo>
                  <a:lnTo>
                    <a:pt x="1293374" y="1114222"/>
                  </a:lnTo>
                  <a:lnTo>
                    <a:pt x="974502" y="1120091"/>
                  </a:lnTo>
                  <a:cubicBezTo>
                    <a:pt x="855270" y="1134047"/>
                    <a:pt x="738889" y="1137017"/>
                    <a:pt x="616636" y="1178401"/>
                  </a:cubicBezTo>
                  <a:lnTo>
                    <a:pt x="-355" y="1327199"/>
                  </a:lnTo>
                  <a:cubicBezTo>
                    <a:pt x="501205" y="1185289"/>
                    <a:pt x="791897" y="1078735"/>
                    <a:pt x="1174587" y="1074616"/>
                  </a:cubicBezTo>
                  <a:cubicBezTo>
                    <a:pt x="1461602" y="1071525"/>
                    <a:pt x="1769608" y="1124074"/>
                    <a:pt x="2035335" y="1207511"/>
                  </a:cubicBezTo>
                  <a:lnTo>
                    <a:pt x="2217052" y="1273732"/>
                  </a:lnTo>
                  <a:lnTo>
                    <a:pt x="2216924" y="1249676"/>
                  </a:lnTo>
                  <a:lnTo>
                    <a:pt x="2217530" y="1184831"/>
                  </a:lnTo>
                  <a:lnTo>
                    <a:pt x="2216383" y="1142503"/>
                  </a:lnTo>
                  <a:cubicBezTo>
                    <a:pt x="2215427" y="984987"/>
                    <a:pt x="2231900" y="900597"/>
                    <a:pt x="2214216" y="707799"/>
                  </a:cubicBezTo>
                  <a:cubicBezTo>
                    <a:pt x="2196564" y="514994"/>
                    <a:pt x="2185316" y="218214"/>
                    <a:pt x="2210743" y="5122"/>
                  </a:cubicBezTo>
                  <a:cubicBezTo>
                    <a:pt x="2265356" y="5730"/>
                    <a:pt x="2318281" y="-1621"/>
                    <a:pt x="2397111" y="-477"/>
                  </a:cubicBezTo>
                  <a:close/>
                </a:path>
              </a:pathLst>
            </a:custGeom>
            <a:gradFill>
              <a:gsLst>
                <a:gs pos="0">
                  <a:srgbClr val="548235"/>
                </a:gs>
                <a:gs pos="25000">
                  <a:srgbClr val="70AD47"/>
                </a:gs>
                <a:gs pos="60000">
                  <a:srgbClr val="E2F0D9"/>
                </a:gs>
                <a:gs pos="75000">
                  <a:srgbClr val="ED7D31"/>
                </a:gs>
                <a:gs pos="100000">
                  <a:srgbClr val="C55A11"/>
                </a:gs>
              </a:gsLst>
              <a:lin ang="5400000" scaled="0"/>
            </a:gradFill>
            <a:ln w="76200" cap="flat">
              <a:gradFill>
                <a:gsLst>
                  <a:gs pos="0">
                    <a:srgbClr val="548235"/>
                  </a:gs>
                  <a:gs pos="25000">
                    <a:srgbClr val="70AD47"/>
                  </a:gs>
                  <a:gs pos="60000">
                    <a:srgbClr val="E2F0D9"/>
                  </a:gs>
                  <a:gs pos="75000">
                    <a:srgbClr val="ED7D31"/>
                  </a:gs>
                  <a:gs pos="100000">
                    <a:srgbClr val="C55A11"/>
                  </a:gs>
                </a:gsLst>
                <a:lin ang="5400000" scaled="0"/>
              </a:gra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D6BBA51E-DBC6-43C8-6AC3-782B9F71A5CB}"/>
                </a:ext>
              </a:extLst>
            </p:cNvPr>
            <p:cNvSpPr/>
            <p:nvPr/>
          </p:nvSpPr>
          <p:spPr>
            <a:xfrm rot="6696726" flipV="1">
              <a:off x="6678548" y="1358829"/>
              <a:ext cx="293107" cy="718363"/>
            </a:xfrm>
            <a:custGeom>
              <a:avLst/>
              <a:gdLst>
                <a:gd name="csX0" fmla="*/ 330 w 293107"/>
                <a:gd name="csY0" fmla="*/ 446729 h 718363"/>
                <a:gd name="csX1" fmla="*/ 146564 w 293107"/>
                <a:gd name="csY1" fmla="*/ 15 h 718363"/>
                <a:gd name="csX2" fmla="*/ 293428 w 293107"/>
                <a:gd name="csY2" fmla="*/ 446729 h 718363"/>
                <a:gd name="csX3" fmla="*/ 144063 w 293107"/>
                <a:gd name="csY3" fmla="*/ 718379 h 718363"/>
                <a:gd name="csX4" fmla="*/ 330 w 293107"/>
                <a:gd name="csY4" fmla="*/ 446729 h 718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3107" h="718363">
                  <a:moveTo>
                    <a:pt x="330" y="446729"/>
                  </a:moveTo>
                  <a:cubicBezTo>
                    <a:pt x="746" y="327003"/>
                    <a:pt x="63280" y="119680"/>
                    <a:pt x="146564" y="15"/>
                  </a:cubicBezTo>
                  <a:cubicBezTo>
                    <a:pt x="226327" y="119341"/>
                    <a:pt x="292646" y="307910"/>
                    <a:pt x="293428" y="446729"/>
                  </a:cubicBezTo>
                  <a:cubicBezTo>
                    <a:pt x="294210" y="585548"/>
                    <a:pt x="225000" y="718379"/>
                    <a:pt x="144063" y="718379"/>
                  </a:cubicBezTo>
                  <a:cubicBezTo>
                    <a:pt x="63126" y="718379"/>
                    <a:pt x="-87" y="566455"/>
                    <a:pt x="330" y="446729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6200000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10012F48-D9D0-A365-947D-3E29507ED6D7}"/>
                </a:ext>
              </a:extLst>
            </p:cNvPr>
            <p:cNvSpPr/>
            <p:nvPr/>
          </p:nvSpPr>
          <p:spPr>
            <a:xfrm rot="10399191" flipV="1">
              <a:off x="6521582" y="1555707"/>
              <a:ext cx="604628" cy="323727"/>
            </a:xfrm>
            <a:custGeom>
              <a:avLst/>
              <a:gdLst>
                <a:gd name="csX0" fmla="*/ 604907 w 604628"/>
                <a:gd name="csY0" fmla="*/ 77 h 323727"/>
                <a:gd name="csX1" fmla="*/ 272691 w 604628"/>
                <a:gd name="csY1" fmla="*/ 147913 h 323727"/>
                <a:gd name="csX2" fmla="*/ 278 w 604628"/>
                <a:gd name="csY2" fmla="*/ 323805 h 3237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4628" h="323727">
                  <a:moveTo>
                    <a:pt x="604907" y="77"/>
                  </a:moveTo>
                  <a:cubicBezTo>
                    <a:pt x="502415" y="38307"/>
                    <a:pt x="399927" y="76537"/>
                    <a:pt x="272691" y="147913"/>
                  </a:cubicBezTo>
                  <a:cubicBezTo>
                    <a:pt x="145455" y="219289"/>
                    <a:pt x="152261" y="219283"/>
                    <a:pt x="278" y="323805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4E0815B3-FCCA-4990-B87F-0604EA92D324}"/>
                </a:ext>
              </a:extLst>
            </p:cNvPr>
            <p:cNvSpPr/>
            <p:nvPr/>
          </p:nvSpPr>
          <p:spPr>
            <a:xfrm>
              <a:off x="6657556" y="1832158"/>
              <a:ext cx="564768" cy="380637"/>
            </a:xfrm>
            <a:custGeom>
              <a:avLst/>
              <a:gdLst>
                <a:gd name="csX0" fmla="*/ 420304 w 564768"/>
                <a:gd name="csY0" fmla="*/ 332957 h 380637"/>
                <a:gd name="csX1" fmla="*/ -355 w 564768"/>
                <a:gd name="csY1" fmla="*/ 359031 h 380637"/>
                <a:gd name="csX2" fmla="*/ 264980 w 564768"/>
                <a:gd name="csY2" fmla="*/ 31193 h 380637"/>
                <a:gd name="csX3" fmla="*/ 552814 w 564768"/>
                <a:gd name="csY3" fmla="*/ 77564 h 380637"/>
                <a:gd name="csX4" fmla="*/ 420304 w 564768"/>
                <a:gd name="csY4" fmla="*/ 332957 h 3806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64768" h="380637">
                  <a:moveTo>
                    <a:pt x="420304" y="332957"/>
                  </a:moveTo>
                  <a:cubicBezTo>
                    <a:pt x="328107" y="379870"/>
                    <a:pt x="135707" y="397461"/>
                    <a:pt x="-355" y="359031"/>
                  </a:cubicBezTo>
                  <a:cubicBezTo>
                    <a:pt x="49043" y="229730"/>
                    <a:pt x="158754" y="86890"/>
                    <a:pt x="264980" y="31193"/>
                  </a:cubicBezTo>
                  <a:cubicBezTo>
                    <a:pt x="371206" y="-24501"/>
                    <a:pt x="509923" y="-5765"/>
                    <a:pt x="552814" y="77564"/>
                  </a:cubicBezTo>
                  <a:cubicBezTo>
                    <a:pt x="595705" y="160892"/>
                    <a:pt x="512497" y="286045"/>
                    <a:pt x="420304" y="332957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9165859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フリーフォーム: 図形 16">
              <a:extLst>
                <a:ext uri="{FF2B5EF4-FFF2-40B4-BE49-F238E27FC236}">
                  <a16:creationId xmlns:a16="http://schemas.microsoft.com/office/drawing/2014/main" id="{1887F416-8985-ECD8-5A8E-A25EF1EB2CE6}"/>
                </a:ext>
              </a:extLst>
            </p:cNvPr>
            <p:cNvSpPr/>
            <p:nvPr/>
          </p:nvSpPr>
          <p:spPr>
            <a:xfrm>
              <a:off x="6657505" y="1905572"/>
              <a:ext cx="541207" cy="286989"/>
            </a:xfrm>
            <a:custGeom>
              <a:avLst/>
              <a:gdLst>
                <a:gd name="csX0" fmla="*/ -355 w 541207"/>
                <a:gd name="csY0" fmla="*/ 286391 h 286989"/>
                <a:gd name="csX1" fmla="*/ 292752 w 541207"/>
                <a:gd name="csY1" fmla="*/ 161331 h 286989"/>
                <a:gd name="csX2" fmla="*/ 540852 w 541207"/>
                <a:gd name="csY2" fmla="*/ -598 h 2869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41207" h="286989">
                  <a:moveTo>
                    <a:pt x="-355" y="286391"/>
                  </a:moveTo>
                  <a:cubicBezTo>
                    <a:pt x="89025" y="255825"/>
                    <a:pt x="178401" y="225258"/>
                    <a:pt x="292752" y="161331"/>
                  </a:cubicBezTo>
                  <a:cubicBezTo>
                    <a:pt x="407103" y="97407"/>
                    <a:pt x="401527" y="96684"/>
                    <a:pt x="540852" y="-598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4DDD79F9-FA20-EFCB-50A5-8CEA2F52C513}"/>
                </a:ext>
              </a:extLst>
            </p:cNvPr>
            <p:cNvSpPr/>
            <p:nvPr/>
          </p:nvSpPr>
          <p:spPr>
            <a:xfrm rot="11076811" flipV="1">
              <a:off x="7056149" y="1180023"/>
              <a:ext cx="293107" cy="718363"/>
            </a:xfrm>
            <a:custGeom>
              <a:avLst/>
              <a:gdLst>
                <a:gd name="csX0" fmla="*/ 330 w 293107"/>
                <a:gd name="csY0" fmla="*/ 446729 h 718363"/>
                <a:gd name="csX1" fmla="*/ 146564 w 293107"/>
                <a:gd name="csY1" fmla="*/ 15 h 718363"/>
                <a:gd name="csX2" fmla="*/ 293428 w 293107"/>
                <a:gd name="csY2" fmla="*/ 446729 h 718363"/>
                <a:gd name="csX3" fmla="*/ 144063 w 293107"/>
                <a:gd name="csY3" fmla="*/ 718379 h 718363"/>
                <a:gd name="csX4" fmla="*/ 330 w 293107"/>
                <a:gd name="csY4" fmla="*/ 446729 h 7183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3107" h="718363">
                  <a:moveTo>
                    <a:pt x="330" y="446729"/>
                  </a:moveTo>
                  <a:cubicBezTo>
                    <a:pt x="746" y="327003"/>
                    <a:pt x="63280" y="119680"/>
                    <a:pt x="146564" y="15"/>
                  </a:cubicBezTo>
                  <a:cubicBezTo>
                    <a:pt x="226327" y="119341"/>
                    <a:pt x="292646" y="307910"/>
                    <a:pt x="293428" y="446729"/>
                  </a:cubicBezTo>
                  <a:cubicBezTo>
                    <a:pt x="294210" y="585548"/>
                    <a:pt x="225000" y="718379"/>
                    <a:pt x="144063" y="718379"/>
                  </a:cubicBezTo>
                  <a:cubicBezTo>
                    <a:pt x="63126" y="718379"/>
                    <a:pt x="-87" y="566455"/>
                    <a:pt x="330" y="446729"/>
                  </a:cubicBezTo>
                  <a:close/>
                </a:path>
              </a:pathLst>
            </a:custGeom>
            <a:gradFill>
              <a:gsLst>
                <a:gs pos="0">
                  <a:srgbClr val="4F8B27"/>
                </a:gs>
                <a:gs pos="80000">
                  <a:srgbClr val="69B636"/>
                </a:gs>
                <a:gs pos="100000">
                  <a:srgbClr val="69BA33"/>
                </a:gs>
              </a:gsLst>
              <a:lin ang="16200000" scaled="1"/>
            </a:gradFill>
            <a:ln w="10949" cap="flat">
              <a:solidFill>
                <a:srgbClr val="6DAC43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フリーフォーム: 図形 14">
              <a:extLst>
                <a:ext uri="{FF2B5EF4-FFF2-40B4-BE49-F238E27FC236}">
                  <a16:creationId xmlns:a16="http://schemas.microsoft.com/office/drawing/2014/main" id="{C5E45E28-543D-BBC8-ED1D-A69640510763}"/>
                </a:ext>
              </a:extLst>
            </p:cNvPr>
            <p:cNvSpPr/>
            <p:nvPr/>
          </p:nvSpPr>
          <p:spPr>
            <a:xfrm rot="14779276" flipV="1">
              <a:off x="6899183" y="1376900"/>
              <a:ext cx="604628" cy="323727"/>
            </a:xfrm>
            <a:custGeom>
              <a:avLst/>
              <a:gdLst>
                <a:gd name="csX0" fmla="*/ 604907 w 604628"/>
                <a:gd name="csY0" fmla="*/ 77 h 323727"/>
                <a:gd name="csX1" fmla="*/ 272691 w 604628"/>
                <a:gd name="csY1" fmla="*/ 147913 h 323727"/>
                <a:gd name="csX2" fmla="*/ 278 w 604628"/>
                <a:gd name="csY2" fmla="*/ 323805 h 3237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04628" h="323727">
                  <a:moveTo>
                    <a:pt x="604907" y="77"/>
                  </a:moveTo>
                  <a:cubicBezTo>
                    <a:pt x="502415" y="38307"/>
                    <a:pt x="399927" y="76537"/>
                    <a:pt x="272691" y="147913"/>
                  </a:cubicBezTo>
                  <a:cubicBezTo>
                    <a:pt x="145455" y="219289"/>
                    <a:pt x="152261" y="219283"/>
                    <a:pt x="278" y="323805"/>
                  </a:cubicBezTo>
                </a:path>
              </a:pathLst>
            </a:custGeom>
            <a:noFill/>
            <a:ln w="10949" cap="flat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FD469F3E-04E4-F119-6A8A-C835C677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オートレギュレーション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7C34E5-6F6B-A6B6-6DC3-570BD5FABED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[Ref2] Delves et al.</a:t>
            </a:r>
            <a:r>
              <a:rPr lang="ja-JP" altLang="en-US" dirty="0"/>
              <a:t> </a:t>
            </a:r>
            <a:r>
              <a:rPr lang="en-US" altLang="ja-JP" dirty="0"/>
              <a:t>(1987). </a:t>
            </a:r>
            <a:r>
              <a:rPr lang="en-US" altLang="ja-JP" i="1" dirty="0"/>
              <a:t>Australian</a:t>
            </a:r>
            <a:r>
              <a:rPr lang="en-US" altLang="ja-JP" dirty="0"/>
              <a:t> </a:t>
            </a:r>
            <a:r>
              <a:rPr lang="en-US" altLang="ja-JP" i="1" dirty="0"/>
              <a:t>Journal</a:t>
            </a:r>
            <a:r>
              <a:rPr lang="en-US" altLang="ja-JP" dirty="0"/>
              <a:t> </a:t>
            </a:r>
            <a:r>
              <a:rPr lang="en-US" altLang="ja-JP" i="1" dirty="0"/>
              <a:t>of</a:t>
            </a:r>
            <a:r>
              <a:rPr lang="en-US" altLang="ja-JP" dirty="0"/>
              <a:t> </a:t>
            </a:r>
            <a:r>
              <a:rPr lang="en-US" altLang="ja-JP" i="1" dirty="0"/>
              <a:t>Plant</a:t>
            </a:r>
            <a:r>
              <a:rPr lang="en-US" altLang="ja-JP" dirty="0"/>
              <a:t> </a:t>
            </a:r>
            <a:r>
              <a:rPr lang="en-US" altLang="ja-JP" i="1" dirty="0"/>
              <a:t>Physiology</a:t>
            </a:r>
            <a:r>
              <a:rPr lang="en-US" altLang="ja-JP" dirty="0"/>
              <a:t> 14: 689 – 694; doi: </a:t>
            </a:r>
            <a:r>
              <a:rPr lang="en-US" altLang="ja-JP" dirty="0">
                <a:hlinkClick r:id="rId2"/>
              </a:rPr>
              <a:t>10.1071/PP9870689</a:t>
            </a:r>
            <a:r>
              <a:rPr lang="en-US" altLang="ja-JP" dirty="0"/>
              <a:t>.</a:t>
            </a:r>
          </a:p>
        </p:txBody>
      </p:sp>
      <p:grpSp>
        <p:nvGrpSpPr>
          <p:cNvPr id="139" name="グループ化 138">
            <a:extLst>
              <a:ext uri="{FF2B5EF4-FFF2-40B4-BE49-F238E27FC236}">
                <a16:creationId xmlns:a16="http://schemas.microsoft.com/office/drawing/2014/main" id="{D5877B6B-5C49-359E-B0E6-7AE4B18193A9}"/>
              </a:ext>
            </a:extLst>
          </p:cNvPr>
          <p:cNvGrpSpPr/>
          <p:nvPr/>
        </p:nvGrpSpPr>
        <p:grpSpPr>
          <a:xfrm>
            <a:off x="1453302" y="4913834"/>
            <a:ext cx="2979599" cy="1384893"/>
            <a:chOff x="1453302" y="4913834"/>
            <a:chExt cx="2979599" cy="1384893"/>
          </a:xfrm>
        </p:grpSpPr>
        <p:sp>
          <p:nvSpPr>
            <p:cNvPr id="81" name="楕円 80">
              <a:extLst>
                <a:ext uri="{FF2B5EF4-FFF2-40B4-BE49-F238E27FC236}">
                  <a16:creationId xmlns:a16="http://schemas.microsoft.com/office/drawing/2014/main" id="{07D40FE0-03F9-391B-5B33-D84D8F8BF9D8}"/>
                </a:ext>
              </a:extLst>
            </p:cNvPr>
            <p:cNvSpPr/>
            <p:nvPr/>
          </p:nvSpPr>
          <p:spPr>
            <a:xfrm>
              <a:off x="4218158" y="5512102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楕円 81">
              <a:extLst>
                <a:ext uri="{FF2B5EF4-FFF2-40B4-BE49-F238E27FC236}">
                  <a16:creationId xmlns:a16="http://schemas.microsoft.com/office/drawing/2014/main" id="{5617F2C4-2745-56DD-57B5-1907246747F1}"/>
                </a:ext>
              </a:extLst>
            </p:cNvPr>
            <p:cNvSpPr/>
            <p:nvPr/>
          </p:nvSpPr>
          <p:spPr>
            <a:xfrm>
              <a:off x="3918822" y="5758721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楕円 71">
              <a:extLst>
                <a:ext uri="{FF2B5EF4-FFF2-40B4-BE49-F238E27FC236}">
                  <a16:creationId xmlns:a16="http://schemas.microsoft.com/office/drawing/2014/main" id="{882FB8A3-5C0A-A437-474B-214C5CF29905}"/>
                </a:ext>
              </a:extLst>
            </p:cNvPr>
            <p:cNvSpPr/>
            <p:nvPr/>
          </p:nvSpPr>
          <p:spPr>
            <a:xfrm>
              <a:off x="2351520" y="4913834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楕円 72">
              <a:extLst>
                <a:ext uri="{FF2B5EF4-FFF2-40B4-BE49-F238E27FC236}">
                  <a16:creationId xmlns:a16="http://schemas.microsoft.com/office/drawing/2014/main" id="{6A904949-EB68-3F28-3653-73A54B30D9F5}"/>
                </a:ext>
              </a:extLst>
            </p:cNvPr>
            <p:cNvSpPr/>
            <p:nvPr/>
          </p:nvSpPr>
          <p:spPr>
            <a:xfrm>
              <a:off x="1832604" y="5171894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>
                    <a:lumMod val="93000"/>
                  </a:srgbClr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楕円 73">
              <a:extLst>
                <a:ext uri="{FF2B5EF4-FFF2-40B4-BE49-F238E27FC236}">
                  <a16:creationId xmlns:a16="http://schemas.microsoft.com/office/drawing/2014/main" id="{C29909F7-3462-2228-E543-8473076D0B55}"/>
                </a:ext>
              </a:extLst>
            </p:cNvPr>
            <p:cNvSpPr/>
            <p:nvPr/>
          </p:nvSpPr>
          <p:spPr>
            <a:xfrm>
              <a:off x="2681378" y="5261604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楕円 74">
              <a:extLst>
                <a:ext uri="{FF2B5EF4-FFF2-40B4-BE49-F238E27FC236}">
                  <a16:creationId xmlns:a16="http://schemas.microsoft.com/office/drawing/2014/main" id="{6BB73CAA-CE17-1DB2-3B49-A3178CFA1E75}"/>
                </a:ext>
              </a:extLst>
            </p:cNvPr>
            <p:cNvSpPr/>
            <p:nvPr/>
          </p:nvSpPr>
          <p:spPr>
            <a:xfrm>
              <a:off x="1987309" y="5620471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楕円 75">
              <a:extLst>
                <a:ext uri="{FF2B5EF4-FFF2-40B4-BE49-F238E27FC236}">
                  <a16:creationId xmlns:a16="http://schemas.microsoft.com/office/drawing/2014/main" id="{D34C5D36-CD67-5BC6-1F7F-0181EEF0B49A}"/>
                </a:ext>
              </a:extLst>
            </p:cNvPr>
            <p:cNvSpPr/>
            <p:nvPr/>
          </p:nvSpPr>
          <p:spPr>
            <a:xfrm>
              <a:off x="1453302" y="5897567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楕円 76">
              <a:extLst>
                <a:ext uri="{FF2B5EF4-FFF2-40B4-BE49-F238E27FC236}">
                  <a16:creationId xmlns:a16="http://schemas.microsoft.com/office/drawing/2014/main" id="{E0629A4F-18C7-920B-794A-BD3ED77FF320}"/>
                </a:ext>
              </a:extLst>
            </p:cNvPr>
            <p:cNvSpPr/>
            <p:nvPr/>
          </p:nvSpPr>
          <p:spPr>
            <a:xfrm>
              <a:off x="2357710" y="5856825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楕円 77">
              <a:extLst>
                <a:ext uri="{FF2B5EF4-FFF2-40B4-BE49-F238E27FC236}">
                  <a16:creationId xmlns:a16="http://schemas.microsoft.com/office/drawing/2014/main" id="{0DCE84AC-FBAF-2DCC-B5DA-1D39A2E44CE5}"/>
                </a:ext>
              </a:extLst>
            </p:cNvPr>
            <p:cNvSpPr/>
            <p:nvPr/>
          </p:nvSpPr>
          <p:spPr>
            <a:xfrm>
              <a:off x="1856651" y="6083984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楕円 78">
              <a:extLst>
                <a:ext uri="{FF2B5EF4-FFF2-40B4-BE49-F238E27FC236}">
                  <a16:creationId xmlns:a16="http://schemas.microsoft.com/office/drawing/2014/main" id="{D4E1CFA2-6144-61A9-1722-150B6AFF2DBD}"/>
                </a:ext>
              </a:extLst>
            </p:cNvPr>
            <p:cNvSpPr/>
            <p:nvPr/>
          </p:nvSpPr>
          <p:spPr>
            <a:xfrm>
              <a:off x="3264742" y="5068412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楕円 79">
              <a:extLst>
                <a:ext uri="{FF2B5EF4-FFF2-40B4-BE49-F238E27FC236}">
                  <a16:creationId xmlns:a16="http://schemas.microsoft.com/office/drawing/2014/main" id="{F76BAE6D-3682-9465-09A0-3250E47A75E1}"/>
                </a:ext>
              </a:extLst>
            </p:cNvPr>
            <p:cNvSpPr/>
            <p:nvPr/>
          </p:nvSpPr>
          <p:spPr>
            <a:xfrm>
              <a:off x="3765138" y="5292860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楕円 82">
              <a:extLst>
                <a:ext uri="{FF2B5EF4-FFF2-40B4-BE49-F238E27FC236}">
                  <a16:creationId xmlns:a16="http://schemas.microsoft.com/office/drawing/2014/main" id="{9F437C33-53F8-2BC2-8A29-4834AA5D955F}"/>
                </a:ext>
              </a:extLst>
            </p:cNvPr>
            <p:cNvSpPr/>
            <p:nvPr/>
          </p:nvSpPr>
          <p:spPr>
            <a:xfrm>
              <a:off x="3372113" y="5516531"/>
              <a:ext cx="214743" cy="214743"/>
            </a:xfrm>
            <a:prstGeom prst="ellipse">
              <a:avLst/>
            </a:prstGeom>
            <a:gradFill flip="none" rotWithShape="1">
              <a:gsLst>
                <a:gs pos="0">
                  <a:srgbClr val="FFAF86"/>
                </a:gs>
                <a:gs pos="35000">
                  <a:srgbClr val="FFC6AB"/>
                </a:gs>
                <a:gs pos="100000">
                  <a:srgbClr val="FFE7DC"/>
                </a:gs>
              </a:gsLst>
              <a:lin ang="16200000" scaled="1"/>
              <a:tileRect/>
            </a:gradFill>
            <a:ln w="9525">
              <a:solidFill>
                <a:srgbClr val="EC792B"/>
              </a:solidFill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4D4D414-E8A5-00EB-B19B-3379AFC53C16}"/>
              </a:ext>
            </a:extLst>
          </p:cNvPr>
          <p:cNvSpPr/>
          <p:nvPr/>
        </p:nvSpPr>
        <p:spPr>
          <a:xfrm>
            <a:off x="6363405" y="3344113"/>
            <a:ext cx="3856126" cy="1828800"/>
          </a:xfrm>
          <a:prstGeom prst="rect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寄生ではなく，</a:t>
            </a:r>
            <a:endParaRPr lang="en-US" altLang="ja-JP" sz="3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「</a:t>
            </a:r>
            <a:r>
              <a:rPr lang="ja-JP" altLang="en-US" sz="3600" dirty="0">
                <a:solidFill>
                  <a:schemeClr val="accent6"/>
                </a:solidFill>
                <a:latin typeface="+mn-ea"/>
              </a:rPr>
              <a:t>共生関係</a:t>
            </a:r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」を</a:t>
            </a:r>
            <a:endParaRPr lang="en-US" altLang="ja-JP" sz="36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ja-JP" altLang="en-US" sz="3600" dirty="0">
                <a:solidFill>
                  <a:schemeClr val="tx1"/>
                </a:solidFill>
                <a:latin typeface="+mn-ea"/>
              </a:rPr>
              <a:t>保つ機構がある．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7D65873-98F4-4B83-ECB7-E70A77769A6A}"/>
              </a:ext>
            </a:extLst>
          </p:cNvPr>
          <p:cNvSpPr txBox="1"/>
          <p:nvPr/>
        </p:nvSpPr>
        <p:spPr>
          <a:xfrm>
            <a:off x="354002" y="6556932"/>
            <a:ext cx="52085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+mj-ea"/>
                <a:ea typeface="+mj-ea"/>
              </a:rPr>
              <a:t>Fig β: </a:t>
            </a:r>
            <a:r>
              <a:rPr lang="ja-JP" altLang="en-US" sz="1600" dirty="0">
                <a:latin typeface="+mj-ea"/>
                <a:ea typeface="+mj-ea"/>
              </a:rPr>
              <a:t>根粒着生を抑制するシグナル伝達モデル</a:t>
            </a:r>
            <a:endParaRPr kumimoji="1" lang="ja-JP" altLang="en-US" sz="1600" dirty="0">
              <a:latin typeface="+mj-ea"/>
              <a:ea typeface="+mj-ea"/>
            </a:endParaRPr>
          </a:p>
        </p:txBody>
      </p:sp>
      <p:sp>
        <p:nvSpPr>
          <p:cNvPr id="48" name="矢印: 左カーブ 47">
            <a:extLst>
              <a:ext uri="{FF2B5EF4-FFF2-40B4-BE49-F238E27FC236}">
                <a16:creationId xmlns:a16="http://schemas.microsoft.com/office/drawing/2014/main" id="{A532CC1D-A5D1-6F08-390F-5105B854CA2C}"/>
              </a:ext>
            </a:extLst>
          </p:cNvPr>
          <p:cNvSpPr/>
          <p:nvPr/>
        </p:nvSpPr>
        <p:spPr>
          <a:xfrm flipH="1">
            <a:off x="206163" y="2886446"/>
            <a:ext cx="1413042" cy="2635089"/>
          </a:xfrm>
          <a:custGeom>
            <a:avLst/>
            <a:gdLst>
              <a:gd name="csX0" fmla="*/ 0 w 1413042"/>
              <a:gd name="csY0" fmla="*/ 2432641 h 2785901"/>
              <a:gd name="csX1" fmla="*/ 0 w 1413042"/>
              <a:gd name="csY1" fmla="*/ 2079380 h 2785901"/>
              <a:gd name="csX2" fmla="*/ 0 w 1413042"/>
              <a:gd name="csY2" fmla="*/ 2432641 h 2785901"/>
              <a:gd name="csX3" fmla="*/ 1413042 w 1413042"/>
              <a:gd name="csY3" fmla="*/ 1216321 h 2785901"/>
              <a:gd name="csX4" fmla="*/ 0 w 1413042"/>
              <a:gd name="csY4" fmla="*/ 2432641 h 2785901"/>
              <a:gd name="csX5" fmla="*/ 0 w 1413042"/>
              <a:gd name="csY5" fmla="*/ 2785901 h 2785901"/>
              <a:gd name="csX6" fmla="*/ 0 w 1413042"/>
              <a:gd name="csY6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785901 h 2785901"/>
              <a:gd name="csX7" fmla="*/ 0 w 1413042"/>
              <a:gd name="csY7" fmla="*/ 2432641 h 2785901"/>
              <a:gd name="csX8" fmla="*/ 0 w 1413042"/>
              <a:gd name="csY8" fmla="*/ 2079380 h 2785901"/>
              <a:gd name="csX9" fmla="*/ 0 w 1413042"/>
              <a:gd name="csY9" fmla="*/ 2432641 h 2785901"/>
              <a:gd name="csX10" fmla="*/ 1413042 w 1413042"/>
              <a:gd name="csY10" fmla="*/ 1216321 h 2785901"/>
              <a:gd name="csX0" fmla="*/ 0 w 1413042"/>
              <a:gd name="csY0" fmla="*/ 2432641 h 2785901"/>
              <a:gd name="csX1" fmla="*/ 0 w 1413042"/>
              <a:gd name="csY1" fmla="*/ 2079380 h 2785901"/>
              <a:gd name="csX2" fmla="*/ 0 w 1413042"/>
              <a:gd name="csY2" fmla="*/ 2432641 h 2785901"/>
              <a:gd name="csX3" fmla="*/ 1413042 w 1413042"/>
              <a:gd name="csY3" fmla="*/ 1216321 h 2785901"/>
              <a:gd name="csX4" fmla="*/ 0 w 1413042"/>
              <a:gd name="csY4" fmla="*/ 2432641 h 2785901"/>
              <a:gd name="csX5" fmla="*/ 0 w 1413042"/>
              <a:gd name="csY5" fmla="*/ 2785901 h 2785901"/>
              <a:gd name="csX6" fmla="*/ 0 w 1413042"/>
              <a:gd name="csY6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785901 h 2785901"/>
              <a:gd name="csX7" fmla="*/ 0 w 1413042"/>
              <a:gd name="csY7" fmla="*/ 2432641 h 2785901"/>
              <a:gd name="csX8" fmla="*/ 0 w 1413042"/>
              <a:gd name="csY8" fmla="*/ 2079380 h 2785901"/>
              <a:gd name="csX9" fmla="*/ 0 w 1413042"/>
              <a:gd name="csY9" fmla="*/ 2432641 h 2785901"/>
              <a:gd name="csX0" fmla="*/ 0 w 1413042"/>
              <a:gd name="csY0" fmla="*/ 2432641 h 2785901"/>
              <a:gd name="csX1" fmla="*/ 0 w 1413042"/>
              <a:gd name="csY1" fmla="*/ 2079380 h 2785901"/>
              <a:gd name="csX2" fmla="*/ 0 w 1413042"/>
              <a:gd name="csY2" fmla="*/ 2432641 h 2785901"/>
              <a:gd name="csX3" fmla="*/ 1413042 w 1413042"/>
              <a:gd name="csY3" fmla="*/ 1216321 h 2785901"/>
              <a:gd name="csX4" fmla="*/ 0 w 1413042"/>
              <a:gd name="csY4" fmla="*/ 2432641 h 2785901"/>
              <a:gd name="csX5" fmla="*/ 0 w 1413042"/>
              <a:gd name="csY5" fmla="*/ 2785901 h 2785901"/>
              <a:gd name="csX6" fmla="*/ 0 w 1413042"/>
              <a:gd name="csY6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785901 h 2785901"/>
              <a:gd name="csX7" fmla="*/ 0 w 1413042"/>
              <a:gd name="csY7" fmla="*/ 2432641 h 2785901"/>
              <a:gd name="csX8" fmla="*/ 0 w 1413042"/>
              <a:gd name="csY8" fmla="*/ 2241305 h 2785901"/>
              <a:gd name="csX9" fmla="*/ 0 w 1413042"/>
              <a:gd name="csY9" fmla="*/ 2432641 h 2785901"/>
              <a:gd name="csX0" fmla="*/ 0 w 1413042"/>
              <a:gd name="csY0" fmla="*/ 2432641 h 2785901"/>
              <a:gd name="csX1" fmla="*/ 0 w 1413042"/>
              <a:gd name="csY1" fmla="*/ 2432641 h 2785901"/>
              <a:gd name="csX2" fmla="*/ 1413042 w 1413042"/>
              <a:gd name="csY2" fmla="*/ 1216321 h 2785901"/>
              <a:gd name="csX3" fmla="*/ 0 w 1413042"/>
              <a:gd name="csY3" fmla="*/ 2432641 h 2785901"/>
              <a:gd name="csX4" fmla="*/ 0 w 1413042"/>
              <a:gd name="csY4" fmla="*/ 2785901 h 2785901"/>
              <a:gd name="csX5" fmla="*/ 0 w 1413042"/>
              <a:gd name="csY5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785901 h 2785901"/>
              <a:gd name="csX7" fmla="*/ 0 w 1413042"/>
              <a:gd name="csY7" fmla="*/ 2432641 h 2785901"/>
              <a:gd name="csX8" fmla="*/ 0 w 1413042"/>
              <a:gd name="csY8" fmla="*/ 2241305 h 2785901"/>
              <a:gd name="csX9" fmla="*/ 0 w 1413042"/>
              <a:gd name="csY9" fmla="*/ 2432641 h 2785901"/>
              <a:gd name="csX0" fmla="*/ 0 w 1413042"/>
              <a:gd name="csY0" fmla="*/ 2432641 h 2785901"/>
              <a:gd name="csX1" fmla="*/ 0 w 1413042"/>
              <a:gd name="csY1" fmla="*/ 2432641 h 2785901"/>
              <a:gd name="csX2" fmla="*/ 1413042 w 1413042"/>
              <a:gd name="csY2" fmla="*/ 1216321 h 2785901"/>
              <a:gd name="csX3" fmla="*/ 0 w 1413042"/>
              <a:gd name="csY3" fmla="*/ 2432641 h 2785901"/>
              <a:gd name="csX4" fmla="*/ 0 w 1413042"/>
              <a:gd name="csY4" fmla="*/ 2785901 h 2785901"/>
              <a:gd name="csX5" fmla="*/ 0 w 1413042"/>
              <a:gd name="csY5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609689 h 2785901"/>
              <a:gd name="csX7" fmla="*/ 0 w 1413042"/>
              <a:gd name="csY7" fmla="*/ 2432641 h 2785901"/>
              <a:gd name="csX8" fmla="*/ 0 w 1413042"/>
              <a:gd name="csY8" fmla="*/ 2241305 h 2785901"/>
              <a:gd name="csX9" fmla="*/ 0 w 1413042"/>
              <a:gd name="csY9" fmla="*/ 2432641 h 2785901"/>
              <a:gd name="csX0" fmla="*/ 0 w 1413042"/>
              <a:gd name="csY0" fmla="*/ 2432641 h 2609689"/>
              <a:gd name="csX1" fmla="*/ 0 w 1413042"/>
              <a:gd name="csY1" fmla="*/ 2432641 h 2609689"/>
              <a:gd name="csX2" fmla="*/ 1413042 w 1413042"/>
              <a:gd name="csY2" fmla="*/ 1216321 h 2609689"/>
              <a:gd name="csX3" fmla="*/ 0 w 1413042"/>
              <a:gd name="csY3" fmla="*/ 2432641 h 2609689"/>
              <a:gd name="csX4" fmla="*/ 0 w 1413042"/>
              <a:gd name="csY4" fmla="*/ 2432641 h 2609689"/>
              <a:gd name="csX0" fmla="*/ 1413042 w 1413042"/>
              <a:gd name="csY0" fmla="*/ 1216320 h 2609689"/>
              <a:gd name="csX1" fmla="*/ 0 w 1413042"/>
              <a:gd name="csY1" fmla="*/ 0 h 2609689"/>
              <a:gd name="csX2" fmla="*/ 0 w 1413042"/>
              <a:gd name="csY2" fmla="*/ 0 h 2609689"/>
              <a:gd name="csX3" fmla="*/ 1413042 w 1413042"/>
              <a:gd name="csY3" fmla="*/ 1216320 h 2609689"/>
              <a:gd name="csX0" fmla="*/ 1413042 w 1413042"/>
              <a:gd name="csY0" fmla="*/ 1216320 h 2609689"/>
              <a:gd name="csX1" fmla="*/ 0 w 1413042"/>
              <a:gd name="csY1" fmla="*/ 0 h 2609689"/>
              <a:gd name="csX2" fmla="*/ 0 w 1413042"/>
              <a:gd name="csY2" fmla="*/ 0 h 2609689"/>
              <a:gd name="csX3" fmla="*/ 1413042 w 1413042"/>
              <a:gd name="csY3" fmla="*/ 1216320 h 2609689"/>
              <a:gd name="csX4" fmla="*/ 1413042 w 1413042"/>
              <a:gd name="csY4" fmla="*/ 1216320 h 2609689"/>
              <a:gd name="csX5" fmla="*/ 0 w 1413042"/>
              <a:gd name="csY5" fmla="*/ 2432640 h 2609689"/>
              <a:gd name="csX6" fmla="*/ 0 w 1413042"/>
              <a:gd name="csY6" fmla="*/ 2609689 h 2609689"/>
              <a:gd name="csX7" fmla="*/ 0 w 1413042"/>
              <a:gd name="csY7" fmla="*/ 2432641 h 2609689"/>
              <a:gd name="csX8" fmla="*/ 0 w 1413042"/>
              <a:gd name="csY8" fmla="*/ 2241305 h 2609689"/>
              <a:gd name="csX9" fmla="*/ 0 w 1413042"/>
              <a:gd name="csY9" fmla="*/ 2432641 h 2609689"/>
              <a:gd name="csX0" fmla="*/ 0 w 1413042"/>
              <a:gd name="csY0" fmla="*/ 2432641 h 2609689"/>
              <a:gd name="csX1" fmla="*/ 0 w 1413042"/>
              <a:gd name="csY1" fmla="*/ 2432641 h 2609689"/>
              <a:gd name="csX2" fmla="*/ 1413042 w 1413042"/>
              <a:gd name="csY2" fmla="*/ 1216321 h 2609689"/>
              <a:gd name="csX3" fmla="*/ 0 w 1413042"/>
              <a:gd name="csY3" fmla="*/ 2432641 h 2609689"/>
              <a:gd name="csX4" fmla="*/ 0 w 1413042"/>
              <a:gd name="csY4" fmla="*/ 2432641 h 2609689"/>
              <a:gd name="csX0" fmla="*/ 1413042 w 1413042"/>
              <a:gd name="csY0" fmla="*/ 1216320 h 2609689"/>
              <a:gd name="csX1" fmla="*/ 0 w 1413042"/>
              <a:gd name="csY1" fmla="*/ 0 h 2609689"/>
              <a:gd name="csX2" fmla="*/ 0 w 1413042"/>
              <a:gd name="csY2" fmla="*/ 0 h 2609689"/>
              <a:gd name="csX3" fmla="*/ 1413042 w 1413042"/>
              <a:gd name="csY3" fmla="*/ 1216320 h 2609689"/>
              <a:gd name="csX0" fmla="*/ 1413042 w 1413042"/>
              <a:gd name="csY0" fmla="*/ 1216320 h 2609689"/>
              <a:gd name="csX1" fmla="*/ 0 w 1413042"/>
              <a:gd name="csY1" fmla="*/ 0 h 2609689"/>
              <a:gd name="csX2" fmla="*/ 0 w 1413042"/>
              <a:gd name="csY2" fmla="*/ 0 h 2609689"/>
              <a:gd name="csX3" fmla="*/ 1413042 w 1413042"/>
              <a:gd name="csY3" fmla="*/ 1216320 h 2609689"/>
              <a:gd name="csX4" fmla="*/ 1413042 w 1413042"/>
              <a:gd name="csY4" fmla="*/ 1216320 h 2609689"/>
              <a:gd name="csX5" fmla="*/ 0 w 1413042"/>
              <a:gd name="csY5" fmla="*/ 2432640 h 2609689"/>
              <a:gd name="csX6" fmla="*/ 0 w 1413042"/>
              <a:gd name="csY6" fmla="*/ 2609689 h 2609689"/>
              <a:gd name="csX7" fmla="*/ 0 w 1413042"/>
              <a:gd name="csY7" fmla="*/ 2432641 h 2609689"/>
              <a:gd name="csX8" fmla="*/ 0 w 1413042"/>
              <a:gd name="csY8" fmla="*/ 2203205 h 2609689"/>
              <a:gd name="csX9" fmla="*/ 0 w 1413042"/>
              <a:gd name="csY9" fmla="*/ 2432641 h 2609689"/>
              <a:gd name="csX0" fmla="*/ 0 w 1413042"/>
              <a:gd name="csY0" fmla="*/ 2432641 h 2654139"/>
              <a:gd name="csX1" fmla="*/ 0 w 1413042"/>
              <a:gd name="csY1" fmla="*/ 2432641 h 2654139"/>
              <a:gd name="csX2" fmla="*/ 1413042 w 1413042"/>
              <a:gd name="csY2" fmla="*/ 1216321 h 2654139"/>
              <a:gd name="csX3" fmla="*/ 0 w 1413042"/>
              <a:gd name="csY3" fmla="*/ 2432641 h 2654139"/>
              <a:gd name="csX4" fmla="*/ 0 w 1413042"/>
              <a:gd name="csY4" fmla="*/ 2432641 h 2654139"/>
              <a:gd name="csX0" fmla="*/ 1413042 w 1413042"/>
              <a:gd name="csY0" fmla="*/ 1216320 h 2654139"/>
              <a:gd name="csX1" fmla="*/ 0 w 1413042"/>
              <a:gd name="csY1" fmla="*/ 0 h 2654139"/>
              <a:gd name="csX2" fmla="*/ 0 w 1413042"/>
              <a:gd name="csY2" fmla="*/ 0 h 2654139"/>
              <a:gd name="csX3" fmla="*/ 1413042 w 1413042"/>
              <a:gd name="csY3" fmla="*/ 1216320 h 2654139"/>
              <a:gd name="csX0" fmla="*/ 1413042 w 1413042"/>
              <a:gd name="csY0" fmla="*/ 1216320 h 2654139"/>
              <a:gd name="csX1" fmla="*/ 0 w 1413042"/>
              <a:gd name="csY1" fmla="*/ 0 h 2654139"/>
              <a:gd name="csX2" fmla="*/ 0 w 1413042"/>
              <a:gd name="csY2" fmla="*/ 0 h 2654139"/>
              <a:gd name="csX3" fmla="*/ 1413042 w 1413042"/>
              <a:gd name="csY3" fmla="*/ 1216320 h 2654139"/>
              <a:gd name="csX4" fmla="*/ 1413042 w 1413042"/>
              <a:gd name="csY4" fmla="*/ 1216320 h 2654139"/>
              <a:gd name="csX5" fmla="*/ 0 w 1413042"/>
              <a:gd name="csY5" fmla="*/ 2432640 h 2654139"/>
              <a:gd name="csX6" fmla="*/ 0 w 1413042"/>
              <a:gd name="csY6" fmla="*/ 2654139 h 2654139"/>
              <a:gd name="csX7" fmla="*/ 0 w 1413042"/>
              <a:gd name="csY7" fmla="*/ 2432641 h 2654139"/>
              <a:gd name="csX8" fmla="*/ 0 w 1413042"/>
              <a:gd name="csY8" fmla="*/ 2203205 h 2654139"/>
              <a:gd name="csX9" fmla="*/ 0 w 1413042"/>
              <a:gd name="csY9" fmla="*/ 2432641 h 2654139"/>
              <a:gd name="csX0" fmla="*/ 0 w 1413042"/>
              <a:gd name="csY0" fmla="*/ 2432641 h 2654139"/>
              <a:gd name="csX1" fmla="*/ 0 w 1413042"/>
              <a:gd name="csY1" fmla="*/ 2432641 h 2654139"/>
              <a:gd name="csX2" fmla="*/ 1413042 w 1413042"/>
              <a:gd name="csY2" fmla="*/ 1216321 h 2654139"/>
              <a:gd name="csX3" fmla="*/ 0 w 1413042"/>
              <a:gd name="csY3" fmla="*/ 2432641 h 2654139"/>
              <a:gd name="csX4" fmla="*/ 0 w 1413042"/>
              <a:gd name="csY4" fmla="*/ 2432641 h 2654139"/>
              <a:gd name="csX0" fmla="*/ 1413042 w 1413042"/>
              <a:gd name="csY0" fmla="*/ 1216320 h 2654139"/>
              <a:gd name="csX1" fmla="*/ 0 w 1413042"/>
              <a:gd name="csY1" fmla="*/ 0 h 2654139"/>
              <a:gd name="csX2" fmla="*/ 0 w 1413042"/>
              <a:gd name="csY2" fmla="*/ 0 h 2654139"/>
              <a:gd name="csX3" fmla="*/ 1413042 w 1413042"/>
              <a:gd name="csY3" fmla="*/ 1216320 h 2654139"/>
              <a:gd name="csX0" fmla="*/ 1413042 w 1413042"/>
              <a:gd name="csY0" fmla="*/ 1216320 h 2654139"/>
              <a:gd name="csX1" fmla="*/ 0 w 1413042"/>
              <a:gd name="csY1" fmla="*/ 0 h 2654139"/>
              <a:gd name="csX2" fmla="*/ 0 w 1413042"/>
              <a:gd name="csY2" fmla="*/ 0 h 2654139"/>
              <a:gd name="csX3" fmla="*/ 1413042 w 1413042"/>
              <a:gd name="csY3" fmla="*/ 1216320 h 2654139"/>
              <a:gd name="csX4" fmla="*/ 1413042 w 1413042"/>
              <a:gd name="csY4" fmla="*/ 1216320 h 2654139"/>
              <a:gd name="csX5" fmla="*/ 0 w 1413042"/>
              <a:gd name="csY5" fmla="*/ 2432640 h 2654139"/>
              <a:gd name="csX6" fmla="*/ 0 w 1413042"/>
              <a:gd name="csY6" fmla="*/ 2654139 h 2654139"/>
              <a:gd name="csX7" fmla="*/ 0 w 1413042"/>
              <a:gd name="csY7" fmla="*/ 2432641 h 2654139"/>
              <a:gd name="csX8" fmla="*/ 0 w 1413042"/>
              <a:gd name="csY8" fmla="*/ 2222255 h 2654139"/>
              <a:gd name="csX9" fmla="*/ 0 w 1413042"/>
              <a:gd name="csY9" fmla="*/ 2432641 h 2654139"/>
              <a:gd name="csX0" fmla="*/ 0 w 1413042"/>
              <a:gd name="csY0" fmla="*/ 2432641 h 2635089"/>
              <a:gd name="csX1" fmla="*/ 0 w 1413042"/>
              <a:gd name="csY1" fmla="*/ 2432641 h 2635089"/>
              <a:gd name="csX2" fmla="*/ 1413042 w 1413042"/>
              <a:gd name="csY2" fmla="*/ 1216321 h 2635089"/>
              <a:gd name="csX3" fmla="*/ 0 w 1413042"/>
              <a:gd name="csY3" fmla="*/ 2432641 h 2635089"/>
              <a:gd name="csX4" fmla="*/ 0 w 1413042"/>
              <a:gd name="csY4" fmla="*/ 2432641 h 2635089"/>
              <a:gd name="csX0" fmla="*/ 1413042 w 1413042"/>
              <a:gd name="csY0" fmla="*/ 1216320 h 2635089"/>
              <a:gd name="csX1" fmla="*/ 0 w 1413042"/>
              <a:gd name="csY1" fmla="*/ 0 h 2635089"/>
              <a:gd name="csX2" fmla="*/ 0 w 1413042"/>
              <a:gd name="csY2" fmla="*/ 0 h 2635089"/>
              <a:gd name="csX3" fmla="*/ 1413042 w 1413042"/>
              <a:gd name="csY3" fmla="*/ 1216320 h 2635089"/>
              <a:gd name="csX0" fmla="*/ 1413042 w 1413042"/>
              <a:gd name="csY0" fmla="*/ 1216320 h 2635089"/>
              <a:gd name="csX1" fmla="*/ 0 w 1413042"/>
              <a:gd name="csY1" fmla="*/ 0 h 2635089"/>
              <a:gd name="csX2" fmla="*/ 0 w 1413042"/>
              <a:gd name="csY2" fmla="*/ 0 h 2635089"/>
              <a:gd name="csX3" fmla="*/ 1413042 w 1413042"/>
              <a:gd name="csY3" fmla="*/ 1216320 h 2635089"/>
              <a:gd name="csX4" fmla="*/ 1413042 w 1413042"/>
              <a:gd name="csY4" fmla="*/ 1216320 h 2635089"/>
              <a:gd name="csX5" fmla="*/ 0 w 1413042"/>
              <a:gd name="csY5" fmla="*/ 2432640 h 2635089"/>
              <a:gd name="csX6" fmla="*/ 0 w 1413042"/>
              <a:gd name="csY6" fmla="*/ 2635089 h 2635089"/>
              <a:gd name="csX7" fmla="*/ 0 w 1413042"/>
              <a:gd name="csY7" fmla="*/ 2432641 h 2635089"/>
              <a:gd name="csX8" fmla="*/ 0 w 1413042"/>
              <a:gd name="csY8" fmla="*/ 2222255 h 2635089"/>
              <a:gd name="csX9" fmla="*/ 0 w 1413042"/>
              <a:gd name="csY9" fmla="*/ 2432641 h 26350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413042" h="2635089" stroke="0" extrusionOk="0">
                <a:moveTo>
                  <a:pt x="0" y="2432641"/>
                </a:moveTo>
                <a:lnTo>
                  <a:pt x="0" y="2432641"/>
                </a:lnTo>
                <a:cubicBezTo>
                  <a:pt x="780402" y="2432641"/>
                  <a:pt x="1413042" y="1888076"/>
                  <a:pt x="1413042" y="1216321"/>
                </a:cubicBezTo>
                <a:cubicBezTo>
                  <a:pt x="1413042" y="1888076"/>
                  <a:pt x="780402" y="2432641"/>
                  <a:pt x="0" y="2432641"/>
                </a:cubicBezTo>
                <a:lnTo>
                  <a:pt x="0" y="2432641"/>
                </a:lnTo>
                <a:close/>
              </a:path>
              <a:path w="1413042" h="2635089" fill="darkenLess" stroke="0" extrusionOk="0">
                <a:moveTo>
                  <a:pt x="1413042" y="1216320"/>
                </a:moveTo>
                <a:cubicBezTo>
                  <a:pt x="1413042" y="544565"/>
                  <a:pt x="780402" y="0"/>
                  <a:pt x="0" y="0"/>
                </a:cubicBezTo>
                <a:lnTo>
                  <a:pt x="0" y="0"/>
                </a:lnTo>
                <a:cubicBezTo>
                  <a:pt x="780402" y="0"/>
                  <a:pt x="1413042" y="544565"/>
                  <a:pt x="1413042" y="1216320"/>
                </a:cubicBezTo>
                <a:close/>
              </a:path>
              <a:path w="1413042" h="2635089" fill="none" extrusionOk="0">
                <a:moveTo>
                  <a:pt x="1413042" y="1216320"/>
                </a:moveTo>
                <a:cubicBezTo>
                  <a:pt x="1413042" y="544565"/>
                  <a:pt x="780402" y="0"/>
                  <a:pt x="0" y="0"/>
                </a:cubicBezTo>
                <a:lnTo>
                  <a:pt x="0" y="0"/>
                </a:lnTo>
                <a:cubicBezTo>
                  <a:pt x="780402" y="0"/>
                  <a:pt x="1413042" y="544565"/>
                  <a:pt x="1413042" y="1216320"/>
                </a:cubicBezTo>
                <a:lnTo>
                  <a:pt x="1413042" y="1216320"/>
                </a:lnTo>
                <a:cubicBezTo>
                  <a:pt x="1413042" y="1888075"/>
                  <a:pt x="780402" y="2432640"/>
                  <a:pt x="0" y="2432640"/>
                </a:cubicBezTo>
                <a:lnTo>
                  <a:pt x="0" y="2635089"/>
                </a:lnTo>
                <a:lnTo>
                  <a:pt x="0" y="2432641"/>
                </a:lnTo>
                <a:lnTo>
                  <a:pt x="0" y="2222255"/>
                </a:lnTo>
                <a:lnTo>
                  <a:pt x="0" y="2432641"/>
                </a:lnTo>
              </a:path>
            </a:pathLst>
          </a:custGeom>
          <a:gradFill flip="none" rotWithShape="1">
            <a:gsLst>
              <a:gs pos="0">
                <a:srgbClr val="BEF5A6"/>
              </a:gs>
              <a:gs pos="35000">
                <a:srgbClr val="D1F7C1"/>
              </a:gs>
              <a:gs pos="100000">
                <a:srgbClr val="EDFDE7"/>
              </a:gs>
            </a:gsLst>
            <a:lin ang="16200000" scaled="1"/>
            <a:tileRect/>
          </a:gradFill>
          <a:ln w="127000">
            <a:solidFill>
              <a:srgbClr val="6DAC43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5A92F69B-F371-069C-1BEC-2F4F0B8C6CD1}"/>
              </a:ext>
            </a:extLst>
          </p:cNvPr>
          <p:cNvSpPr/>
          <p:nvPr/>
        </p:nvSpPr>
        <p:spPr>
          <a:xfrm>
            <a:off x="526860" y="2271184"/>
            <a:ext cx="2007803" cy="1048206"/>
          </a:xfrm>
          <a:prstGeom prst="roundRect">
            <a:avLst/>
          </a:prstGeom>
          <a:gradFill flip="none" rotWithShape="1">
            <a:gsLst>
              <a:gs pos="0">
                <a:srgbClr val="BEF5A6"/>
              </a:gs>
              <a:gs pos="35000">
                <a:srgbClr val="D1F7C1"/>
              </a:gs>
              <a:gs pos="100000">
                <a:srgbClr val="EDFDE7"/>
              </a:gs>
            </a:gsLst>
            <a:lin ang="16200000" scaled="1"/>
            <a:tileRect/>
          </a:gradFill>
          <a:ln w="9525">
            <a:solidFill>
              <a:srgbClr val="6DAC43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>
                <a:latin typeface="+mn-ea"/>
              </a:rPr>
              <a:t>SNRS</a:t>
            </a:r>
            <a:endParaRPr kumimoji="1" lang="ja-JP" altLang="en-US" sz="3600" dirty="0">
              <a:latin typeface="+mn-ea"/>
            </a:endParaRPr>
          </a:p>
        </p:txBody>
      </p:sp>
      <p:sp>
        <p:nvSpPr>
          <p:cNvPr id="4" name="矢印: 左カーブ 3">
            <a:extLst>
              <a:ext uri="{FF2B5EF4-FFF2-40B4-BE49-F238E27FC236}">
                <a16:creationId xmlns:a16="http://schemas.microsoft.com/office/drawing/2014/main" id="{E4D8078D-2B3B-C59F-EB55-3916FAF86FC7}"/>
              </a:ext>
            </a:extLst>
          </p:cNvPr>
          <p:cNvSpPr/>
          <p:nvPr/>
        </p:nvSpPr>
        <p:spPr>
          <a:xfrm rot="10800000" flipH="1">
            <a:off x="4224551" y="3370929"/>
            <a:ext cx="1413042" cy="2432641"/>
          </a:xfrm>
          <a:custGeom>
            <a:avLst/>
            <a:gdLst>
              <a:gd name="csX0" fmla="*/ 0 w 1413042"/>
              <a:gd name="csY0" fmla="*/ 2432641 h 2785901"/>
              <a:gd name="csX1" fmla="*/ 0 w 1413042"/>
              <a:gd name="csY1" fmla="*/ 2079380 h 2785901"/>
              <a:gd name="csX2" fmla="*/ 0 w 1413042"/>
              <a:gd name="csY2" fmla="*/ 2432641 h 2785901"/>
              <a:gd name="csX3" fmla="*/ 1413042 w 1413042"/>
              <a:gd name="csY3" fmla="*/ 1216321 h 2785901"/>
              <a:gd name="csX4" fmla="*/ 0 w 1413042"/>
              <a:gd name="csY4" fmla="*/ 2432641 h 2785901"/>
              <a:gd name="csX5" fmla="*/ 0 w 1413042"/>
              <a:gd name="csY5" fmla="*/ 2785901 h 2785901"/>
              <a:gd name="csX6" fmla="*/ 0 w 1413042"/>
              <a:gd name="csY6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785901 h 2785901"/>
              <a:gd name="csX7" fmla="*/ 0 w 1413042"/>
              <a:gd name="csY7" fmla="*/ 2432641 h 2785901"/>
              <a:gd name="csX8" fmla="*/ 0 w 1413042"/>
              <a:gd name="csY8" fmla="*/ 2079380 h 2785901"/>
              <a:gd name="csX9" fmla="*/ 0 w 1413042"/>
              <a:gd name="csY9" fmla="*/ 2432641 h 2785901"/>
              <a:gd name="csX10" fmla="*/ 1413042 w 1413042"/>
              <a:gd name="csY10" fmla="*/ 1216321 h 2785901"/>
              <a:gd name="csX0" fmla="*/ 0 w 1413042"/>
              <a:gd name="csY0" fmla="*/ 2432641 h 2785901"/>
              <a:gd name="csX1" fmla="*/ 0 w 1413042"/>
              <a:gd name="csY1" fmla="*/ 2079380 h 2785901"/>
              <a:gd name="csX2" fmla="*/ 0 w 1413042"/>
              <a:gd name="csY2" fmla="*/ 2432641 h 2785901"/>
              <a:gd name="csX3" fmla="*/ 1413042 w 1413042"/>
              <a:gd name="csY3" fmla="*/ 1216321 h 2785901"/>
              <a:gd name="csX4" fmla="*/ 0 w 1413042"/>
              <a:gd name="csY4" fmla="*/ 2432641 h 2785901"/>
              <a:gd name="csX5" fmla="*/ 0 w 1413042"/>
              <a:gd name="csY5" fmla="*/ 2785901 h 2785901"/>
              <a:gd name="csX6" fmla="*/ 0 w 1413042"/>
              <a:gd name="csY6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432641 h 2785901"/>
              <a:gd name="csX7" fmla="*/ 0 w 1413042"/>
              <a:gd name="csY7" fmla="*/ 2079380 h 2785901"/>
              <a:gd name="csX8" fmla="*/ 0 w 1413042"/>
              <a:gd name="csY8" fmla="*/ 2432641 h 2785901"/>
              <a:gd name="csX9" fmla="*/ 1413042 w 1413042"/>
              <a:gd name="csY9" fmla="*/ 1216321 h 2785901"/>
              <a:gd name="csX0" fmla="*/ 0 w 1413042"/>
              <a:gd name="csY0" fmla="*/ 2432641 h 2785901"/>
              <a:gd name="csX1" fmla="*/ 0 w 1413042"/>
              <a:gd name="csY1" fmla="*/ 2079380 h 2785901"/>
              <a:gd name="csX2" fmla="*/ 0 w 1413042"/>
              <a:gd name="csY2" fmla="*/ 2432641 h 2785901"/>
              <a:gd name="csX3" fmla="*/ 1413042 w 1413042"/>
              <a:gd name="csY3" fmla="*/ 1216321 h 2785901"/>
              <a:gd name="csX4" fmla="*/ 0 w 1413042"/>
              <a:gd name="csY4" fmla="*/ 2432641 h 2785901"/>
              <a:gd name="csX5" fmla="*/ 0 w 1413042"/>
              <a:gd name="csY5" fmla="*/ 2785901 h 2785901"/>
              <a:gd name="csX6" fmla="*/ 0 w 1413042"/>
              <a:gd name="csY6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432641 h 2785901"/>
              <a:gd name="csX7" fmla="*/ 0 w 1413042"/>
              <a:gd name="csY7" fmla="*/ 2432641 h 2785901"/>
              <a:gd name="csX8" fmla="*/ 1413042 w 1413042"/>
              <a:gd name="csY8" fmla="*/ 1216321 h 2785901"/>
              <a:gd name="csX0" fmla="*/ 0 w 1413042"/>
              <a:gd name="csY0" fmla="*/ 2432641 h 2785901"/>
              <a:gd name="csX1" fmla="*/ 0 w 1413042"/>
              <a:gd name="csY1" fmla="*/ 2079380 h 2785901"/>
              <a:gd name="csX2" fmla="*/ 0 w 1413042"/>
              <a:gd name="csY2" fmla="*/ 2432641 h 2785901"/>
              <a:gd name="csX3" fmla="*/ 1413042 w 1413042"/>
              <a:gd name="csY3" fmla="*/ 1216321 h 2785901"/>
              <a:gd name="csX4" fmla="*/ 0 w 1413042"/>
              <a:gd name="csY4" fmla="*/ 2432641 h 2785901"/>
              <a:gd name="csX5" fmla="*/ 0 w 1413042"/>
              <a:gd name="csY5" fmla="*/ 2785901 h 2785901"/>
              <a:gd name="csX6" fmla="*/ 0 w 1413042"/>
              <a:gd name="csY6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432641 h 2785901"/>
              <a:gd name="csX7" fmla="*/ 0 w 1413042"/>
              <a:gd name="csY7" fmla="*/ 2432641 h 2785901"/>
              <a:gd name="csX0" fmla="*/ 0 w 1413042"/>
              <a:gd name="csY0" fmla="*/ 2432641 h 2785901"/>
              <a:gd name="csX1" fmla="*/ 0 w 1413042"/>
              <a:gd name="csY1" fmla="*/ 2432641 h 2785901"/>
              <a:gd name="csX2" fmla="*/ 1413042 w 1413042"/>
              <a:gd name="csY2" fmla="*/ 1216321 h 2785901"/>
              <a:gd name="csX3" fmla="*/ 0 w 1413042"/>
              <a:gd name="csY3" fmla="*/ 2432641 h 2785901"/>
              <a:gd name="csX4" fmla="*/ 0 w 1413042"/>
              <a:gd name="csY4" fmla="*/ 2785901 h 2785901"/>
              <a:gd name="csX5" fmla="*/ 0 w 1413042"/>
              <a:gd name="csY5" fmla="*/ 2432641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0" fmla="*/ 1413042 w 1413042"/>
              <a:gd name="csY0" fmla="*/ 1216320 h 2785901"/>
              <a:gd name="csX1" fmla="*/ 0 w 1413042"/>
              <a:gd name="csY1" fmla="*/ 0 h 2785901"/>
              <a:gd name="csX2" fmla="*/ 0 w 1413042"/>
              <a:gd name="csY2" fmla="*/ 0 h 2785901"/>
              <a:gd name="csX3" fmla="*/ 1413042 w 1413042"/>
              <a:gd name="csY3" fmla="*/ 1216320 h 2785901"/>
              <a:gd name="csX4" fmla="*/ 1413042 w 1413042"/>
              <a:gd name="csY4" fmla="*/ 1216320 h 2785901"/>
              <a:gd name="csX5" fmla="*/ 0 w 1413042"/>
              <a:gd name="csY5" fmla="*/ 2432640 h 2785901"/>
              <a:gd name="csX6" fmla="*/ 0 w 1413042"/>
              <a:gd name="csY6" fmla="*/ 2432641 h 2785901"/>
              <a:gd name="csX7" fmla="*/ 0 w 1413042"/>
              <a:gd name="csY7" fmla="*/ 2432641 h 2785901"/>
              <a:gd name="csX0" fmla="*/ 0 w 1413042"/>
              <a:gd name="csY0" fmla="*/ 2432641 h 2432641"/>
              <a:gd name="csX1" fmla="*/ 0 w 1413042"/>
              <a:gd name="csY1" fmla="*/ 2432641 h 2432641"/>
              <a:gd name="csX2" fmla="*/ 1413042 w 1413042"/>
              <a:gd name="csY2" fmla="*/ 1216321 h 2432641"/>
              <a:gd name="csX3" fmla="*/ 0 w 1413042"/>
              <a:gd name="csY3" fmla="*/ 2432641 h 2432641"/>
              <a:gd name="csX4" fmla="*/ 0 w 1413042"/>
              <a:gd name="csY4" fmla="*/ 2432641 h 2432641"/>
              <a:gd name="csX0" fmla="*/ 1413042 w 1413042"/>
              <a:gd name="csY0" fmla="*/ 1216320 h 2432641"/>
              <a:gd name="csX1" fmla="*/ 0 w 1413042"/>
              <a:gd name="csY1" fmla="*/ 0 h 2432641"/>
              <a:gd name="csX2" fmla="*/ 0 w 1413042"/>
              <a:gd name="csY2" fmla="*/ 0 h 2432641"/>
              <a:gd name="csX3" fmla="*/ 1413042 w 1413042"/>
              <a:gd name="csY3" fmla="*/ 1216320 h 2432641"/>
              <a:gd name="csX0" fmla="*/ 1413042 w 1413042"/>
              <a:gd name="csY0" fmla="*/ 1216320 h 2432641"/>
              <a:gd name="csX1" fmla="*/ 0 w 1413042"/>
              <a:gd name="csY1" fmla="*/ 0 h 2432641"/>
              <a:gd name="csX2" fmla="*/ 0 w 1413042"/>
              <a:gd name="csY2" fmla="*/ 0 h 2432641"/>
              <a:gd name="csX3" fmla="*/ 1413042 w 1413042"/>
              <a:gd name="csY3" fmla="*/ 1216320 h 2432641"/>
              <a:gd name="csX4" fmla="*/ 1413042 w 1413042"/>
              <a:gd name="csY4" fmla="*/ 1216320 h 2432641"/>
              <a:gd name="csX5" fmla="*/ 0 w 1413042"/>
              <a:gd name="csY5" fmla="*/ 2432640 h 2432641"/>
              <a:gd name="csX6" fmla="*/ 0 w 1413042"/>
              <a:gd name="csY6" fmla="*/ 2432641 h 2432641"/>
              <a:gd name="csX7" fmla="*/ 0 w 1413042"/>
              <a:gd name="csY7" fmla="*/ 2432641 h 2432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413042" h="2432641" stroke="0" extrusionOk="0">
                <a:moveTo>
                  <a:pt x="0" y="2432641"/>
                </a:moveTo>
                <a:lnTo>
                  <a:pt x="0" y="2432641"/>
                </a:lnTo>
                <a:cubicBezTo>
                  <a:pt x="780402" y="2432641"/>
                  <a:pt x="1413042" y="1888076"/>
                  <a:pt x="1413042" y="1216321"/>
                </a:cubicBezTo>
                <a:cubicBezTo>
                  <a:pt x="1413042" y="1888076"/>
                  <a:pt x="780402" y="2432641"/>
                  <a:pt x="0" y="2432641"/>
                </a:cubicBezTo>
                <a:lnTo>
                  <a:pt x="0" y="2432641"/>
                </a:lnTo>
                <a:close/>
              </a:path>
              <a:path w="1413042" h="2432641" fill="darkenLess" stroke="0" extrusionOk="0">
                <a:moveTo>
                  <a:pt x="1413042" y="1216320"/>
                </a:moveTo>
                <a:cubicBezTo>
                  <a:pt x="1413042" y="544565"/>
                  <a:pt x="780402" y="0"/>
                  <a:pt x="0" y="0"/>
                </a:cubicBezTo>
                <a:lnTo>
                  <a:pt x="0" y="0"/>
                </a:lnTo>
                <a:cubicBezTo>
                  <a:pt x="780402" y="0"/>
                  <a:pt x="1413042" y="544565"/>
                  <a:pt x="1413042" y="1216320"/>
                </a:cubicBezTo>
                <a:close/>
              </a:path>
              <a:path w="1413042" h="2432641" fill="none" extrusionOk="0">
                <a:moveTo>
                  <a:pt x="1413042" y="1216320"/>
                </a:moveTo>
                <a:cubicBezTo>
                  <a:pt x="1413042" y="544565"/>
                  <a:pt x="780402" y="0"/>
                  <a:pt x="0" y="0"/>
                </a:cubicBezTo>
                <a:lnTo>
                  <a:pt x="0" y="0"/>
                </a:lnTo>
                <a:cubicBezTo>
                  <a:pt x="780402" y="0"/>
                  <a:pt x="1413042" y="544565"/>
                  <a:pt x="1413042" y="1216320"/>
                </a:cubicBezTo>
                <a:lnTo>
                  <a:pt x="1413042" y="1216320"/>
                </a:lnTo>
                <a:cubicBezTo>
                  <a:pt x="1413042" y="1888075"/>
                  <a:pt x="780402" y="2432640"/>
                  <a:pt x="0" y="2432640"/>
                </a:cubicBezTo>
                <a:lnTo>
                  <a:pt x="0" y="2432641"/>
                </a:lnTo>
                <a:lnTo>
                  <a:pt x="0" y="2432641"/>
                </a:lnTo>
              </a:path>
            </a:pathLst>
          </a:custGeom>
          <a:gradFill flip="none" rotWithShape="1">
            <a:gsLst>
              <a:gs pos="0">
                <a:srgbClr val="BEF5A6"/>
              </a:gs>
              <a:gs pos="35000">
                <a:srgbClr val="D1F7C1"/>
              </a:gs>
              <a:gs pos="100000">
                <a:srgbClr val="EDFDE7"/>
              </a:gs>
            </a:gsLst>
            <a:lin ang="16200000" scaled="1"/>
            <a:tileRect/>
          </a:gradFill>
          <a:ln w="127000">
            <a:solidFill>
              <a:schemeClr val="accent4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D1B4CD8F-CBC3-62BF-80DA-9381C9068E12}"/>
              </a:ext>
            </a:extLst>
          </p:cNvPr>
          <p:cNvSpPr/>
          <p:nvPr/>
        </p:nvSpPr>
        <p:spPr>
          <a:xfrm>
            <a:off x="3770978" y="5431900"/>
            <a:ext cx="2007803" cy="1048206"/>
          </a:xfrm>
          <a:prstGeom prst="ellipse">
            <a:avLst/>
          </a:prstGeom>
          <a:gradFill flip="none" rotWithShape="1">
            <a:gsLst>
              <a:gs pos="0">
                <a:srgbClr val="FFAF86"/>
              </a:gs>
              <a:gs pos="35000">
                <a:srgbClr val="FFC6AB"/>
              </a:gs>
              <a:gs pos="100000">
                <a:srgbClr val="FFE7DC"/>
              </a:gs>
            </a:gsLst>
            <a:lin ang="16200000" scaled="1"/>
            <a:tileRect/>
          </a:gradFill>
          <a:ln w="9525">
            <a:solidFill>
              <a:srgbClr val="EC792B"/>
            </a:solidFill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 dirty="0">
                <a:latin typeface="+mn-ea"/>
              </a:rPr>
              <a:t>根粒</a:t>
            </a:r>
            <a:endParaRPr kumimoji="1" lang="en-US" altLang="ja-JP" sz="3200" dirty="0">
              <a:latin typeface="+mn-ea"/>
            </a:endParaRPr>
          </a:p>
          <a:p>
            <a:pPr algn="r"/>
            <a:r>
              <a:rPr kumimoji="1" lang="ja-JP" altLang="en-US" sz="3200" dirty="0">
                <a:latin typeface="+mn-ea"/>
              </a:rPr>
              <a:t>着生</a:t>
            </a:r>
          </a:p>
        </p:txBody>
      </p:sp>
      <p:sp>
        <p:nvSpPr>
          <p:cNvPr id="39" name="爆発: 8 pt 38">
            <a:extLst>
              <a:ext uri="{FF2B5EF4-FFF2-40B4-BE49-F238E27FC236}">
                <a16:creationId xmlns:a16="http://schemas.microsoft.com/office/drawing/2014/main" id="{929BD33B-00E7-36F5-6AB8-A8855669E02F}"/>
              </a:ext>
            </a:extLst>
          </p:cNvPr>
          <p:cNvSpPr/>
          <p:nvPr/>
        </p:nvSpPr>
        <p:spPr>
          <a:xfrm>
            <a:off x="664657" y="5335037"/>
            <a:ext cx="3020969" cy="1680513"/>
          </a:xfrm>
          <a:prstGeom prst="irregularSeal1">
            <a:avLst/>
          </a:prstGeom>
          <a:gradFill flip="none" rotWithShape="1">
            <a:gsLst>
              <a:gs pos="0">
                <a:srgbClr val="FFED78"/>
              </a:gs>
              <a:gs pos="35000">
                <a:srgbClr val="FFF0A1"/>
              </a:gs>
              <a:gs pos="100000">
                <a:srgbClr val="FFF9D7"/>
              </a:gs>
            </a:gsLst>
            <a:lin ang="16200000" scaled="1"/>
            <a:tileRect/>
          </a:gradFill>
          <a:ln w="9525">
            <a:solidFill>
              <a:srgbClr val="FFBF00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000" dirty="0">
                <a:latin typeface="+mn-ea"/>
              </a:rPr>
              <a:t>根粒着生が</a:t>
            </a:r>
            <a:endParaRPr kumimoji="1" lang="en-US" altLang="ja-JP" sz="2000" dirty="0">
              <a:latin typeface="+mn-ea"/>
            </a:endParaRPr>
          </a:p>
          <a:p>
            <a:pPr algn="ctr"/>
            <a:r>
              <a:rPr kumimoji="1" lang="ja-JP" altLang="en-US" sz="2000" dirty="0">
                <a:solidFill>
                  <a:srgbClr val="FF42A1"/>
                </a:solidFill>
                <a:latin typeface="+mn-ea"/>
              </a:rPr>
              <a:t>抑制</a:t>
            </a:r>
            <a:r>
              <a:rPr kumimoji="1" lang="ja-JP" altLang="en-US" sz="2000" dirty="0">
                <a:latin typeface="+mn-ea"/>
              </a:rPr>
              <a:t>される</a:t>
            </a:r>
          </a:p>
        </p:txBody>
      </p:sp>
    </p:spTree>
    <p:extLst>
      <p:ext uri="{BB962C8B-B14F-4D97-AF65-F5344CB8AC3E}">
        <p14:creationId xmlns:p14="http://schemas.microsoft.com/office/powerpoint/2010/main" val="2899724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8" grpId="0" animBg="1"/>
      <p:bldP spid="49" grpId="0" animBg="1"/>
      <p:bldP spid="4" grpId="0" animBg="1"/>
      <p:bldP spid="52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CAE8E4-554A-03C3-DD87-26590349B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研究材料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65C945-441F-E90D-4889-4421CEA240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altLang="ja-JP" dirty="0"/>
              <a:t>[Ref3: Williams82] Schmutz et al. (2010). </a:t>
            </a:r>
            <a:r>
              <a:rPr lang="en-US" altLang="ja-JP" i="1" dirty="0"/>
              <a:t>Nature</a:t>
            </a:r>
            <a:r>
              <a:rPr lang="en-US" altLang="ja-JP" dirty="0"/>
              <a:t> 463: 178 – 183; doi: </a:t>
            </a:r>
            <a:r>
              <a:rPr lang="en-US" altLang="ja-JP" dirty="0">
                <a:hlinkClick r:id="rId2"/>
              </a:rPr>
              <a:t>10.1038/nature08670</a:t>
            </a:r>
            <a:r>
              <a:rPr lang="en-US" altLang="ja-JP" dirty="0"/>
              <a:t>.</a:t>
            </a:r>
          </a:p>
          <a:p>
            <a:pPr>
              <a:lnSpc>
                <a:spcPct val="70000"/>
              </a:lnSpc>
            </a:pPr>
            <a:r>
              <a:rPr lang="en-US" altLang="ja-JP" dirty="0"/>
              <a:t>[Ref4: NOD1-3] Gremaud and Harper. (1989). </a:t>
            </a:r>
            <a:r>
              <a:rPr lang="en-US" altLang="ja-JP" i="1" dirty="0"/>
              <a:t>Plant</a:t>
            </a:r>
            <a:r>
              <a:rPr lang="en-US" altLang="ja-JP" dirty="0"/>
              <a:t> </a:t>
            </a:r>
            <a:r>
              <a:rPr lang="en-US" altLang="ja-JP" i="1" dirty="0"/>
              <a:t>Physiology</a:t>
            </a:r>
            <a:r>
              <a:rPr lang="en-US" altLang="ja-JP" dirty="0"/>
              <a:t> 89: 169 – 173; doi: </a:t>
            </a:r>
            <a:r>
              <a:rPr lang="en-US" altLang="ja-JP" dirty="0">
                <a:hlinkClick r:id="rId3"/>
              </a:rPr>
              <a:t>10.1104/pp.89.1.169</a:t>
            </a:r>
            <a:r>
              <a:rPr lang="en-US" altLang="ja-JP" dirty="0"/>
              <a:t>.</a:t>
            </a:r>
            <a:endParaRPr kumimoji="1" lang="ja-JP" altLang="en-US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1BEA07F-D6CB-E43D-C21A-92EAEDE0CE39}"/>
              </a:ext>
            </a:extLst>
          </p:cNvPr>
          <p:cNvGrpSpPr/>
          <p:nvPr/>
        </p:nvGrpSpPr>
        <p:grpSpPr>
          <a:xfrm>
            <a:off x="532863" y="1814445"/>
            <a:ext cx="9437047" cy="2206314"/>
            <a:chOff x="532863" y="1430115"/>
            <a:chExt cx="9437047" cy="2206314"/>
          </a:xfrm>
        </p:grpSpPr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4C31B2E2-A9CA-2C6B-5DCC-41D70DC22B8A}"/>
                </a:ext>
              </a:extLst>
            </p:cNvPr>
            <p:cNvSpPr/>
            <p:nvPr/>
          </p:nvSpPr>
          <p:spPr>
            <a:xfrm>
              <a:off x="532863" y="1799115"/>
              <a:ext cx="9437047" cy="1837314"/>
            </a:xfrm>
            <a:custGeom>
              <a:avLst/>
              <a:gdLst>
                <a:gd name="connsiteX0" fmla="*/ 0 w 9437047"/>
                <a:gd name="connsiteY0" fmla="*/ 0 h 2835000"/>
                <a:gd name="connsiteX1" fmla="*/ 9437047 w 9437047"/>
                <a:gd name="connsiteY1" fmla="*/ 0 h 2835000"/>
                <a:gd name="connsiteX2" fmla="*/ 9437047 w 9437047"/>
                <a:gd name="connsiteY2" fmla="*/ 2835000 h 2835000"/>
                <a:gd name="connsiteX3" fmla="*/ 0 w 9437047"/>
                <a:gd name="connsiteY3" fmla="*/ 2835000 h 2835000"/>
                <a:gd name="connsiteX4" fmla="*/ 0 w 9437047"/>
                <a:gd name="connsiteY4" fmla="*/ 0 h 283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37047" h="2835000">
                  <a:moveTo>
                    <a:pt x="0" y="0"/>
                  </a:moveTo>
                  <a:lnTo>
                    <a:pt x="9437047" y="0"/>
                  </a:lnTo>
                  <a:lnTo>
                    <a:pt x="9437047" y="2835000"/>
                  </a:lnTo>
                  <a:lnTo>
                    <a:pt x="0" y="2835000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accent3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2420" tIns="520700" rIns="732420" bIns="177800" numCol="1" spcCol="1270" anchor="t" anchorCtr="0">
              <a:noAutofit/>
            </a:bodyPr>
            <a:lstStyle/>
            <a:p>
              <a:pPr marL="452438" lvl="1" indent="-452438" algn="l" defTabSz="11112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u"/>
              </a:pPr>
              <a:r>
                <a:rPr kumimoji="1" lang="ja-JP" altLang="en-US" sz="2800" kern="1200" dirty="0">
                  <a:latin typeface="+mn-ea"/>
                </a:rPr>
                <a:t>ダイズ</a:t>
              </a:r>
              <a:r>
                <a:rPr kumimoji="1" lang="en-US" altLang="ja-JP" sz="2800" i="1" kern="1200" dirty="0">
                  <a:ea typeface="+mj-ea"/>
                </a:rPr>
                <a:t>Glycine max</a:t>
              </a:r>
              <a:endParaRPr kumimoji="1" lang="ja-JP" altLang="en-US" sz="2800" i="1" kern="1200" dirty="0">
                <a:ea typeface="+mj-ea"/>
              </a:endParaRPr>
            </a:p>
            <a:p>
              <a:pPr marL="895350" lvl="2" indent="-442913" algn="l" defTabSz="11112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n"/>
              </a:pPr>
              <a:r>
                <a:rPr kumimoji="1" lang="ja-JP" altLang="en-US" sz="2800" kern="1200" dirty="0">
                  <a:latin typeface="+mn-ea"/>
                </a:rPr>
                <a:t>通常着生株</a:t>
              </a:r>
              <a:r>
                <a:rPr kumimoji="1" lang="en-US" altLang="ja-JP" sz="2800" kern="1200" dirty="0"/>
                <a:t>: </a:t>
              </a:r>
              <a:r>
                <a:rPr kumimoji="1" lang="en-US" altLang="ja-JP" sz="2800" kern="1200" dirty="0">
                  <a:ea typeface="+mj-ea"/>
                </a:rPr>
                <a:t>Williams82</a:t>
              </a:r>
              <a:endParaRPr kumimoji="1" lang="ja-JP" altLang="en-US" sz="2800" kern="1200" baseline="30000" dirty="0">
                <a:solidFill>
                  <a:srgbClr val="0563C1"/>
                </a:solidFill>
                <a:ea typeface="+mj-ea"/>
              </a:endParaRPr>
            </a:p>
            <a:p>
              <a:pPr marL="895350" lvl="2" indent="-442913" algn="l" defTabSz="11112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n"/>
              </a:pPr>
              <a:r>
                <a:rPr kumimoji="1" lang="ja-JP" altLang="en-US" sz="2800" kern="1200" dirty="0">
                  <a:latin typeface="+mn-ea"/>
                </a:rPr>
                <a:t>根粒超多着生変異株</a:t>
              </a:r>
              <a:r>
                <a:rPr kumimoji="1" lang="en-US" altLang="ja-JP" sz="2800" kern="1200" dirty="0"/>
                <a:t>: </a:t>
              </a:r>
              <a:r>
                <a:rPr kumimoji="1" lang="en-US" altLang="ja-JP" sz="2800" kern="1200" dirty="0">
                  <a:ea typeface="+mj-ea"/>
                </a:rPr>
                <a:t>NOD1-3</a:t>
              </a:r>
              <a:endParaRPr kumimoji="1" lang="en-US" altLang="ja-JP" sz="2800" kern="1200" baseline="30000" dirty="0">
                <a:solidFill>
                  <a:srgbClr val="0563C1"/>
                </a:solidFill>
                <a:ea typeface="+mj-ea"/>
              </a:endParaRPr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CC1E5874-9B66-52E2-0873-8A5F24493DB7}"/>
                </a:ext>
              </a:extLst>
            </p:cNvPr>
            <p:cNvSpPr/>
            <p:nvPr/>
          </p:nvSpPr>
          <p:spPr>
            <a:xfrm>
              <a:off x="1004715" y="1430115"/>
              <a:ext cx="2062950" cy="738000"/>
            </a:xfrm>
            <a:custGeom>
              <a:avLst/>
              <a:gdLst>
                <a:gd name="connsiteX0" fmla="*/ 0 w 6605932"/>
                <a:gd name="connsiteY0" fmla="*/ 123002 h 738000"/>
                <a:gd name="connsiteX1" fmla="*/ 123002 w 6605932"/>
                <a:gd name="connsiteY1" fmla="*/ 0 h 738000"/>
                <a:gd name="connsiteX2" fmla="*/ 6482930 w 6605932"/>
                <a:gd name="connsiteY2" fmla="*/ 0 h 738000"/>
                <a:gd name="connsiteX3" fmla="*/ 6605932 w 6605932"/>
                <a:gd name="connsiteY3" fmla="*/ 123002 h 738000"/>
                <a:gd name="connsiteX4" fmla="*/ 6605932 w 6605932"/>
                <a:gd name="connsiteY4" fmla="*/ 614998 h 738000"/>
                <a:gd name="connsiteX5" fmla="*/ 6482930 w 6605932"/>
                <a:gd name="connsiteY5" fmla="*/ 738000 h 738000"/>
                <a:gd name="connsiteX6" fmla="*/ 123002 w 6605932"/>
                <a:gd name="connsiteY6" fmla="*/ 738000 h 738000"/>
                <a:gd name="connsiteX7" fmla="*/ 0 w 6605932"/>
                <a:gd name="connsiteY7" fmla="*/ 614998 h 738000"/>
                <a:gd name="connsiteX8" fmla="*/ 0 w 6605932"/>
                <a:gd name="connsiteY8" fmla="*/ 123002 h 73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5932" h="738000">
                  <a:moveTo>
                    <a:pt x="0" y="123002"/>
                  </a:moveTo>
                  <a:cubicBezTo>
                    <a:pt x="0" y="55070"/>
                    <a:pt x="55070" y="0"/>
                    <a:pt x="123002" y="0"/>
                  </a:cubicBezTo>
                  <a:lnTo>
                    <a:pt x="6482930" y="0"/>
                  </a:lnTo>
                  <a:cubicBezTo>
                    <a:pt x="6550862" y="0"/>
                    <a:pt x="6605932" y="55070"/>
                    <a:pt x="6605932" y="123002"/>
                  </a:cubicBezTo>
                  <a:lnTo>
                    <a:pt x="6605932" y="614998"/>
                  </a:lnTo>
                  <a:cubicBezTo>
                    <a:pt x="6605932" y="682930"/>
                    <a:pt x="6550862" y="738000"/>
                    <a:pt x="6482930" y="738000"/>
                  </a:cubicBezTo>
                  <a:lnTo>
                    <a:pt x="123002" y="738000"/>
                  </a:lnTo>
                  <a:cubicBezTo>
                    <a:pt x="55070" y="738000"/>
                    <a:pt x="0" y="682930"/>
                    <a:pt x="0" y="614998"/>
                  </a:cubicBezTo>
                  <a:lnTo>
                    <a:pt x="0" y="123002"/>
                  </a:lnTo>
                  <a:close/>
                </a:path>
              </a:pathLst>
            </a:custGeom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spcFirstLastPara="0" vert="horz" wrap="square" lIns="285715" tIns="36026" rIns="285715" bIns="36026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ja-JP" altLang="en-US" sz="2500" kern="1200">
                  <a:latin typeface="+mj-ea"/>
                  <a:ea typeface="+mj-ea"/>
                </a:rPr>
                <a:t>供試植物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BCEF041-A775-C343-4DE1-4CF1C28D3A71}"/>
              </a:ext>
            </a:extLst>
          </p:cNvPr>
          <p:cNvGrpSpPr/>
          <p:nvPr/>
        </p:nvGrpSpPr>
        <p:grpSpPr>
          <a:xfrm>
            <a:off x="532863" y="4525238"/>
            <a:ext cx="9437047" cy="1904625"/>
            <a:chOff x="532863" y="4769115"/>
            <a:chExt cx="9437047" cy="1904625"/>
          </a:xfrm>
        </p:grpSpPr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E9ACC0CD-DBE3-C506-C37A-C79A6DB895E9}"/>
                </a:ext>
              </a:extLst>
            </p:cNvPr>
            <p:cNvSpPr/>
            <p:nvPr/>
          </p:nvSpPr>
          <p:spPr>
            <a:xfrm>
              <a:off x="532863" y="5138115"/>
              <a:ext cx="9437047" cy="1535625"/>
            </a:xfrm>
            <a:custGeom>
              <a:avLst/>
              <a:gdLst>
                <a:gd name="connsiteX0" fmla="*/ 0 w 9437047"/>
                <a:gd name="connsiteY0" fmla="*/ 0 h 1535625"/>
                <a:gd name="connsiteX1" fmla="*/ 9437047 w 9437047"/>
                <a:gd name="connsiteY1" fmla="*/ 0 h 1535625"/>
                <a:gd name="connsiteX2" fmla="*/ 9437047 w 9437047"/>
                <a:gd name="connsiteY2" fmla="*/ 1535625 h 1535625"/>
                <a:gd name="connsiteX3" fmla="*/ 0 w 9437047"/>
                <a:gd name="connsiteY3" fmla="*/ 1535625 h 1535625"/>
                <a:gd name="connsiteX4" fmla="*/ 0 w 9437047"/>
                <a:gd name="connsiteY4" fmla="*/ 0 h 153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37047" h="1535625">
                  <a:moveTo>
                    <a:pt x="0" y="0"/>
                  </a:moveTo>
                  <a:lnTo>
                    <a:pt x="9437047" y="0"/>
                  </a:lnTo>
                  <a:lnTo>
                    <a:pt x="9437047" y="1535625"/>
                  </a:lnTo>
                  <a:lnTo>
                    <a:pt x="0" y="1535625"/>
                  </a:lnTo>
                  <a:lnTo>
                    <a:pt x="0" y="0"/>
                  </a:lnTo>
                  <a:close/>
                </a:path>
              </a:pathLst>
            </a:custGeom>
            <a:ln>
              <a:solidFill>
                <a:schemeClr val="accent4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32420" tIns="520700" rIns="732420" bIns="177800" numCol="1" spcCol="1270" anchor="t" anchorCtr="0">
              <a:noAutofit/>
            </a:bodyPr>
            <a:lstStyle/>
            <a:p>
              <a:pPr marL="452438" lvl="1" indent="-452438" algn="l" defTabSz="11112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u"/>
              </a:pPr>
              <a:r>
                <a:rPr kumimoji="1" lang="ja-JP" altLang="en-US" sz="2800" kern="1200" dirty="0">
                  <a:latin typeface="+mn-ea"/>
                </a:rPr>
                <a:t>ダイズ根粒菌</a:t>
              </a:r>
            </a:p>
            <a:p>
              <a:pPr marL="895350" lvl="2" indent="-442913" defTabSz="11112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n"/>
              </a:pPr>
              <a:r>
                <a:rPr kumimoji="1" lang="en-US" altLang="ja-JP" sz="2800" i="1" kern="1200" dirty="0">
                  <a:ea typeface="+mj-ea"/>
                </a:rPr>
                <a:t>Bradyrhizobium </a:t>
              </a:r>
              <a:r>
                <a:rPr lang="en-US" altLang="ja-JP" sz="2800" i="1" dirty="0"/>
                <a:t>japonicum</a:t>
              </a:r>
              <a:r>
                <a:rPr kumimoji="1" lang="en-US" altLang="ja-JP" sz="2800" i="1" kern="1200" dirty="0">
                  <a:ea typeface="+mj-ea"/>
                </a:rPr>
                <a:t> </a:t>
              </a:r>
              <a:r>
                <a:rPr kumimoji="1" lang="en-US" altLang="ja-JP" sz="2800" kern="1200" dirty="0">
                  <a:ea typeface="+mj-ea"/>
                </a:rPr>
                <a:t>USDA110</a:t>
              </a:r>
              <a:r>
                <a:rPr kumimoji="1" lang="ja-JP" altLang="en-US" sz="2800" kern="1200" dirty="0">
                  <a:latin typeface="+mn-ea"/>
                </a:rPr>
                <a:t>株</a:t>
              </a:r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0A920EE8-8A06-FFDB-2CE2-DFA8BEA3133B}"/>
                </a:ext>
              </a:extLst>
            </p:cNvPr>
            <p:cNvSpPr/>
            <p:nvPr/>
          </p:nvSpPr>
          <p:spPr>
            <a:xfrm>
              <a:off x="1004715" y="4769115"/>
              <a:ext cx="2062950" cy="738000"/>
            </a:xfrm>
            <a:custGeom>
              <a:avLst/>
              <a:gdLst>
                <a:gd name="connsiteX0" fmla="*/ 0 w 6605932"/>
                <a:gd name="connsiteY0" fmla="*/ 123002 h 738000"/>
                <a:gd name="connsiteX1" fmla="*/ 123002 w 6605932"/>
                <a:gd name="connsiteY1" fmla="*/ 0 h 738000"/>
                <a:gd name="connsiteX2" fmla="*/ 6482930 w 6605932"/>
                <a:gd name="connsiteY2" fmla="*/ 0 h 738000"/>
                <a:gd name="connsiteX3" fmla="*/ 6605932 w 6605932"/>
                <a:gd name="connsiteY3" fmla="*/ 123002 h 738000"/>
                <a:gd name="connsiteX4" fmla="*/ 6605932 w 6605932"/>
                <a:gd name="connsiteY4" fmla="*/ 614998 h 738000"/>
                <a:gd name="connsiteX5" fmla="*/ 6482930 w 6605932"/>
                <a:gd name="connsiteY5" fmla="*/ 738000 h 738000"/>
                <a:gd name="connsiteX6" fmla="*/ 123002 w 6605932"/>
                <a:gd name="connsiteY6" fmla="*/ 738000 h 738000"/>
                <a:gd name="connsiteX7" fmla="*/ 0 w 6605932"/>
                <a:gd name="connsiteY7" fmla="*/ 614998 h 738000"/>
                <a:gd name="connsiteX8" fmla="*/ 0 w 6605932"/>
                <a:gd name="connsiteY8" fmla="*/ 123002 h 73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5932" h="738000">
                  <a:moveTo>
                    <a:pt x="0" y="123002"/>
                  </a:moveTo>
                  <a:cubicBezTo>
                    <a:pt x="0" y="55070"/>
                    <a:pt x="55070" y="0"/>
                    <a:pt x="123002" y="0"/>
                  </a:cubicBezTo>
                  <a:lnTo>
                    <a:pt x="6482930" y="0"/>
                  </a:lnTo>
                  <a:cubicBezTo>
                    <a:pt x="6550862" y="0"/>
                    <a:pt x="6605932" y="55070"/>
                    <a:pt x="6605932" y="123002"/>
                  </a:cubicBezTo>
                  <a:lnTo>
                    <a:pt x="6605932" y="614998"/>
                  </a:lnTo>
                  <a:cubicBezTo>
                    <a:pt x="6605932" y="682930"/>
                    <a:pt x="6550862" y="738000"/>
                    <a:pt x="6482930" y="738000"/>
                  </a:cubicBezTo>
                  <a:lnTo>
                    <a:pt x="123002" y="738000"/>
                  </a:lnTo>
                  <a:cubicBezTo>
                    <a:pt x="55070" y="738000"/>
                    <a:pt x="0" y="682930"/>
                    <a:pt x="0" y="614998"/>
                  </a:cubicBezTo>
                  <a:lnTo>
                    <a:pt x="0" y="123002"/>
                  </a:lnTo>
                  <a:close/>
                </a:path>
              </a:pathLst>
            </a:custGeom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285715" tIns="36026" rIns="285715" bIns="36026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ja-JP" altLang="en-US" sz="2500" kern="1200" dirty="0">
                  <a:latin typeface="+mn-ea"/>
                </a:rPr>
                <a:t>供試菌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661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4E441E6E-0A30-CA88-9345-8D6728A7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要旨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3F98EF4-F0F6-8BDD-AF30-41866881396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pPr marL="804863" indent="-627063">
              <a:lnSpc>
                <a:spcPct val="100000"/>
              </a:lnSpc>
            </a:pPr>
            <a:r>
              <a:rPr lang="ja-JP" altLang="en-US" sz="2100" dirty="0"/>
              <a:t>マメ科植物の根粒数は，全身的調節の一種である</a:t>
            </a:r>
            <a:r>
              <a:rPr lang="ja-JP" altLang="en-US" sz="2100" dirty="0">
                <a:solidFill>
                  <a:schemeClr val="accent6"/>
                </a:solidFill>
              </a:rPr>
              <a:t>「自己調節（オートレギュレーション）」</a:t>
            </a:r>
            <a:r>
              <a:rPr lang="ja-JP" altLang="en-US" sz="2100" dirty="0"/>
              <a:t>によって制御されている．</a:t>
            </a:r>
            <a:endParaRPr lang="en-US" altLang="ja-JP" sz="2100" dirty="0"/>
          </a:p>
          <a:p>
            <a:pPr marL="804863" indent="-627063">
              <a:lnSpc>
                <a:spcPct val="100000"/>
              </a:lnSpc>
            </a:pPr>
            <a:r>
              <a:rPr lang="ja-JP" altLang="en-US" sz="2100" dirty="0"/>
              <a:t>この相互作用における鍵物質が，野生型ダイズ品種</a:t>
            </a:r>
            <a:r>
              <a:rPr lang="en-US" altLang="ja-JP" sz="2100" dirty="0"/>
              <a:t>Williams82</a:t>
            </a:r>
            <a:r>
              <a:rPr lang="ja-JP" altLang="en-US" sz="2100" dirty="0"/>
              <a:t>のシュート抽出物のエタノール可溶性中極性画分に含まれる，</a:t>
            </a:r>
            <a:r>
              <a:rPr lang="ja-JP" altLang="en-US" sz="2100" dirty="0">
                <a:solidFill>
                  <a:schemeClr val="accent6"/>
                </a:solidFill>
              </a:rPr>
              <a:t>根粒着生抑制物質（</a:t>
            </a:r>
            <a:r>
              <a:rPr lang="en-US" altLang="ja-JP" sz="2100" dirty="0">
                <a:solidFill>
                  <a:schemeClr val="accent6"/>
                </a:solidFill>
              </a:rPr>
              <a:t>SNRS</a:t>
            </a:r>
            <a:r>
              <a:rPr lang="ja-JP" altLang="en-US" sz="2100" dirty="0">
                <a:solidFill>
                  <a:schemeClr val="accent6"/>
                </a:solidFill>
              </a:rPr>
              <a:t>）</a:t>
            </a:r>
            <a:r>
              <a:rPr lang="ja-JP" altLang="en-US" sz="2100" dirty="0"/>
              <a:t>である．</a:t>
            </a:r>
          </a:p>
          <a:p>
            <a:pPr marL="804863" indent="-627063">
              <a:lnSpc>
                <a:spcPct val="100000"/>
              </a:lnSpc>
            </a:pPr>
            <a:r>
              <a:rPr lang="ja-JP" altLang="en-US" sz="2100" dirty="0"/>
              <a:t>本研究では，野生型ダイズの抽出液を高速液体クロマトグラフィー（</a:t>
            </a:r>
            <a:r>
              <a:rPr lang="en-US" altLang="ja-JP" sz="2100" dirty="0"/>
              <a:t>HPLC</a:t>
            </a:r>
            <a:r>
              <a:rPr lang="ja-JP" altLang="en-US" sz="2100" dirty="0"/>
              <a:t>）によって分離し，エタノール可溶性画分の</a:t>
            </a:r>
            <a:r>
              <a:rPr lang="en-US" altLang="ja-JP" sz="2100" dirty="0"/>
              <a:t>2</a:t>
            </a:r>
            <a:r>
              <a:rPr lang="ja-JP" altLang="en-US" sz="2100" dirty="0"/>
              <a:t>つの異なる</a:t>
            </a:r>
            <a:r>
              <a:rPr lang="en-US" altLang="ja-JP" sz="2100" dirty="0"/>
              <a:t>HPLC</a:t>
            </a:r>
            <a:r>
              <a:rPr lang="ja-JP" altLang="en-US" sz="2100" dirty="0"/>
              <a:t>ピーク（</a:t>
            </a:r>
            <a:r>
              <a:rPr lang="en-US" altLang="ja-JP" sz="2100" dirty="0"/>
              <a:t>P-1</a:t>
            </a:r>
            <a:r>
              <a:rPr lang="ja-JP" altLang="en-US" sz="2100" dirty="0"/>
              <a:t>，</a:t>
            </a:r>
            <a:r>
              <a:rPr lang="en-US" altLang="ja-JP" sz="2100" dirty="0"/>
              <a:t>P-2</a:t>
            </a:r>
            <a:r>
              <a:rPr lang="ja-JP" altLang="en-US" sz="2100" dirty="0"/>
              <a:t>）に</a:t>
            </a:r>
            <a:r>
              <a:rPr lang="en-US" altLang="ja-JP" sz="2100" dirty="0"/>
              <a:t>SNRS</a:t>
            </a:r>
            <a:r>
              <a:rPr lang="ja-JP" altLang="en-US" sz="2100" dirty="0"/>
              <a:t>活性を検出した．</a:t>
            </a:r>
            <a:endParaRPr lang="en-US" altLang="ja-JP" sz="2100" dirty="0"/>
          </a:p>
          <a:p>
            <a:pPr marL="804863" indent="-627063">
              <a:lnSpc>
                <a:spcPct val="100000"/>
              </a:lnSpc>
            </a:pPr>
            <a:r>
              <a:rPr lang="ja-JP" altLang="en-US" sz="2100" dirty="0"/>
              <a:t>これらの</a:t>
            </a:r>
            <a:r>
              <a:rPr lang="en-US" altLang="ja-JP" sz="2100" dirty="0"/>
              <a:t>P-1</a:t>
            </a:r>
            <a:r>
              <a:rPr lang="ja-JP" altLang="en-US" sz="2100" dirty="0"/>
              <a:t>および</a:t>
            </a:r>
            <a:r>
              <a:rPr lang="en-US" altLang="ja-JP" sz="2100" dirty="0"/>
              <a:t>P-2</a:t>
            </a:r>
            <a:r>
              <a:rPr lang="ja-JP" altLang="en-US" sz="2100" dirty="0"/>
              <a:t>ピークは，野生型</a:t>
            </a:r>
            <a:r>
              <a:rPr lang="en-US" altLang="ja-JP" sz="2100" dirty="0"/>
              <a:t>Williams82</a:t>
            </a:r>
            <a:r>
              <a:rPr lang="ja-JP" altLang="en-US" sz="2100" dirty="0"/>
              <a:t>の</a:t>
            </a:r>
            <a:r>
              <a:rPr lang="ja-JP" altLang="en-US" sz="2100" dirty="0">
                <a:solidFill>
                  <a:schemeClr val="accent6"/>
                </a:solidFill>
              </a:rPr>
              <a:t>篩管液（</a:t>
            </a:r>
            <a:r>
              <a:rPr lang="en-US" altLang="ja-JP" sz="2100" dirty="0">
                <a:solidFill>
                  <a:schemeClr val="accent6"/>
                </a:solidFill>
              </a:rPr>
              <a:t>phloem sap</a:t>
            </a:r>
            <a:r>
              <a:rPr lang="ja-JP" altLang="en-US" sz="2100" dirty="0">
                <a:solidFill>
                  <a:schemeClr val="accent6"/>
                </a:solidFill>
              </a:rPr>
              <a:t>）</a:t>
            </a:r>
            <a:r>
              <a:rPr lang="ja-JP" altLang="en-US" sz="2100" dirty="0"/>
              <a:t>中に検出されたが，</a:t>
            </a:r>
            <a:r>
              <a:rPr lang="ja-JP" altLang="en-US" sz="2100" dirty="0">
                <a:latin typeface="+mj-ea"/>
              </a:rPr>
              <a:t>根粒超多着生変異株</a:t>
            </a:r>
            <a:r>
              <a:rPr lang="en-US" altLang="ja-JP" sz="2100" dirty="0"/>
              <a:t>NOD1-3</a:t>
            </a:r>
            <a:r>
              <a:rPr lang="ja-JP" altLang="en-US" sz="2100" dirty="0"/>
              <a:t>の液中には検出されなかった．</a:t>
            </a:r>
            <a:endParaRPr lang="en-US" altLang="ja-JP" sz="2100" dirty="0"/>
          </a:p>
          <a:p>
            <a:pPr marL="804863" indent="-627063">
              <a:lnSpc>
                <a:spcPct val="100000"/>
              </a:lnSpc>
            </a:pPr>
            <a:r>
              <a:rPr lang="ja-JP" altLang="en-US" sz="2100" dirty="0"/>
              <a:t>紫外吸収スペクトルの比較により，</a:t>
            </a:r>
            <a:r>
              <a:rPr lang="en-US" altLang="ja-JP" sz="2100" dirty="0"/>
              <a:t>P-1</a:t>
            </a:r>
            <a:r>
              <a:rPr lang="ja-JP" altLang="en-US" sz="2100" dirty="0"/>
              <a:t>および</a:t>
            </a:r>
            <a:r>
              <a:rPr lang="en-US" altLang="ja-JP" sz="2100" dirty="0"/>
              <a:t>P-2</a:t>
            </a:r>
            <a:r>
              <a:rPr lang="ja-JP" altLang="en-US" sz="2100" dirty="0"/>
              <a:t>には</a:t>
            </a:r>
            <a:r>
              <a:rPr lang="ja-JP" altLang="en-US" sz="2100" dirty="0">
                <a:solidFill>
                  <a:schemeClr val="accent6"/>
                </a:solidFill>
              </a:rPr>
              <a:t>サリチル酸，ジャスモン酸メチル，アブシジン酸，スペルミン，スペルミジンは含まれていないことが示唆された</a:t>
            </a:r>
            <a:r>
              <a:rPr lang="ja-JP" altLang="en-US" sz="2100" dirty="0"/>
              <a:t>．</a:t>
            </a:r>
          </a:p>
          <a:p>
            <a:pPr marL="804863" indent="-627063">
              <a:lnSpc>
                <a:spcPct val="100000"/>
              </a:lnSpc>
            </a:pPr>
            <a:r>
              <a:rPr lang="en-US" altLang="ja-JP" sz="2100" dirty="0"/>
              <a:t>P-1</a:t>
            </a:r>
            <a:r>
              <a:rPr lang="ja-JP" altLang="en-US" sz="2100" dirty="0"/>
              <a:t>および</a:t>
            </a:r>
            <a:r>
              <a:rPr lang="en-US" altLang="ja-JP" sz="2100" dirty="0"/>
              <a:t>P-2</a:t>
            </a:r>
            <a:r>
              <a:rPr lang="ja-JP" altLang="en-US" sz="2100" dirty="0"/>
              <a:t>ピークの純度はまだ不明であるものの，これらの中に</a:t>
            </a:r>
            <a:r>
              <a:rPr lang="en-US" altLang="ja-JP" sz="2100" dirty="0">
                <a:solidFill>
                  <a:schemeClr val="accent6"/>
                </a:solidFill>
              </a:rPr>
              <a:t>2</a:t>
            </a:r>
            <a:r>
              <a:rPr lang="ja-JP" altLang="en-US" sz="2100" dirty="0">
                <a:solidFill>
                  <a:schemeClr val="accent6"/>
                </a:solidFill>
              </a:rPr>
              <a:t>つ以上の</a:t>
            </a:r>
            <a:r>
              <a:rPr lang="en-US" altLang="ja-JP" sz="2100" dirty="0">
                <a:solidFill>
                  <a:schemeClr val="accent6"/>
                </a:solidFill>
              </a:rPr>
              <a:t>SNRS</a:t>
            </a:r>
            <a:r>
              <a:rPr lang="ja-JP" altLang="en-US" sz="2100" dirty="0">
                <a:solidFill>
                  <a:schemeClr val="accent6"/>
                </a:solidFill>
              </a:rPr>
              <a:t>が含まれている</a:t>
            </a:r>
            <a:r>
              <a:rPr lang="ja-JP" altLang="en-US" sz="2100" dirty="0"/>
              <a:t>ことを示唆している．</a:t>
            </a:r>
          </a:p>
        </p:txBody>
      </p:sp>
    </p:spTree>
    <p:extLst>
      <p:ext uri="{BB962C8B-B14F-4D97-AF65-F5344CB8AC3E}">
        <p14:creationId xmlns:p14="http://schemas.microsoft.com/office/powerpoint/2010/main" val="170646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C2AEFEA-9EC7-C924-FD41-AEB9ADCDFF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地上部物質の抽出と分離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E569DB4-C015-BBEF-AB07-54E68ED4922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03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AD06F43-D231-3603-67C3-42A6A5C60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行われた実験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CB0171-C140-4F1D-F3A1-488104388DB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 dirty="0"/>
              <a:t>初期調製</a:t>
            </a:r>
            <a:endParaRPr kumimoji="1" lang="en-US" altLang="ja-JP" dirty="0"/>
          </a:p>
          <a:p>
            <a:r>
              <a:rPr kumimoji="1" lang="ja-JP" altLang="en-US" dirty="0"/>
              <a:t>固相抽出による中極性画分の回収</a:t>
            </a:r>
            <a:endParaRPr kumimoji="1" lang="en-US" altLang="ja-JP" dirty="0"/>
          </a:p>
          <a:p>
            <a:r>
              <a:rPr lang="ja-JP" altLang="en-US" dirty="0"/>
              <a:t>活性有無の判別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56731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FF20E8-2E01-76D8-28D8-F9F43277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栽培条件と材料の準備</a:t>
            </a:r>
          </a:p>
        </p:txBody>
      </p:sp>
      <p:sp>
        <p:nvSpPr>
          <p:cNvPr id="12" name="テキスト プレースホルダー 2">
            <a:extLst>
              <a:ext uri="{FF2B5EF4-FFF2-40B4-BE49-F238E27FC236}">
                <a16:creationId xmlns:a16="http://schemas.microsoft.com/office/drawing/2014/main" id="{2F0F9DFD-962E-DE47-6050-42A3331344F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4124DC8-C9C0-D3B5-043F-A7D1B0F2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4002" y="1621552"/>
            <a:ext cx="6166973" cy="298685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E11D1AC-6D9A-9CB9-B91B-879928619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16666" y="4789550"/>
            <a:ext cx="6166973" cy="204451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11ABD73-7A34-AD4E-9442-CEA8D0E8446C}"/>
              </a:ext>
            </a:extLst>
          </p:cNvPr>
          <p:cNvSpPr/>
          <p:nvPr/>
        </p:nvSpPr>
        <p:spPr>
          <a:xfrm>
            <a:off x="5588794" y="4155281"/>
            <a:ext cx="692944" cy="326232"/>
          </a:xfrm>
          <a:prstGeom prst="rect">
            <a:avLst/>
          </a:prstGeom>
          <a:solidFill>
            <a:srgbClr val="EDF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A95840-D07B-6548-72F4-6D219CFD319C}"/>
              </a:ext>
            </a:extLst>
          </p:cNvPr>
          <p:cNvSpPr txBox="1"/>
          <p:nvPr/>
        </p:nvSpPr>
        <p:spPr>
          <a:xfrm>
            <a:off x="5513387" y="41449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+mj-ea"/>
                <a:ea typeface="+mj-ea"/>
              </a:rPr>
              <a:t>土圃場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CE3185A-BF56-EDC4-406F-38104403A2FA}"/>
              </a:ext>
            </a:extLst>
          </p:cNvPr>
          <p:cNvSpPr/>
          <p:nvPr/>
        </p:nvSpPr>
        <p:spPr>
          <a:xfrm>
            <a:off x="8543925" y="5911850"/>
            <a:ext cx="1333500" cy="282575"/>
          </a:xfrm>
          <a:prstGeom prst="rect">
            <a:avLst/>
          </a:prstGeom>
          <a:solidFill>
            <a:srgbClr val="EEF3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E83DD5A-5400-70E6-8144-F7A99B87EF3F}"/>
              </a:ext>
            </a:extLst>
          </p:cNvPr>
          <p:cNvSpPr txBox="1"/>
          <p:nvPr/>
        </p:nvSpPr>
        <p:spPr>
          <a:xfrm>
            <a:off x="8439150" y="588434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+mj-ea"/>
                <a:ea typeface="+mj-ea"/>
              </a:rPr>
              <a:t>篩管液採取用</a:t>
            </a:r>
          </a:p>
        </p:txBody>
      </p:sp>
    </p:spTree>
    <p:extLst>
      <p:ext uri="{BB962C8B-B14F-4D97-AF65-F5344CB8AC3E}">
        <p14:creationId xmlns:p14="http://schemas.microsoft.com/office/powerpoint/2010/main" val="4132689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DD8225-A840-8546-DDB1-A017C4E3A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初期調製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90F4C3-A293-735E-E818-AD3C262146C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02E58CA-7AE7-BC06-BC28-BAAB1FB99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082" y="1844358"/>
            <a:ext cx="10455647" cy="463364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8F13DF3-387A-16BA-9423-4DF06FDF5C01}"/>
              </a:ext>
            </a:extLst>
          </p:cNvPr>
          <p:cNvSpPr/>
          <p:nvPr/>
        </p:nvSpPr>
        <p:spPr>
          <a:xfrm>
            <a:off x="7910513" y="5543550"/>
            <a:ext cx="990600" cy="261938"/>
          </a:xfrm>
          <a:prstGeom prst="rect">
            <a:avLst/>
          </a:prstGeom>
          <a:solidFill>
            <a:srgbClr val="EBF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59B093F-2E00-0FC3-AD32-08793BD8F109}"/>
              </a:ext>
            </a:extLst>
          </p:cNvPr>
          <p:cNvSpPr txBox="1"/>
          <p:nvPr/>
        </p:nvSpPr>
        <p:spPr>
          <a:xfrm>
            <a:off x="7864639" y="5527477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+mj-ea"/>
                <a:ea typeface="+mj-ea"/>
              </a:rPr>
              <a:t>超遠心ろ過</a:t>
            </a:r>
          </a:p>
        </p:txBody>
      </p:sp>
    </p:spTree>
    <p:extLst>
      <p:ext uri="{BB962C8B-B14F-4D97-AF65-F5344CB8AC3E}">
        <p14:creationId xmlns:p14="http://schemas.microsoft.com/office/powerpoint/2010/main" val="239198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E0C05-7DD3-A3B7-A4AC-3BABE48A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72C8B-38B1-4295-EAC2-63C8FC47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固相抽出による中極性画分の回収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919A43A-CF1C-DF25-0B6E-AAB31E58EE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2DEFD8BB-15B9-F80B-B3CB-806BA4F1F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148" y="2568355"/>
            <a:ext cx="10455647" cy="318565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F4CABC5-4B2C-3440-C74C-5EDECED0002C}"/>
              </a:ext>
            </a:extLst>
          </p:cNvPr>
          <p:cNvSpPr/>
          <p:nvPr/>
        </p:nvSpPr>
        <p:spPr>
          <a:xfrm>
            <a:off x="9515475" y="2662238"/>
            <a:ext cx="433388" cy="252412"/>
          </a:xfrm>
          <a:prstGeom prst="rect">
            <a:avLst/>
          </a:prstGeom>
          <a:solidFill>
            <a:srgbClr val="7172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F1ED5A-C15A-FB26-A3BC-E91AED870125}"/>
              </a:ext>
            </a:extLst>
          </p:cNvPr>
          <p:cNvSpPr txBox="1"/>
          <p:nvPr/>
        </p:nvSpPr>
        <p:spPr>
          <a:xfrm>
            <a:off x="9444177" y="262869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solidFill>
                  <a:schemeClr val="bg1"/>
                </a:solidFill>
                <a:latin typeface="+mj-ea"/>
                <a:ea typeface="+mj-ea"/>
              </a:rPr>
              <a:t>分離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53B80D9-BA69-5A7B-6B96-9830A245C8E0}"/>
              </a:ext>
            </a:extLst>
          </p:cNvPr>
          <p:cNvSpPr/>
          <p:nvPr/>
        </p:nvSpPr>
        <p:spPr>
          <a:xfrm>
            <a:off x="7610475" y="4324351"/>
            <a:ext cx="423862" cy="266700"/>
          </a:xfrm>
          <a:prstGeom prst="rect">
            <a:avLst/>
          </a:prstGeom>
          <a:solidFill>
            <a:srgbClr val="6E6F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9E3C8E-AAF4-4DA5-C638-7CD2BDA99035}"/>
              </a:ext>
            </a:extLst>
          </p:cNvPr>
          <p:cNvSpPr txBox="1"/>
          <p:nvPr/>
        </p:nvSpPr>
        <p:spPr>
          <a:xfrm>
            <a:off x="7560061" y="428842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solidFill>
                  <a:schemeClr val="bg1"/>
                </a:solidFill>
                <a:latin typeface="+mj-ea"/>
                <a:ea typeface="+mj-ea"/>
              </a:rPr>
              <a:t>抽出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88011E7-98CC-F5B9-221A-4C43CF205112}"/>
              </a:ext>
            </a:extLst>
          </p:cNvPr>
          <p:cNvSpPr/>
          <p:nvPr/>
        </p:nvSpPr>
        <p:spPr>
          <a:xfrm>
            <a:off x="8791575" y="4591051"/>
            <a:ext cx="957263" cy="228599"/>
          </a:xfrm>
          <a:prstGeom prst="rect">
            <a:avLst/>
          </a:prstGeom>
          <a:solidFill>
            <a:srgbClr val="EBF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CC8A01-365B-4E34-2EF4-41E709A97F09}"/>
              </a:ext>
            </a:extLst>
          </p:cNvPr>
          <p:cNvSpPr txBox="1"/>
          <p:nvPr/>
        </p:nvSpPr>
        <p:spPr>
          <a:xfrm>
            <a:off x="8729032" y="455146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+mj-ea"/>
                <a:ea typeface="+mj-ea"/>
              </a:rPr>
              <a:t>中極性画分</a:t>
            </a:r>
          </a:p>
        </p:txBody>
      </p:sp>
    </p:spTree>
    <p:extLst>
      <p:ext uri="{BB962C8B-B14F-4D97-AF65-F5344CB8AC3E}">
        <p14:creationId xmlns:p14="http://schemas.microsoft.com/office/powerpoint/2010/main" val="14353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D0AD1C-EAFF-322D-7F6E-09A5E5CC4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4A1C3-BC09-2403-8B7C-F2DE30D12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バイオアッセイ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53272C20-E4ED-64A5-0F70-87DACF5677C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ACE664-D87A-6630-7E83-0B8575ECE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4002" y="2742946"/>
            <a:ext cx="4993126" cy="296139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B545CD0-1CF1-8E17-D8F6-345878C1B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02811" y="1908858"/>
            <a:ext cx="3933800" cy="462957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E74AF8E-1005-EF7F-D1BB-D814E6EE53F4}"/>
              </a:ext>
            </a:extLst>
          </p:cNvPr>
          <p:cNvSpPr/>
          <p:nvPr/>
        </p:nvSpPr>
        <p:spPr>
          <a:xfrm>
            <a:off x="8412956" y="2762250"/>
            <a:ext cx="614363" cy="235744"/>
          </a:xfrm>
          <a:prstGeom prst="rect">
            <a:avLst/>
          </a:prstGeom>
          <a:solidFill>
            <a:srgbClr val="EEF3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1B66E5-B5E2-280D-10E9-A80EF1E34028}"/>
              </a:ext>
            </a:extLst>
          </p:cNvPr>
          <p:cNvSpPr txBox="1"/>
          <p:nvPr/>
        </p:nvSpPr>
        <p:spPr>
          <a:xfrm>
            <a:off x="8322470" y="2725131"/>
            <a:ext cx="814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>
                <a:latin typeface="+mj-ea"/>
                <a:ea typeface="+mj-ea"/>
              </a:rPr>
              <a:t>蒸留水</a:t>
            </a:r>
          </a:p>
        </p:txBody>
      </p:sp>
    </p:spTree>
    <p:extLst>
      <p:ext uri="{BB962C8B-B14F-4D97-AF65-F5344CB8AC3E}">
        <p14:creationId xmlns:p14="http://schemas.microsoft.com/office/powerpoint/2010/main" val="664290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B0CC6A-6968-D5F6-87F1-A1D925DE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EE9083-81B8-4C53-0A71-3D6C83643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篩管液の採取</a:t>
            </a:r>
          </a:p>
        </p:txBody>
      </p:sp>
      <p:sp>
        <p:nvSpPr>
          <p:cNvPr id="6" name="テキスト プレースホルダー 2">
            <a:extLst>
              <a:ext uri="{FF2B5EF4-FFF2-40B4-BE49-F238E27FC236}">
                <a16:creationId xmlns:a16="http://schemas.microsoft.com/office/drawing/2014/main" id="{538DBB52-9C8D-22B6-140D-17D53A3DBD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41E3D50-E1EE-F73E-419B-BC5959AFC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1929" y="2264033"/>
            <a:ext cx="4242440" cy="379429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0AE6B66-B8B8-60CA-42A4-640DB9D37C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27304" y="2264033"/>
            <a:ext cx="4242440" cy="379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4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25C470F-9657-9440-EEE8-7CF9BCD14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310505-AF13-B547-4975-B0674512A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活性有無の判別</a:t>
            </a:r>
          </a:p>
        </p:txBody>
      </p:sp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D6ADE7CB-2591-B87E-7CB4-66530E803E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F67CAE8-87BA-3E60-0130-579D9B390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1467" y="2081048"/>
            <a:ext cx="8988878" cy="426023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7DE12A6-57B9-3B58-F687-81E0340DD993}"/>
              </a:ext>
            </a:extLst>
          </p:cNvPr>
          <p:cNvSpPr/>
          <p:nvPr/>
        </p:nvSpPr>
        <p:spPr>
          <a:xfrm>
            <a:off x="1609726" y="5410200"/>
            <a:ext cx="1463040" cy="358140"/>
          </a:xfrm>
          <a:prstGeom prst="rect">
            <a:avLst/>
          </a:prstGeom>
          <a:solidFill>
            <a:srgbClr val="DD6C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0A1A42-AEC7-9DED-8A1D-6FE711945C79}"/>
              </a:ext>
            </a:extLst>
          </p:cNvPr>
          <p:cNvSpPr txBox="1"/>
          <p:nvPr/>
        </p:nvSpPr>
        <p:spPr>
          <a:xfrm>
            <a:off x="1557880" y="5373826"/>
            <a:ext cx="15953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200" dirty="0">
                <a:solidFill>
                  <a:srgbClr val="FCF9EE"/>
                </a:solidFill>
              </a:rPr>
              <a:t>成熟根粒数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7F8D1E3-0556-5D12-6D8B-D396FDB670A3}"/>
              </a:ext>
            </a:extLst>
          </p:cNvPr>
          <p:cNvSpPr/>
          <p:nvPr/>
        </p:nvSpPr>
        <p:spPr>
          <a:xfrm>
            <a:off x="7172325" y="5634038"/>
            <a:ext cx="1078706" cy="302418"/>
          </a:xfrm>
          <a:prstGeom prst="rect">
            <a:avLst/>
          </a:prstGeom>
          <a:solidFill>
            <a:srgbClr val="E9F1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2142A6-2919-98D7-6492-1AFEAE0B090E}"/>
              </a:ext>
            </a:extLst>
          </p:cNvPr>
          <p:cNvSpPr txBox="1"/>
          <p:nvPr/>
        </p:nvSpPr>
        <p:spPr>
          <a:xfrm>
            <a:off x="7103209" y="5596964"/>
            <a:ext cx="126188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dirty="0">
                <a:latin typeface="+mj-ea"/>
                <a:ea typeface="+mj-ea"/>
              </a:rPr>
              <a:t>根粒形成</a:t>
            </a:r>
          </a:p>
        </p:txBody>
      </p:sp>
    </p:spTree>
    <p:extLst>
      <p:ext uri="{BB962C8B-B14F-4D97-AF65-F5344CB8AC3E}">
        <p14:creationId xmlns:p14="http://schemas.microsoft.com/office/powerpoint/2010/main" val="390143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8ACFE-7A55-9448-85E0-940C77A1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62F8A29-6383-B66B-62F7-01DD9B3FFD61}"/>
              </a:ext>
            </a:extLst>
          </p:cNvPr>
          <p:cNvSpPr/>
          <p:nvPr/>
        </p:nvSpPr>
        <p:spPr>
          <a:xfrm>
            <a:off x="4772678" y="2153087"/>
            <a:ext cx="1120588" cy="4016188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ピーク分け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30AC479C-27AD-F918-C6C8-784959A6C381}"/>
              </a:ext>
            </a:extLst>
          </p:cNvPr>
          <p:cNvSpPr/>
          <p:nvPr/>
        </p:nvSpPr>
        <p:spPr>
          <a:xfrm>
            <a:off x="8712666" y="2153087"/>
            <a:ext cx="1120588" cy="4016188"/>
          </a:xfrm>
          <a:prstGeom prst="rect">
            <a:avLst/>
          </a:prstGeom>
          <a:gradFill flip="none" rotWithShape="1">
            <a:gsLst>
              <a:gs pos="0">
                <a:schemeClr val="accent3">
                  <a:tint val="66000"/>
                  <a:satMod val="160000"/>
                </a:schemeClr>
              </a:gs>
              <a:gs pos="50000">
                <a:schemeClr val="accent3">
                  <a:tint val="44500"/>
                  <a:satMod val="160000"/>
                </a:schemeClr>
              </a:gs>
              <a:gs pos="100000">
                <a:schemeClr val="accent3">
                  <a:tint val="23500"/>
                  <a:satMod val="160000"/>
                </a:schemeClr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バイオアッセイ</a:t>
            </a:r>
            <a:endParaRPr kumimoji="1" lang="en-US" altLang="ja-JP" sz="3200" dirty="0">
              <a:solidFill>
                <a:schemeClr val="tx1"/>
              </a:solidFill>
            </a:endParaRP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0380D43-2AEC-A367-3C31-6A96347AF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>
                <a:latin typeface="+mn-ea"/>
              </a:rPr>
              <a:t>実験フロー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AC533E4-0B8F-F3D1-5B0A-6128B994741C}"/>
              </a:ext>
            </a:extLst>
          </p:cNvPr>
          <p:cNvSpPr/>
          <p:nvPr/>
        </p:nvSpPr>
        <p:spPr>
          <a:xfrm>
            <a:off x="832690" y="2153087"/>
            <a:ext cx="1120588" cy="401618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en-US" altLang="ja-JP" sz="3200" dirty="0">
                <a:solidFill>
                  <a:schemeClr val="tx1"/>
                </a:solidFill>
              </a:rPr>
              <a:t>HPLC </a:t>
            </a:r>
            <a:r>
              <a:rPr kumimoji="1" lang="ja-JP" altLang="en-US" sz="3200" dirty="0">
                <a:solidFill>
                  <a:schemeClr val="tx1"/>
                </a:solidFill>
              </a:rPr>
              <a:t>分画</a:t>
            </a:r>
          </a:p>
        </p:txBody>
      </p:sp>
      <p:sp>
        <p:nvSpPr>
          <p:cNvPr id="25" name="二等辺三角形 24">
            <a:extLst>
              <a:ext uri="{FF2B5EF4-FFF2-40B4-BE49-F238E27FC236}">
                <a16:creationId xmlns:a16="http://schemas.microsoft.com/office/drawing/2014/main" id="{AA2C4AE4-0109-B435-A9D1-708E9CBE9761}"/>
              </a:ext>
            </a:extLst>
          </p:cNvPr>
          <p:cNvSpPr/>
          <p:nvPr/>
        </p:nvSpPr>
        <p:spPr>
          <a:xfrm rot="5400000">
            <a:off x="3059006" y="3879802"/>
            <a:ext cx="607942" cy="562759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二等辺三角形 25">
            <a:extLst>
              <a:ext uri="{FF2B5EF4-FFF2-40B4-BE49-F238E27FC236}">
                <a16:creationId xmlns:a16="http://schemas.microsoft.com/office/drawing/2014/main" id="{7BD96D13-9800-FA42-C1AA-86B21520F8C5}"/>
              </a:ext>
            </a:extLst>
          </p:cNvPr>
          <p:cNvSpPr/>
          <p:nvPr/>
        </p:nvSpPr>
        <p:spPr>
          <a:xfrm rot="5400000">
            <a:off x="6998995" y="3852907"/>
            <a:ext cx="607942" cy="562759"/>
          </a:xfrm>
          <a:prstGeom prst="triangle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353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 animBg="1"/>
      <p:bldP spid="22" grpId="0" animBg="1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14AE68B-B816-C487-0601-51E89F23E6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分画後のバイオアッセイの結果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C78BF5-B267-E847-D91B-8BE859B88BB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04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D98B2EB1-B757-B6DE-D13A-0E20979D2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生物活性の読み取り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0605D8-76D8-2F0A-5B0E-4D72E3F1FA6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ja-JP" altLang="en-US" dirty="0"/>
              <a:t>全体の分画フローチャート</a:t>
            </a:r>
            <a:endParaRPr kumimoji="1" lang="en-US" altLang="ja-JP" dirty="0"/>
          </a:p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画分 </a:t>
            </a:r>
            <a:r>
              <a:rPr lang="en-US" altLang="ja-JP" dirty="0"/>
              <a:t>– </a:t>
            </a:r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画分</a:t>
            </a:r>
            <a:endParaRPr lang="en-US" altLang="ja-JP" dirty="0"/>
          </a:p>
          <a:p>
            <a:r>
              <a:rPr kumimoji="1" lang="en-US" altLang="ja-JP" dirty="0"/>
              <a:t>UV</a:t>
            </a:r>
            <a:r>
              <a:rPr kumimoji="1" lang="ja-JP" altLang="en-US" dirty="0"/>
              <a:t>スペクトルの比較</a:t>
            </a:r>
          </a:p>
        </p:txBody>
      </p:sp>
    </p:spTree>
    <p:extLst>
      <p:ext uri="{BB962C8B-B14F-4D97-AF65-F5344CB8AC3E}">
        <p14:creationId xmlns:p14="http://schemas.microsoft.com/office/powerpoint/2010/main" val="212895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1F758-07E0-F8CE-B5F5-5E6E2CB8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A2C8A-E03A-3056-B5FF-5D5AEE54C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分画フローチャート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CAD65B5-CD4F-045B-4F1C-E467C2E2E8A3}"/>
              </a:ext>
            </a:extLst>
          </p:cNvPr>
          <p:cNvSpPr/>
          <p:nvPr/>
        </p:nvSpPr>
        <p:spPr>
          <a:xfrm>
            <a:off x="3771056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ピーク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分け</a:t>
            </a:r>
            <a:endParaRPr kumimoji="1" lang="en-US" altLang="ja-JP" sz="2000" kern="1200" dirty="0">
              <a:latin typeface="+mn-ea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A29086D-4050-8F11-2219-58A8A6DD319F}"/>
              </a:ext>
            </a:extLst>
          </p:cNvPr>
          <p:cNvSpPr/>
          <p:nvPr/>
        </p:nvSpPr>
        <p:spPr>
          <a:xfrm>
            <a:off x="2066503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粗分画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HPLC</a:t>
            </a:r>
            <a:endParaRPr kumimoji="1" lang="ja-JP" altLang="en-US" sz="1600" kern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711C0738-C1E2-2DAE-DE89-239BB899F06D}"/>
              </a:ext>
            </a:extLst>
          </p:cNvPr>
          <p:cNvSpPr/>
          <p:nvPr/>
        </p:nvSpPr>
        <p:spPr>
          <a:xfrm>
            <a:off x="361951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固相抽出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C18</a:t>
            </a:r>
            <a:r>
              <a:rPr kumimoji="1" lang="ja-JP" altLang="en-US" sz="1600" dirty="0">
                <a:latin typeface="+mn-ea"/>
              </a:rPr>
              <a:t>カラム</a:t>
            </a:r>
            <a:endParaRPr kumimoji="1" lang="ja-JP" altLang="en-US" sz="1600" kern="1200" dirty="0">
              <a:latin typeface="+mn-ea"/>
            </a:endParaRPr>
          </a:p>
        </p:txBody>
      </p: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FE0D84DC-44C2-CAE2-2850-F8075263AE1B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3405794" y="3745468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B8476D63-6B68-FDE3-3749-69CCCBE4CA32}"/>
              </a:ext>
            </a:extLst>
          </p:cNvPr>
          <p:cNvCxnSpPr>
            <a:stCxn id="19" idx="3"/>
            <a:endCxn id="41" idx="1"/>
          </p:cNvCxnSpPr>
          <p:nvPr/>
        </p:nvCxnSpPr>
        <p:spPr>
          <a:xfrm>
            <a:off x="3405794" y="3974171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525EB1CE-731F-0743-D51A-449A0FC551C3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 flipV="1">
            <a:off x="3405794" y="5346390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E26B174B-E3CF-10BB-937B-E7EB062984C7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>
            <a:off x="3405794" y="5575093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C81C719E-23AA-2B7F-4DA1-07991679751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1701242" y="3974171"/>
            <a:ext cx="487015" cy="10291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3E0BBBC0-CCA9-61F7-5563-F03760E90D96}"/>
              </a:ext>
            </a:extLst>
          </p:cNvPr>
          <p:cNvCxnSpPr>
            <a:stCxn id="17" idx="3"/>
            <a:endCxn id="43" idx="1"/>
          </p:cNvCxnSpPr>
          <p:nvPr/>
        </p:nvCxnSpPr>
        <p:spPr>
          <a:xfrm>
            <a:off x="1701242" y="5003335"/>
            <a:ext cx="487015" cy="571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82BA48B4-B672-9DC3-136F-386CF947A1BA}"/>
              </a:ext>
            </a:extLst>
          </p:cNvPr>
          <p:cNvCxnSpPr>
            <a:stCxn id="17" idx="3"/>
            <a:endCxn id="55" idx="1"/>
          </p:cNvCxnSpPr>
          <p:nvPr/>
        </p:nvCxnSpPr>
        <p:spPr>
          <a:xfrm>
            <a:off x="1701242" y="5003335"/>
            <a:ext cx="487015" cy="10291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3F8E971A-8ADB-7EA4-0287-10C562013FC3}"/>
              </a:ext>
            </a:extLst>
          </p:cNvPr>
          <p:cNvSpPr/>
          <p:nvPr/>
        </p:nvSpPr>
        <p:spPr>
          <a:xfrm>
            <a:off x="483705" y="4804463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1600" kern="1200" dirty="0">
                <a:latin typeface="+mn-ea"/>
              </a:rPr>
              <a:t>中極性画分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A86751EA-2A9A-8E4C-4232-02E8ED6AD54F}"/>
              </a:ext>
            </a:extLst>
          </p:cNvPr>
          <p:cNvSpPr/>
          <p:nvPr/>
        </p:nvSpPr>
        <p:spPr>
          <a:xfrm>
            <a:off x="2188257" y="3775299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F1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21FC20A-9FE0-2F84-AF79-BFCFC41F5804}"/>
              </a:ext>
            </a:extLst>
          </p:cNvPr>
          <p:cNvSpPr/>
          <p:nvPr/>
        </p:nvSpPr>
        <p:spPr>
          <a:xfrm>
            <a:off x="3892811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F1A1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F50DEE98-5A6C-6879-BCAA-4DF5BA888C79}"/>
              </a:ext>
            </a:extLst>
          </p:cNvPr>
          <p:cNvSpPr/>
          <p:nvPr/>
        </p:nvSpPr>
        <p:spPr>
          <a:xfrm>
            <a:off x="3892811" y="4004002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F1A2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FA31D8B8-C8B8-A132-A5E7-7E026F389C8D}"/>
              </a:ext>
            </a:extLst>
          </p:cNvPr>
          <p:cNvSpPr/>
          <p:nvPr/>
        </p:nvSpPr>
        <p:spPr>
          <a:xfrm>
            <a:off x="2188257" y="5376221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F2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A121E9FC-3F00-D677-EF57-3EF9056AA3E5}"/>
              </a:ext>
            </a:extLst>
          </p:cNvPr>
          <p:cNvSpPr/>
          <p:nvPr/>
        </p:nvSpPr>
        <p:spPr>
          <a:xfrm>
            <a:off x="3892811" y="5147518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F2B1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084173D2-1249-0EA6-3767-9407F6FA61E2}"/>
              </a:ext>
            </a:extLst>
          </p:cNvPr>
          <p:cNvSpPr/>
          <p:nvPr/>
        </p:nvSpPr>
        <p:spPr>
          <a:xfrm>
            <a:off x="3892811" y="5604924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F2B2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8443C0D6-EA52-9F8C-9B92-829B8277C27C}"/>
              </a:ext>
            </a:extLst>
          </p:cNvPr>
          <p:cNvSpPr/>
          <p:nvPr/>
        </p:nvSpPr>
        <p:spPr>
          <a:xfrm>
            <a:off x="2188257" y="5833627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F3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4C418504-50DD-E862-AAC8-3B3A7BD7128E}"/>
              </a:ext>
            </a:extLst>
          </p:cNvPr>
          <p:cNvSpPr/>
          <p:nvPr/>
        </p:nvSpPr>
        <p:spPr>
          <a:xfrm>
            <a:off x="2188253" y="3775683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F1</a:t>
            </a:r>
            <a:endParaRPr kumimoji="1" lang="ja-JP" altLang="en-US" sz="1600" kern="12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906476B-4BD4-E103-2417-107AB002F377}"/>
              </a:ext>
            </a:extLst>
          </p:cNvPr>
          <p:cNvSpPr/>
          <p:nvPr/>
        </p:nvSpPr>
        <p:spPr>
          <a:xfrm>
            <a:off x="2186709" y="5375837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F2</a:t>
            </a:r>
            <a:endParaRPr kumimoji="1" lang="ja-JP" altLang="en-US" sz="1600" kern="12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49B041D-25FA-220C-05FA-2907A64413A4}"/>
              </a:ext>
            </a:extLst>
          </p:cNvPr>
          <p:cNvSpPr/>
          <p:nvPr/>
        </p:nvSpPr>
        <p:spPr>
          <a:xfrm>
            <a:off x="3892809" y="3546438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F1A1</a:t>
            </a:r>
            <a:endParaRPr kumimoji="1" lang="ja-JP" altLang="en-US" sz="1600" kern="12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5B427A0C-E331-4D16-97FC-085ED6E295D5}"/>
              </a:ext>
            </a:extLst>
          </p:cNvPr>
          <p:cNvSpPr/>
          <p:nvPr/>
        </p:nvSpPr>
        <p:spPr>
          <a:xfrm>
            <a:off x="3891263" y="5147518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F2B1</a:t>
            </a:r>
            <a:endParaRPr kumimoji="1" lang="ja-JP" altLang="en-US" sz="1600" kern="1200" dirty="0"/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F800B5FF-F0AB-BA66-0668-25D3C7A42040}"/>
              </a:ext>
            </a:extLst>
          </p:cNvPr>
          <p:cNvSpPr/>
          <p:nvPr/>
        </p:nvSpPr>
        <p:spPr>
          <a:xfrm>
            <a:off x="234053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0 w 1813465"/>
              <a:gd name="csY5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j-ea"/>
                <a:ea typeface="+mj-ea"/>
              </a:rPr>
              <a:t>事前分離</a:t>
            </a:r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E61A8CC9-A439-594F-F4B0-9422068C6278}"/>
              </a:ext>
            </a:extLst>
          </p:cNvPr>
          <p:cNvSpPr/>
          <p:nvPr/>
        </p:nvSpPr>
        <p:spPr>
          <a:xfrm>
            <a:off x="1944749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 dirty="0">
                <a:latin typeface="+mj-lt"/>
              </a:rPr>
              <a:t>Fig1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BFFF0C01-3B19-757A-F701-8C942EE250D6}"/>
              </a:ext>
            </a:extLst>
          </p:cNvPr>
          <p:cNvSpPr/>
          <p:nvPr/>
        </p:nvSpPr>
        <p:spPr>
          <a:xfrm>
            <a:off x="3646209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 dirty="0">
                <a:latin typeface="+mj-lt"/>
              </a:rPr>
              <a:t>Fig2</a:t>
            </a:r>
            <a:endParaRPr kumimoji="1" lang="ja-JP" altLang="en-US" sz="2000" kern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9812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0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9" grpId="0" animBg="1"/>
      <p:bldP spid="19" grpId="1" animBg="1"/>
      <p:bldP spid="21" grpId="0" animBg="1"/>
      <p:bldP spid="21" grpId="1" animBg="1"/>
      <p:bldP spid="41" grpId="0" animBg="1"/>
      <p:bldP spid="43" grpId="0" animBg="1"/>
      <p:bldP spid="43" grpId="1" animBg="1"/>
      <p:bldP spid="45" grpId="0" animBg="1"/>
      <p:bldP spid="45" grpId="1" animBg="1"/>
      <p:bldP spid="53" grpId="0" animBg="1"/>
      <p:bldP spid="55" grpId="0" animBg="1"/>
      <p:bldP spid="3" grpId="0" animBg="1"/>
      <p:bldP spid="4" grpId="0" animBg="1"/>
      <p:bldP spid="5" grpId="0" animBg="1"/>
      <p:bldP spid="6" grpId="0" animBg="1"/>
      <p:bldP spid="30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EF43-095B-866D-68C4-6785EA47D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6C8F15-5756-01A2-5A0D-3514AAED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HPLC</a:t>
            </a:r>
            <a:r>
              <a:rPr kumimoji="1" lang="ja-JP" altLang="en-US" dirty="0"/>
              <a:t>分画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857298-9D65-7035-7DAC-483FBFC9B7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01A2F598-CE46-03FF-3B45-E867AEA4BD3F}"/>
              </a:ext>
            </a:extLst>
          </p:cNvPr>
          <p:cNvGrpSpPr/>
          <p:nvPr/>
        </p:nvGrpSpPr>
        <p:grpSpPr>
          <a:xfrm>
            <a:off x="123066" y="2313608"/>
            <a:ext cx="10445680" cy="3695145"/>
            <a:chOff x="2667063" y="2973562"/>
            <a:chExt cx="10445680" cy="3695145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A2D55077-6900-7030-A30A-4CB5F22AB009}"/>
                </a:ext>
              </a:extLst>
            </p:cNvPr>
            <p:cNvGrpSpPr/>
            <p:nvPr/>
          </p:nvGrpSpPr>
          <p:grpSpPr>
            <a:xfrm>
              <a:off x="2667063" y="2973562"/>
              <a:ext cx="10445680" cy="3695145"/>
              <a:chOff x="2810901" y="2507340"/>
              <a:chExt cx="10445680" cy="3695145"/>
            </a:xfrm>
          </p:grpSpPr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642BC63C-E811-6FD4-448E-DA4CB18CD07C}"/>
                  </a:ext>
                </a:extLst>
              </p:cNvPr>
              <p:cNvGrpSpPr/>
              <p:nvPr/>
            </p:nvGrpSpPr>
            <p:grpSpPr>
              <a:xfrm>
                <a:off x="2810901" y="2507340"/>
                <a:ext cx="10445680" cy="3695145"/>
                <a:chOff x="758405" y="1419119"/>
                <a:chExt cx="9175001" cy="3245644"/>
              </a:xfrm>
            </p:grpSpPr>
            <p:pic>
              <p:nvPicPr>
                <p:cNvPr id="6" name="図 5">
                  <a:extLst>
                    <a:ext uri="{FF2B5EF4-FFF2-40B4-BE49-F238E27FC236}">
                      <a16:creationId xmlns:a16="http://schemas.microsoft.com/office/drawing/2014/main" id="{A8A4E408-59BE-4043-73BD-F29BBC45F7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758405" y="1419119"/>
                  <a:ext cx="9175001" cy="3245644"/>
                </a:xfrm>
                <a:prstGeom prst="rect">
                  <a:avLst/>
                </a:prstGeom>
              </p:spPr>
            </p:pic>
            <p:pic>
              <p:nvPicPr>
                <p:cNvPr id="10" name="図 9">
                  <a:extLst>
                    <a:ext uri="{FF2B5EF4-FFF2-40B4-BE49-F238E27FC236}">
                      <a16:creationId xmlns:a16="http://schemas.microsoft.com/office/drawing/2014/main" id="{993FF9C2-24C9-C385-3E71-ADBC1B1180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>
                <a:xfrm>
                  <a:off x="8359140" y="3267817"/>
                  <a:ext cx="1036320" cy="389783"/>
                </a:xfrm>
                <a:prstGeom prst="rect">
                  <a:avLst/>
                </a:prstGeom>
              </p:spPr>
            </p:pic>
          </p:grp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881A0860-B4CD-A20D-264F-E57194E9CB21}"/>
                  </a:ext>
                </a:extLst>
              </p:cNvPr>
              <p:cNvSpPr/>
              <p:nvPr/>
            </p:nvSpPr>
            <p:spPr>
              <a:xfrm>
                <a:off x="4957780" y="3979917"/>
                <a:ext cx="631183" cy="297311"/>
              </a:xfrm>
              <a:prstGeom prst="rect">
                <a:avLst/>
              </a:prstGeom>
              <a:solidFill>
                <a:srgbClr val="E8F0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73C298EE-F5AD-3B6E-815A-CBF5435C2A26}"/>
                </a:ext>
              </a:extLst>
            </p:cNvPr>
            <p:cNvSpPr txBox="1"/>
            <p:nvPr/>
          </p:nvSpPr>
          <p:spPr>
            <a:xfrm>
              <a:off x="4728217" y="442917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latin typeface="+mj-ea"/>
                  <a:ea typeface="+mj-ea"/>
                </a:rPr>
                <a:t>粗分画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97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A4F9DF-55C5-1960-3B74-E75785FF3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第 </a:t>
            </a:r>
            <a:r>
              <a:rPr kumimoji="1" lang="en-US" altLang="ja-JP" dirty="0"/>
              <a:t>1 </a:t>
            </a:r>
            <a:r>
              <a:rPr kumimoji="1" lang="ja-JP" altLang="en-US" dirty="0"/>
              <a:t>分画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2A4C2F-F0C2-3E49-6D62-E3351401822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分画で得られたピークから，</a:t>
            </a:r>
            <a:r>
              <a:rPr lang="en-US" altLang="ja-JP" dirty="0">
                <a:solidFill>
                  <a:schemeClr val="accent6"/>
                </a:solidFill>
              </a:rPr>
              <a:t>F1, F2, F3</a:t>
            </a:r>
            <a:r>
              <a:rPr lang="ja-JP" altLang="en-US" dirty="0">
                <a:solidFill>
                  <a:schemeClr val="accent6"/>
                </a:solidFill>
              </a:rPr>
              <a:t>の</a:t>
            </a:r>
            <a:r>
              <a:rPr lang="en-US" altLang="ja-JP" dirty="0">
                <a:solidFill>
                  <a:schemeClr val="accent6"/>
                </a:solidFill>
              </a:rPr>
              <a:t>3</a:t>
            </a:r>
            <a:r>
              <a:rPr lang="ja-JP" altLang="en-US" dirty="0">
                <a:solidFill>
                  <a:schemeClr val="accent6"/>
                </a:solidFill>
              </a:rPr>
              <a:t>つの区画</a:t>
            </a:r>
            <a:r>
              <a:rPr lang="ja-JP" altLang="en-US" dirty="0"/>
              <a:t>に分けた </a:t>
            </a:r>
            <a:r>
              <a:rPr lang="en-US" altLang="ja-JP" dirty="0">
                <a:latin typeface="+mj-lt"/>
              </a:rPr>
              <a:t>(Fig1a)</a:t>
            </a:r>
            <a:r>
              <a:rPr lang="ja-JP" altLang="en-US" dirty="0"/>
              <a:t>．</a:t>
            </a:r>
            <a:endParaRPr lang="en-US" altLang="ja-JP" dirty="0">
              <a:latin typeface="+mn-lt"/>
            </a:endParaRPr>
          </a:p>
          <a:p>
            <a:r>
              <a:rPr kumimoji="1" lang="ja-JP" altLang="en-US" dirty="0"/>
              <a:t>バイオアッセイにの結果から，</a:t>
            </a:r>
            <a:r>
              <a:rPr kumimoji="1" lang="en-US" altLang="ja-JP" dirty="0">
                <a:solidFill>
                  <a:schemeClr val="accent6"/>
                </a:solidFill>
              </a:rPr>
              <a:t>F1, F2</a:t>
            </a:r>
            <a:r>
              <a:rPr kumimoji="1" lang="ja-JP" altLang="en-US" dirty="0">
                <a:solidFill>
                  <a:schemeClr val="accent6"/>
                </a:solidFill>
              </a:rPr>
              <a:t>のみに活性</a:t>
            </a:r>
            <a:r>
              <a:rPr kumimoji="1" lang="ja-JP" altLang="en-US" dirty="0"/>
              <a:t>があった </a:t>
            </a:r>
            <a:r>
              <a:rPr lang="en-US" altLang="ja-JP" dirty="0">
                <a:latin typeface="+mj-lt"/>
              </a:rPr>
              <a:t>(Fig1b)</a:t>
            </a:r>
            <a:r>
              <a:rPr lang="ja-JP" altLang="en-US" dirty="0"/>
              <a:t>．</a:t>
            </a:r>
            <a:endParaRPr lang="en-US" altLang="ja-JP" dirty="0">
              <a:latin typeface="+mn-lt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E5EEAE9-69E0-E837-0567-6D489BF958A1}"/>
              </a:ext>
            </a:extLst>
          </p:cNvPr>
          <p:cNvGrpSpPr/>
          <p:nvPr/>
        </p:nvGrpSpPr>
        <p:grpSpPr>
          <a:xfrm>
            <a:off x="17978" y="1611695"/>
            <a:ext cx="3658657" cy="2752242"/>
            <a:chOff x="17978" y="1611695"/>
            <a:chExt cx="3658657" cy="2752242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E275F903-0471-FA2B-6487-7295FCA89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4002" y="1611695"/>
              <a:ext cx="2960698" cy="2400990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D964DF2C-E886-4F29-0626-B87B218EC43A}"/>
                </a:ext>
              </a:extLst>
            </p:cNvPr>
            <p:cNvSpPr txBox="1"/>
            <p:nvPr/>
          </p:nvSpPr>
          <p:spPr>
            <a:xfrm>
              <a:off x="17978" y="4025383"/>
              <a:ext cx="3658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Fig1a: </a:t>
              </a:r>
              <a:r>
                <a:rPr kumimoji="1" lang="ja-JP" altLang="en-US" sz="1600" dirty="0">
                  <a:latin typeface="+mj-ea"/>
                  <a:ea typeface="+mj-ea"/>
                </a:rPr>
                <a:t>第</a:t>
              </a:r>
              <a:r>
                <a:rPr kumimoji="1" lang="en-US" altLang="ja-JP" sz="1600" dirty="0">
                  <a:latin typeface="+mj-lt"/>
                </a:rPr>
                <a:t>1</a:t>
              </a:r>
              <a:r>
                <a:rPr kumimoji="1" lang="ja-JP" altLang="en-US" sz="1600" dirty="0">
                  <a:latin typeface="+mj-ea"/>
                  <a:ea typeface="+mj-ea"/>
                </a:rPr>
                <a:t>分画の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クロマトグラム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252F38CD-9212-5FC8-E1AF-632D61959C83}"/>
              </a:ext>
            </a:extLst>
          </p:cNvPr>
          <p:cNvGrpSpPr/>
          <p:nvPr/>
        </p:nvGrpSpPr>
        <p:grpSpPr>
          <a:xfrm>
            <a:off x="1746669" y="4474575"/>
            <a:ext cx="3658657" cy="2442821"/>
            <a:chOff x="1746669" y="4474575"/>
            <a:chExt cx="3658657" cy="2442821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F9B87DB9-D0D9-6D51-1725-FB6171DAE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241637" y="4474575"/>
              <a:ext cx="2614358" cy="2091569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30A58663-1585-5228-2B42-895FE8D28DFD}"/>
                </a:ext>
              </a:extLst>
            </p:cNvPr>
            <p:cNvSpPr txBox="1"/>
            <p:nvPr/>
          </p:nvSpPr>
          <p:spPr>
            <a:xfrm>
              <a:off x="1746669" y="6578842"/>
              <a:ext cx="3658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Fig1b:</a:t>
              </a:r>
              <a:r>
                <a:rPr kumimoji="1" lang="en-US" altLang="ja-JP" sz="1600" dirty="0"/>
                <a:t> </a:t>
              </a:r>
              <a:r>
                <a:rPr kumimoji="1" lang="ja-JP" altLang="en-US" sz="1600" dirty="0">
                  <a:latin typeface="+mj-ea"/>
                  <a:ea typeface="+mj-ea"/>
                </a:rPr>
                <a:t>第</a:t>
              </a:r>
              <a:r>
                <a:rPr kumimoji="1" lang="en-US" altLang="ja-JP" sz="1600" dirty="0">
                  <a:latin typeface="+mj-lt"/>
                </a:rPr>
                <a:t>1</a:t>
              </a:r>
              <a:r>
                <a:rPr kumimoji="1" lang="ja-JP" altLang="en-US" sz="1600" dirty="0">
                  <a:latin typeface="+mj-ea"/>
                  <a:ea typeface="+mj-ea"/>
                </a:rPr>
                <a:t>分画のバイオアッセイ結果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901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417162-6DAD-F083-A9B9-7159F73A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分画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5B9D560F-BF4C-4B5F-C6CB-2C4AADBC93D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sz="3600" dirty="0"/>
              <a:t>F1</a:t>
            </a:r>
            <a:r>
              <a:rPr lang="ja-JP" altLang="en-US" sz="3600" dirty="0"/>
              <a:t>を前半と後半に分けて，</a:t>
            </a:r>
            <a:r>
              <a:rPr lang="en-US" altLang="ja-JP" sz="3600" dirty="0"/>
              <a:t>F1A1, F1A2</a:t>
            </a:r>
            <a:r>
              <a:rPr lang="ja-JP" altLang="en-US" sz="3600" dirty="0"/>
              <a:t>と名付けた </a:t>
            </a:r>
            <a:r>
              <a:rPr lang="en-US" altLang="ja-JP" sz="3600" dirty="0">
                <a:latin typeface="+mj-lt"/>
                <a:ea typeface="+mj-ea"/>
              </a:rPr>
              <a:t>(Fig2a)</a:t>
            </a:r>
            <a:r>
              <a:rPr lang="ja-JP" altLang="en-US" sz="3600" dirty="0">
                <a:latin typeface="+mn-lt"/>
              </a:rPr>
              <a:t>．</a:t>
            </a:r>
            <a:endParaRPr lang="en-US" altLang="ja-JP" sz="3600" dirty="0">
              <a:latin typeface="+mn-lt"/>
            </a:endParaRPr>
          </a:p>
          <a:p>
            <a:r>
              <a:rPr lang="en-US" altLang="ja-JP" sz="3600" dirty="0"/>
              <a:t>F2</a:t>
            </a:r>
            <a:r>
              <a:rPr lang="ja-JP" altLang="en-US" sz="3600" dirty="0"/>
              <a:t>を前半と後半に分けて，</a:t>
            </a:r>
            <a:r>
              <a:rPr lang="en-US" altLang="ja-JP" sz="3600" dirty="0"/>
              <a:t>F2B1, F2B2</a:t>
            </a:r>
            <a:r>
              <a:rPr lang="ja-JP" altLang="en-US" sz="3600" dirty="0"/>
              <a:t>と名付けた </a:t>
            </a:r>
            <a:r>
              <a:rPr lang="en-US" altLang="ja-JP" sz="3600" dirty="0">
                <a:latin typeface="+mj-lt"/>
                <a:ea typeface="+mj-ea"/>
              </a:rPr>
              <a:t>(Fig2b)</a:t>
            </a:r>
            <a:r>
              <a:rPr lang="ja-JP" altLang="en-US" sz="3600" dirty="0"/>
              <a:t>．</a:t>
            </a:r>
            <a:endParaRPr lang="en-US" altLang="ja-JP" sz="3600" dirty="0"/>
          </a:p>
          <a:p>
            <a:r>
              <a:rPr lang="ja-JP" altLang="en-US" sz="3600" dirty="0"/>
              <a:t>バイオアッセイの結果から</a:t>
            </a:r>
            <a:r>
              <a:rPr lang="en-US" altLang="ja-JP" sz="3600" dirty="0">
                <a:solidFill>
                  <a:schemeClr val="accent6"/>
                </a:solidFill>
              </a:rPr>
              <a:t>F1A1, F2B1</a:t>
            </a:r>
            <a:r>
              <a:rPr lang="ja-JP" altLang="en-US" sz="3600" dirty="0">
                <a:solidFill>
                  <a:schemeClr val="accent6"/>
                </a:solidFill>
              </a:rPr>
              <a:t>に活性</a:t>
            </a:r>
            <a:r>
              <a:rPr lang="ja-JP" altLang="en-US" sz="3600" dirty="0"/>
              <a:t>があった </a:t>
            </a:r>
            <a:r>
              <a:rPr lang="en-US" altLang="ja-JP" sz="3600" dirty="0">
                <a:latin typeface="+mj-lt"/>
                <a:ea typeface="+mj-ea"/>
              </a:rPr>
              <a:t>(Fig2c)</a:t>
            </a:r>
            <a:r>
              <a:rPr lang="ja-JP" altLang="en-US" sz="3600" dirty="0"/>
              <a:t>．</a:t>
            </a:r>
            <a:endParaRPr lang="en-US" altLang="ja-JP" sz="3600" dirty="0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4B06F23-3CE3-DE55-3D8F-B5ECD6E7168D}"/>
              </a:ext>
            </a:extLst>
          </p:cNvPr>
          <p:cNvGrpSpPr/>
          <p:nvPr/>
        </p:nvGrpSpPr>
        <p:grpSpPr>
          <a:xfrm>
            <a:off x="204819" y="1659912"/>
            <a:ext cx="2552596" cy="2638064"/>
            <a:chOff x="204819" y="1659912"/>
            <a:chExt cx="2552596" cy="2638064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ECCEE6E1-273D-5BB7-E245-29FF9482A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50901" y="1659912"/>
              <a:ext cx="2227887" cy="2040592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B0242FE8-5A11-C1EE-A8D4-69C5762E8F5C}"/>
                </a:ext>
              </a:extLst>
            </p:cNvPr>
            <p:cNvSpPr txBox="1"/>
            <p:nvPr/>
          </p:nvSpPr>
          <p:spPr>
            <a:xfrm>
              <a:off x="204819" y="3713201"/>
              <a:ext cx="25525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27063" indent="-627063" algn="ctr"/>
              <a:r>
                <a:rPr kumimoji="1" lang="en-US" altLang="ja-JP" sz="1600" dirty="0">
                  <a:latin typeface="+mj-lt"/>
                </a:rPr>
                <a:t>Fig2a: </a:t>
              </a:r>
              <a:r>
                <a:rPr kumimoji="1" lang="ja-JP" altLang="en-US" sz="1600" dirty="0">
                  <a:latin typeface="+mj-ea"/>
                  <a:ea typeface="+mj-ea"/>
                </a:rPr>
                <a:t>第</a:t>
              </a:r>
              <a:r>
                <a:rPr kumimoji="1" lang="en-US" altLang="ja-JP" sz="1600" dirty="0">
                  <a:latin typeface="+mj-lt"/>
                </a:rPr>
                <a:t>1</a:t>
              </a:r>
              <a:r>
                <a:rPr kumimoji="1" lang="ja-JP" altLang="en-US" sz="1600" dirty="0">
                  <a:latin typeface="+mj-ea"/>
                  <a:ea typeface="+mj-ea"/>
                </a:rPr>
                <a:t>分画の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クロマトグラム前半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37D6370A-8521-A221-84B4-BEB52446B2D4}"/>
              </a:ext>
            </a:extLst>
          </p:cNvPr>
          <p:cNvGrpSpPr/>
          <p:nvPr/>
        </p:nvGrpSpPr>
        <p:grpSpPr>
          <a:xfrm>
            <a:off x="2636049" y="1659912"/>
            <a:ext cx="2552596" cy="2638064"/>
            <a:chOff x="2636049" y="1659912"/>
            <a:chExt cx="2552596" cy="2638064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8D8BF101-37EE-171D-2589-B2499A721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803497" y="1659912"/>
              <a:ext cx="2217700" cy="2040591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B46DA4E4-B8AE-2817-45E8-7F86CE375464}"/>
                </a:ext>
              </a:extLst>
            </p:cNvPr>
            <p:cNvSpPr txBox="1"/>
            <p:nvPr/>
          </p:nvSpPr>
          <p:spPr>
            <a:xfrm>
              <a:off x="2636049" y="3713201"/>
              <a:ext cx="255259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627063" indent="-627063" algn="ctr"/>
              <a:r>
                <a:rPr kumimoji="1" lang="en-US" altLang="ja-JP" sz="1600" dirty="0">
                  <a:latin typeface="+mj-lt"/>
                </a:rPr>
                <a:t>Fig2b: </a:t>
              </a:r>
              <a:r>
                <a:rPr kumimoji="1" lang="ja-JP" altLang="en-US" sz="1600" dirty="0">
                  <a:latin typeface="+mj-ea"/>
                  <a:ea typeface="+mj-ea"/>
                </a:rPr>
                <a:t>第</a:t>
              </a:r>
              <a:r>
                <a:rPr kumimoji="1" lang="en-US" altLang="ja-JP" sz="1600" dirty="0">
                  <a:latin typeface="+mj-lt"/>
                </a:rPr>
                <a:t>1</a:t>
              </a:r>
              <a:r>
                <a:rPr kumimoji="1" lang="ja-JP" altLang="en-US" sz="1600" dirty="0">
                  <a:latin typeface="+mj-ea"/>
                  <a:ea typeface="+mj-ea"/>
                </a:rPr>
                <a:t>分画の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クロマトグラム後半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98824747-27A6-3A6E-DF39-1551EE85886D}"/>
              </a:ext>
            </a:extLst>
          </p:cNvPr>
          <p:cNvGrpSpPr/>
          <p:nvPr/>
        </p:nvGrpSpPr>
        <p:grpSpPr>
          <a:xfrm>
            <a:off x="785136" y="4508802"/>
            <a:ext cx="3658657" cy="2442371"/>
            <a:chOff x="792365" y="4487116"/>
            <a:chExt cx="3658657" cy="2442371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1FA41DF9-622C-5382-5F0D-E90DC36E5B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488346" y="4487116"/>
              <a:ext cx="2266697" cy="2040592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A3FD9526-12D3-4A11-2164-0AD3E331E3DA}"/>
                </a:ext>
              </a:extLst>
            </p:cNvPr>
            <p:cNvSpPr txBox="1"/>
            <p:nvPr/>
          </p:nvSpPr>
          <p:spPr>
            <a:xfrm>
              <a:off x="792365" y="6590933"/>
              <a:ext cx="3658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Fig2c: </a:t>
              </a:r>
              <a:r>
                <a:rPr kumimoji="1" lang="ja-JP" altLang="en-US" sz="1600" dirty="0">
                  <a:latin typeface="+mj-ea"/>
                  <a:ea typeface="+mj-ea"/>
                </a:rPr>
                <a:t>第</a:t>
              </a:r>
              <a:r>
                <a:rPr kumimoji="1" lang="en-US" altLang="ja-JP" sz="1600" dirty="0">
                  <a:latin typeface="+mj-lt"/>
                </a:rPr>
                <a:t>2</a:t>
              </a:r>
              <a:r>
                <a:rPr kumimoji="1" lang="ja-JP" altLang="en-US" sz="1600" dirty="0">
                  <a:latin typeface="+mj-ea"/>
                  <a:ea typeface="+mj-ea"/>
                </a:rPr>
                <a:t>分画のバイオアッセイ結果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905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F51A7-846D-236C-9386-E1726852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60A96-79AF-D10B-CB43-86F4D1A67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分画フローチャート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BE7B46A-3523-31CA-F5B2-ABAB71601F6E}"/>
              </a:ext>
            </a:extLst>
          </p:cNvPr>
          <p:cNvSpPr/>
          <p:nvPr/>
        </p:nvSpPr>
        <p:spPr>
          <a:xfrm>
            <a:off x="7152767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ピーク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分け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D37700E-C217-F29C-FE9D-4EF17CBE6440}"/>
              </a:ext>
            </a:extLst>
          </p:cNvPr>
          <p:cNvSpPr/>
          <p:nvPr/>
        </p:nvSpPr>
        <p:spPr>
          <a:xfrm>
            <a:off x="5475609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精密分画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HPLC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D3C2CF33-D0B6-483E-8C38-C8FDFDD3D7BD}"/>
              </a:ext>
            </a:extLst>
          </p:cNvPr>
          <p:cNvSpPr/>
          <p:nvPr/>
        </p:nvSpPr>
        <p:spPr>
          <a:xfrm>
            <a:off x="3771056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ピーク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分け</a:t>
            </a:r>
            <a:endParaRPr kumimoji="1" lang="en-US" altLang="ja-JP" sz="2000" kern="1200" dirty="0">
              <a:latin typeface="+mn-ea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5EB60A6-F852-FE06-EC35-BDE87D3BE1DC}"/>
              </a:ext>
            </a:extLst>
          </p:cNvPr>
          <p:cNvSpPr/>
          <p:nvPr/>
        </p:nvSpPr>
        <p:spPr>
          <a:xfrm>
            <a:off x="2066503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粗分画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HPLC</a:t>
            </a:r>
            <a:endParaRPr kumimoji="1" lang="ja-JP" altLang="en-US" sz="1600" kern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6CF05BC9-5D75-E221-79AE-3A531D2D074F}"/>
              </a:ext>
            </a:extLst>
          </p:cNvPr>
          <p:cNvSpPr/>
          <p:nvPr/>
        </p:nvSpPr>
        <p:spPr>
          <a:xfrm>
            <a:off x="361951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固相抽出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C18</a:t>
            </a:r>
            <a:r>
              <a:rPr kumimoji="1" lang="ja-JP" altLang="en-US" sz="1600" dirty="0">
                <a:latin typeface="+mn-ea"/>
              </a:rPr>
              <a:t>カラム</a:t>
            </a:r>
            <a:endParaRPr kumimoji="1" lang="ja-JP" altLang="en-US" sz="1600" kern="1200" dirty="0">
              <a:latin typeface="+mn-ea"/>
            </a:endParaRPr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A7CF86C7-FE1D-CEB2-5921-DC126B956826}"/>
              </a:ext>
            </a:extLst>
          </p:cNvPr>
          <p:cNvCxnSpPr>
            <a:stCxn id="27" idx="3"/>
            <a:endCxn id="29" idx="1"/>
          </p:cNvCxnSpPr>
          <p:nvPr/>
        </p:nvCxnSpPr>
        <p:spPr>
          <a:xfrm flipV="1">
            <a:off x="6814900" y="3282334"/>
            <a:ext cx="487015" cy="4631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860FF785-B219-9579-BC3E-F89440A7B8A0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814900" y="3745468"/>
            <a:ext cx="48701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C34A09CE-D878-7E50-60E6-99C4337AEDA6}"/>
              </a:ext>
            </a:extLst>
          </p:cNvPr>
          <p:cNvCxnSpPr>
            <a:stCxn id="27" idx="3"/>
            <a:endCxn id="35" idx="1"/>
          </p:cNvCxnSpPr>
          <p:nvPr/>
        </p:nvCxnSpPr>
        <p:spPr>
          <a:xfrm>
            <a:off x="6814900" y="3745468"/>
            <a:ext cx="487018" cy="4574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B8AA0E5F-8E8F-A97E-6354-B14FF06A9BE3}"/>
              </a:ext>
            </a:extLst>
          </p:cNvPr>
          <p:cNvCxnSpPr>
            <a:cxnSpLocks/>
            <a:stCxn id="21" idx="3"/>
            <a:endCxn id="39" idx="1"/>
          </p:cNvCxnSpPr>
          <p:nvPr/>
        </p:nvCxnSpPr>
        <p:spPr>
          <a:xfrm>
            <a:off x="5110348" y="3745468"/>
            <a:ext cx="487015" cy="91481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AC13F4B2-953C-4B50-81FC-2A3A3FFFEB59}"/>
              </a:ext>
            </a:extLst>
          </p:cNvPr>
          <p:cNvCxnSpPr>
            <a:cxnSpLocks/>
            <a:stCxn id="21" idx="3"/>
            <a:endCxn id="37" idx="1"/>
          </p:cNvCxnSpPr>
          <p:nvPr/>
        </p:nvCxnSpPr>
        <p:spPr>
          <a:xfrm>
            <a:off x="5110348" y="3745468"/>
            <a:ext cx="487015" cy="4574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1418E1FB-8FBF-8410-B4D2-303B672AD5AD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5110348" y="3745468"/>
            <a:ext cx="4870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AC569463-B92D-ECFC-06C0-8750299763BB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 flipV="1">
            <a:off x="5110348" y="3288062"/>
            <a:ext cx="487015" cy="4574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E498DDC6-46A9-B230-858D-87D30099EBBA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 flipV="1">
            <a:off x="5110348" y="2830657"/>
            <a:ext cx="487015" cy="9148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A1787E77-638F-295C-FE22-8395CB016E2A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 flipV="1">
            <a:off x="5110348" y="5117687"/>
            <a:ext cx="487015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83A4B393-3F69-3D9C-8C0F-CB4A7AE999DB}"/>
              </a:ext>
            </a:extLst>
          </p:cNvPr>
          <p:cNvCxnSpPr>
            <a:cxnSpLocks/>
            <a:stCxn id="45" idx="3"/>
            <a:endCxn id="51" idx="1"/>
          </p:cNvCxnSpPr>
          <p:nvPr/>
        </p:nvCxnSpPr>
        <p:spPr>
          <a:xfrm>
            <a:off x="5110348" y="5346390"/>
            <a:ext cx="487015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C3388CE0-630E-2E66-592E-3E2CF3D7E7DD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3405794" y="3745468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4816F971-BC26-A28F-A30C-226845797C1D}"/>
              </a:ext>
            </a:extLst>
          </p:cNvPr>
          <p:cNvCxnSpPr>
            <a:stCxn id="19" idx="3"/>
            <a:endCxn id="41" idx="1"/>
          </p:cNvCxnSpPr>
          <p:nvPr/>
        </p:nvCxnSpPr>
        <p:spPr>
          <a:xfrm>
            <a:off x="3405794" y="3974171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2D847233-022E-9DE3-8D3C-1CD269CD7B2D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 flipV="1">
            <a:off x="3405794" y="5346390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41FC56E6-7119-9D76-D933-84ACC1ECE867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>
            <a:off x="3405794" y="5575093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291DCD34-C484-1797-04BD-76FAD51A0A11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1701242" y="3974171"/>
            <a:ext cx="487015" cy="10291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B23D52AC-EB55-146D-E144-7558F68FF7F7}"/>
              </a:ext>
            </a:extLst>
          </p:cNvPr>
          <p:cNvCxnSpPr>
            <a:stCxn id="17" idx="3"/>
            <a:endCxn id="43" idx="1"/>
          </p:cNvCxnSpPr>
          <p:nvPr/>
        </p:nvCxnSpPr>
        <p:spPr>
          <a:xfrm>
            <a:off x="1701242" y="5003335"/>
            <a:ext cx="487015" cy="571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134B79BD-81C4-3191-7A16-623474ABCB57}"/>
              </a:ext>
            </a:extLst>
          </p:cNvPr>
          <p:cNvCxnSpPr>
            <a:stCxn id="17" idx="3"/>
            <a:endCxn id="55" idx="1"/>
          </p:cNvCxnSpPr>
          <p:nvPr/>
        </p:nvCxnSpPr>
        <p:spPr>
          <a:xfrm>
            <a:off x="1701242" y="5003335"/>
            <a:ext cx="487015" cy="10291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A8CC8B9-914C-CB05-A2D1-3A80A3225655}"/>
              </a:ext>
            </a:extLst>
          </p:cNvPr>
          <p:cNvSpPr/>
          <p:nvPr/>
        </p:nvSpPr>
        <p:spPr>
          <a:xfrm>
            <a:off x="483705" y="4804463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1600" kern="1200" dirty="0">
                <a:latin typeface="+mn-ea"/>
              </a:rPr>
              <a:t>中極性画分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FFCF4238-563A-AC0D-1791-08D82394346F}"/>
              </a:ext>
            </a:extLst>
          </p:cNvPr>
          <p:cNvSpPr/>
          <p:nvPr/>
        </p:nvSpPr>
        <p:spPr>
          <a:xfrm>
            <a:off x="2188257" y="3775299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F1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74F2A53-73FF-842F-B554-9C274C9A28C3}"/>
              </a:ext>
            </a:extLst>
          </p:cNvPr>
          <p:cNvSpPr/>
          <p:nvPr/>
        </p:nvSpPr>
        <p:spPr>
          <a:xfrm>
            <a:off x="3892811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F1A1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4FE4557-E31B-5AA3-5948-73BF135AAD9E}"/>
              </a:ext>
            </a:extLst>
          </p:cNvPr>
          <p:cNvSpPr/>
          <p:nvPr/>
        </p:nvSpPr>
        <p:spPr>
          <a:xfrm>
            <a:off x="5597363" y="2631785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S1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7ED46B61-B87B-A0C9-2912-EAD8A59E046D}"/>
              </a:ext>
            </a:extLst>
          </p:cNvPr>
          <p:cNvSpPr/>
          <p:nvPr/>
        </p:nvSpPr>
        <p:spPr>
          <a:xfrm>
            <a:off x="5597363" y="3089190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S2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2BCF8EB7-5073-9D77-9707-06A42DE3EE19}"/>
              </a:ext>
            </a:extLst>
          </p:cNvPr>
          <p:cNvSpPr/>
          <p:nvPr/>
        </p:nvSpPr>
        <p:spPr>
          <a:xfrm>
            <a:off x="5597363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S3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84D50133-63F4-94EA-C5F6-E515B771DFC6}"/>
              </a:ext>
            </a:extLst>
          </p:cNvPr>
          <p:cNvSpPr/>
          <p:nvPr/>
        </p:nvSpPr>
        <p:spPr>
          <a:xfrm>
            <a:off x="7301918" y="3089190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S3A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BC5355BF-E18D-AA4D-CD4D-E4F1E240843C}"/>
              </a:ext>
            </a:extLst>
          </p:cNvPr>
          <p:cNvSpPr/>
          <p:nvPr/>
        </p:nvSpPr>
        <p:spPr>
          <a:xfrm>
            <a:off x="7301918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S3B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FEC01C83-AEEA-567E-9F9D-3BE2B44C3CE3}"/>
              </a:ext>
            </a:extLst>
          </p:cNvPr>
          <p:cNvSpPr/>
          <p:nvPr/>
        </p:nvSpPr>
        <p:spPr>
          <a:xfrm>
            <a:off x="7301918" y="4004002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S3C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4421A2C1-E4C3-7881-0A8A-F1ED92B7CD4C}"/>
              </a:ext>
            </a:extLst>
          </p:cNvPr>
          <p:cNvSpPr/>
          <p:nvPr/>
        </p:nvSpPr>
        <p:spPr>
          <a:xfrm>
            <a:off x="5597363" y="4004002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S4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C37357F2-2EF1-19B6-FE40-95DAD28F7ED6}"/>
              </a:ext>
            </a:extLst>
          </p:cNvPr>
          <p:cNvSpPr/>
          <p:nvPr/>
        </p:nvSpPr>
        <p:spPr>
          <a:xfrm>
            <a:off x="5597363" y="4461409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S5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7337BA4F-DD5C-19D3-9925-0F1571C565F8}"/>
              </a:ext>
            </a:extLst>
          </p:cNvPr>
          <p:cNvSpPr/>
          <p:nvPr/>
        </p:nvSpPr>
        <p:spPr>
          <a:xfrm>
            <a:off x="3892811" y="4004002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F1A2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988384CB-F4FE-67B8-6388-13618D974595}"/>
              </a:ext>
            </a:extLst>
          </p:cNvPr>
          <p:cNvSpPr/>
          <p:nvPr/>
        </p:nvSpPr>
        <p:spPr>
          <a:xfrm>
            <a:off x="2188257" y="5376221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F2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0F74C623-B8B3-8CD3-72C0-13C76E6C5AFE}"/>
              </a:ext>
            </a:extLst>
          </p:cNvPr>
          <p:cNvSpPr/>
          <p:nvPr/>
        </p:nvSpPr>
        <p:spPr>
          <a:xfrm>
            <a:off x="3892811" y="5147518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F2B1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BDC5D8D3-4DC2-80A3-BF4F-F5A3D6B56CD2}"/>
              </a:ext>
            </a:extLst>
          </p:cNvPr>
          <p:cNvSpPr/>
          <p:nvPr/>
        </p:nvSpPr>
        <p:spPr>
          <a:xfrm>
            <a:off x="5597363" y="4918815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  <a:ea typeface="+mj-ea"/>
              </a:rPr>
              <a:t>S6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A50D0EC6-4AE6-F076-A174-2314B005CCC2}"/>
              </a:ext>
            </a:extLst>
          </p:cNvPr>
          <p:cNvSpPr/>
          <p:nvPr/>
        </p:nvSpPr>
        <p:spPr>
          <a:xfrm>
            <a:off x="5597363" y="5376221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S7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A1FD9B9F-7FDA-4D38-6702-F1001AFE37A4}"/>
              </a:ext>
            </a:extLst>
          </p:cNvPr>
          <p:cNvSpPr/>
          <p:nvPr/>
        </p:nvSpPr>
        <p:spPr>
          <a:xfrm>
            <a:off x="3892811" y="5604924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F2B2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1D0E91DD-1117-A844-2362-E0AF90EBA0C9}"/>
              </a:ext>
            </a:extLst>
          </p:cNvPr>
          <p:cNvSpPr/>
          <p:nvPr/>
        </p:nvSpPr>
        <p:spPr>
          <a:xfrm>
            <a:off x="2188257" y="5833627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  <a:ea typeface="+mj-ea"/>
              </a:rPr>
              <a:t>F3</a:t>
            </a:r>
            <a:endParaRPr kumimoji="1" lang="ja-JP" altLang="en-US" sz="1600" kern="1200" dirty="0">
              <a:latin typeface="+mj-lt"/>
              <a:ea typeface="+mj-ea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9E9B845-0EA5-2892-ED51-0FA4970CA05D}"/>
              </a:ext>
            </a:extLst>
          </p:cNvPr>
          <p:cNvSpPr/>
          <p:nvPr/>
        </p:nvSpPr>
        <p:spPr>
          <a:xfrm>
            <a:off x="2188254" y="3775299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F1</a:t>
            </a:r>
            <a:endParaRPr kumimoji="1" lang="ja-JP" altLang="en-US" sz="1600" kern="12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71B3539-81BB-CEB1-D59A-3AA1492A4645}"/>
              </a:ext>
            </a:extLst>
          </p:cNvPr>
          <p:cNvSpPr/>
          <p:nvPr/>
        </p:nvSpPr>
        <p:spPr>
          <a:xfrm>
            <a:off x="2188254" y="5376221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F2</a:t>
            </a:r>
            <a:endParaRPr kumimoji="1" lang="ja-JP" altLang="en-US" sz="1600" kern="12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C1876A1-9424-AC93-B74A-1B55830A2216}"/>
              </a:ext>
            </a:extLst>
          </p:cNvPr>
          <p:cNvSpPr/>
          <p:nvPr/>
        </p:nvSpPr>
        <p:spPr>
          <a:xfrm>
            <a:off x="3892802" y="3546595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F1A1</a:t>
            </a:r>
            <a:endParaRPr kumimoji="1" lang="ja-JP" altLang="en-US" sz="1600" kern="12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765252F0-719D-08D5-5F21-8C1F5CE0D7C7}"/>
              </a:ext>
            </a:extLst>
          </p:cNvPr>
          <p:cNvSpPr/>
          <p:nvPr/>
        </p:nvSpPr>
        <p:spPr>
          <a:xfrm>
            <a:off x="3892811" y="5147518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F2B1</a:t>
            </a:r>
            <a:endParaRPr kumimoji="1" lang="ja-JP" altLang="en-US" sz="1600" kern="12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F110303B-3853-EE63-7A43-272B86FA60BD}"/>
              </a:ext>
            </a:extLst>
          </p:cNvPr>
          <p:cNvSpPr/>
          <p:nvPr/>
        </p:nvSpPr>
        <p:spPr>
          <a:xfrm>
            <a:off x="5597361" y="3546620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S3</a:t>
            </a:r>
            <a:endParaRPr kumimoji="1" lang="ja-JP" altLang="en-US" sz="1600" kern="1200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9F91B92-22AA-9322-30B0-AA40E776BD2E}"/>
              </a:ext>
            </a:extLst>
          </p:cNvPr>
          <p:cNvSpPr/>
          <p:nvPr/>
        </p:nvSpPr>
        <p:spPr>
          <a:xfrm>
            <a:off x="5597361" y="4918813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S6</a:t>
            </a:r>
            <a:endParaRPr kumimoji="1" lang="ja-JP" altLang="en-US" sz="1600" kern="12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CF2564DD-4149-9B26-32F5-7D0CA2FA5D86}"/>
              </a:ext>
            </a:extLst>
          </p:cNvPr>
          <p:cNvSpPr/>
          <p:nvPr/>
        </p:nvSpPr>
        <p:spPr>
          <a:xfrm>
            <a:off x="7301915" y="3546595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S3B</a:t>
            </a:r>
            <a:endParaRPr kumimoji="1" lang="ja-JP" altLang="en-US" sz="1600" kern="1200" dirty="0"/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CD2EC2B1-C838-A426-CAB5-75E3791AD7CC}"/>
              </a:ext>
            </a:extLst>
          </p:cNvPr>
          <p:cNvSpPr/>
          <p:nvPr/>
        </p:nvSpPr>
        <p:spPr>
          <a:xfrm>
            <a:off x="234053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0 w 1813465"/>
              <a:gd name="csY5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j-ea"/>
                <a:ea typeface="+mj-ea"/>
              </a:rPr>
              <a:t>事前分離</a:t>
            </a:r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7933BA44-960B-9DDE-17F1-FFA106B96E79}"/>
              </a:ext>
            </a:extLst>
          </p:cNvPr>
          <p:cNvSpPr/>
          <p:nvPr/>
        </p:nvSpPr>
        <p:spPr>
          <a:xfrm>
            <a:off x="1944749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 dirty="0">
                <a:latin typeface="+mj-lt"/>
                <a:ea typeface="+mj-ea"/>
              </a:rPr>
              <a:t>Fig1</a:t>
            </a:r>
            <a:endParaRPr kumimoji="1" lang="ja-JP" altLang="en-US" sz="2000" kern="1200" dirty="0">
              <a:latin typeface="+mj-lt"/>
              <a:ea typeface="+mj-ea"/>
            </a:endParaRPr>
          </a:p>
        </p:txBody>
      </p: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039FDFB6-0FB7-E4F7-97AC-A42FE2CF55AF}"/>
              </a:ext>
            </a:extLst>
          </p:cNvPr>
          <p:cNvSpPr/>
          <p:nvPr/>
        </p:nvSpPr>
        <p:spPr>
          <a:xfrm>
            <a:off x="3646209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 dirty="0">
                <a:latin typeface="+mj-lt"/>
                <a:ea typeface="+mj-ea"/>
              </a:rPr>
              <a:t>Fig2</a:t>
            </a:r>
            <a:endParaRPr kumimoji="1" lang="ja-JP" altLang="en-US" sz="2000" kern="1200" dirty="0">
              <a:latin typeface="+mj-lt"/>
              <a:ea typeface="+mj-ea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DD7E82F3-4B58-7BFB-37B0-37849CFF516B}"/>
              </a:ext>
            </a:extLst>
          </p:cNvPr>
          <p:cNvSpPr/>
          <p:nvPr/>
        </p:nvSpPr>
        <p:spPr>
          <a:xfrm>
            <a:off x="5343114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>
                <a:latin typeface="+mj-lt"/>
                <a:ea typeface="+mj-ea"/>
              </a:rPr>
              <a:t>Fig3</a:t>
            </a:r>
            <a:endParaRPr kumimoji="1" lang="ja-JP" altLang="en-US" sz="2000" kern="1200" dirty="0">
              <a:latin typeface="+mj-lt"/>
              <a:ea typeface="+mj-ea"/>
            </a:endParaRP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F9B05C6D-BA48-04D0-5E1E-8D50942D5FEE}"/>
              </a:ext>
            </a:extLst>
          </p:cNvPr>
          <p:cNvSpPr/>
          <p:nvPr/>
        </p:nvSpPr>
        <p:spPr>
          <a:xfrm>
            <a:off x="7056860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>
                <a:latin typeface="+mj-lt"/>
                <a:ea typeface="+mj-ea"/>
              </a:rPr>
              <a:t>Fig4</a:t>
            </a:r>
            <a:endParaRPr kumimoji="1" lang="ja-JP" altLang="en-US" sz="2000" kern="1200" dirty="0"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8422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3" grpId="0" animBg="1"/>
      <p:bldP spid="25" grpId="0" animBg="1"/>
      <p:bldP spid="27" grpId="0" animBg="1"/>
      <p:bldP spid="27" grpId="1" animBg="1"/>
      <p:bldP spid="29" grpId="0" animBg="1"/>
      <p:bldP spid="31" grpId="0" animBg="1"/>
      <p:bldP spid="31" grpId="1" animBg="1"/>
      <p:bldP spid="35" grpId="0" animBg="1"/>
      <p:bldP spid="37" grpId="0" animBg="1"/>
      <p:bldP spid="39" grpId="0" animBg="1"/>
      <p:bldP spid="47" grpId="0" animBg="1"/>
      <p:bldP spid="47" grpId="1" animBg="1"/>
      <p:bldP spid="51" grpId="0" animBg="1"/>
      <p:bldP spid="7" grpId="0" animBg="1"/>
      <p:bldP spid="8" grpId="0" animBg="1"/>
      <p:bldP spid="9" grpId="0" animBg="1"/>
      <p:bldP spid="34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F7072-C215-5DC5-389A-94CD7AAD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6FA9D-C84D-4BE2-DE57-08797AA6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HPLC</a:t>
            </a:r>
            <a:r>
              <a:rPr kumimoji="1" lang="ja-JP" altLang="en-US" dirty="0"/>
              <a:t>分画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747493-F8F9-4F1D-1259-CFABC9F868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1FB6EB4D-EFF6-7F21-3692-BFBCAFDC9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066" y="2879227"/>
            <a:ext cx="10445680" cy="256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57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AA7F-9C31-8425-7C41-E594F733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0D68F6-096D-1614-C004-BB7A65E53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分画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5BB1C20-84A0-6F02-DACA-AC51DB6511D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F1A1</a:t>
            </a:r>
            <a:r>
              <a:rPr lang="ja-JP" altLang="en-US" sz="3600" dirty="0"/>
              <a:t>をピークごとに分けて，</a:t>
            </a:r>
            <a:r>
              <a:rPr lang="en-US" altLang="ja-JP" sz="3600" dirty="0"/>
              <a:t>S1 – S5</a:t>
            </a:r>
            <a:r>
              <a:rPr lang="ja-JP" altLang="en-US" sz="3600" dirty="0"/>
              <a:t>と名付けた </a:t>
            </a:r>
            <a:r>
              <a:rPr lang="en-US" altLang="ja-JP" sz="3600" dirty="0">
                <a:latin typeface="+mj-lt"/>
              </a:rPr>
              <a:t>(Fig3a)</a:t>
            </a:r>
            <a:r>
              <a:rPr lang="ja-JP" altLang="en-US" sz="3600" dirty="0"/>
              <a:t>．</a:t>
            </a:r>
            <a:endParaRPr lang="en-US" altLang="ja-JP" sz="3600" dirty="0"/>
          </a:p>
          <a:p>
            <a:r>
              <a:rPr lang="en-US" altLang="ja-JP" sz="3600" dirty="0"/>
              <a:t>F2B1</a:t>
            </a:r>
            <a:r>
              <a:rPr lang="ja-JP" altLang="en-US" sz="3600" dirty="0"/>
              <a:t>をピークごとに分けて，</a:t>
            </a:r>
            <a:r>
              <a:rPr lang="en-US" altLang="ja-JP" sz="3600" dirty="0"/>
              <a:t>S6 – S7</a:t>
            </a:r>
            <a:r>
              <a:rPr lang="ja-JP" altLang="en-US" sz="3600" dirty="0"/>
              <a:t>と名付けた </a:t>
            </a:r>
            <a:r>
              <a:rPr lang="en-US" altLang="ja-JP" sz="3600" dirty="0">
                <a:latin typeface="+mj-lt"/>
              </a:rPr>
              <a:t>(Fig3b)</a:t>
            </a:r>
            <a:r>
              <a:rPr lang="ja-JP" altLang="en-US" sz="3600" dirty="0"/>
              <a:t>．</a:t>
            </a:r>
          </a:p>
          <a:p>
            <a:r>
              <a:rPr lang="ja-JP" altLang="en-US" sz="3600" dirty="0"/>
              <a:t>バイオアッセイの結果から</a:t>
            </a:r>
            <a:r>
              <a:rPr lang="en-US" altLang="ja-JP" sz="3600" dirty="0">
                <a:solidFill>
                  <a:schemeClr val="accent6"/>
                </a:solidFill>
              </a:rPr>
              <a:t>S3, S6</a:t>
            </a:r>
            <a:r>
              <a:rPr lang="ja-JP" altLang="en-US" sz="3600" dirty="0">
                <a:solidFill>
                  <a:schemeClr val="accent6"/>
                </a:solidFill>
              </a:rPr>
              <a:t>に活性</a:t>
            </a:r>
            <a:r>
              <a:rPr lang="ja-JP" altLang="en-US" sz="3600" dirty="0"/>
              <a:t>があった </a:t>
            </a:r>
            <a:r>
              <a:rPr lang="en-US" altLang="ja-JP" sz="3600" dirty="0">
                <a:latin typeface="+mj-lt"/>
              </a:rPr>
              <a:t>(Fig3c)</a:t>
            </a:r>
            <a:r>
              <a:rPr lang="ja-JP" altLang="en-US" sz="3600" dirty="0"/>
              <a:t>．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82AD307-EBFD-CC6F-0A70-12A2762D89E7}"/>
              </a:ext>
            </a:extLst>
          </p:cNvPr>
          <p:cNvGrpSpPr/>
          <p:nvPr/>
        </p:nvGrpSpPr>
        <p:grpSpPr>
          <a:xfrm>
            <a:off x="38968" y="1659912"/>
            <a:ext cx="2739275" cy="2638064"/>
            <a:chOff x="38968" y="1659912"/>
            <a:chExt cx="2739275" cy="2638064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172F0CA4-E84C-7D59-FBC2-9FA41DB260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50901" y="1659912"/>
              <a:ext cx="2315410" cy="2040591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3DA33A63-F993-2AB8-EAD1-5510D432BC47}"/>
                </a:ext>
              </a:extLst>
            </p:cNvPr>
            <p:cNvSpPr txBox="1"/>
            <p:nvPr/>
          </p:nvSpPr>
          <p:spPr>
            <a:xfrm>
              <a:off x="38968" y="3713201"/>
              <a:ext cx="2739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Fig3a: F1A1</a:t>
              </a:r>
              <a:r>
                <a:rPr kumimoji="1" lang="ja-JP" altLang="en-US" sz="1600" dirty="0">
                  <a:latin typeface="+mj-ea"/>
                  <a:ea typeface="+mj-ea"/>
                </a:rPr>
                <a:t>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indent="92075" algn="ctr"/>
              <a:r>
                <a:rPr kumimoji="1" lang="ja-JP" altLang="en-US" sz="1600" dirty="0">
                  <a:latin typeface="+mj-ea"/>
                  <a:ea typeface="+mj-ea"/>
                </a:rPr>
                <a:t>マトグラム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5B357F8-5E53-BBD4-2031-76C5A1D73273}"/>
              </a:ext>
            </a:extLst>
          </p:cNvPr>
          <p:cNvGrpSpPr/>
          <p:nvPr/>
        </p:nvGrpSpPr>
        <p:grpSpPr>
          <a:xfrm>
            <a:off x="2593697" y="1651142"/>
            <a:ext cx="2739275" cy="2646833"/>
            <a:chOff x="2593697" y="1651142"/>
            <a:chExt cx="2739275" cy="2646833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69590B94-8B68-626E-12A0-C3CD7B5E1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739661" y="1651142"/>
              <a:ext cx="2428239" cy="2049362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2F2D6BE-CFBE-0A41-3DF1-542047567376}"/>
                </a:ext>
              </a:extLst>
            </p:cNvPr>
            <p:cNvSpPr txBox="1"/>
            <p:nvPr/>
          </p:nvSpPr>
          <p:spPr>
            <a:xfrm>
              <a:off x="2593697" y="3713200"/>
              <a:ext cx="2739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Fig3b: F2B1</a:t>
              </a:r>
              <a:r>
                <a:rPr kumimoji="1" lang="ja-JP" altLang="en-US" sz="1600" dirty="0">
                  <a:latin typeface="+mj-ea"/>
                  <a:ea typeface="+mj-ea"/>
                </a:rPr>
                <a:t>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indent="92075" algn="ctr"/>
              <a:r>
                <a:rPr kumimoji="1" lang="ja-JP" altLang="en-US" sz="1600" dirty="0">
                  <a:latin typeface="+mj-ea"/>
                  <a:ea typeface="+mj-ea"/>
                </a:rPr>
                <a:t>マトグラム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EC551691-B703-5F10-12CF-244E1B0F67DC}"/>
              </a:ext>
            </a:extLst>
          </p:cNvPr>
          <p:cNvGrpSpPr/>
          <p:nvPr/>
        </p:nvGrpSpPr>
        <p:grpSpPr>
          <a:xfrm>
            <a:off x="860712" y="4508803"/>
            <a:ext cx="3658657" cy="2391844"/>
            <a:chOff x="860712" y="4508803"/>
            <a:chExt cx="3658657" cy="2391844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BEAAD84C-3258-9108-DBA6-0C7E11C74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481117" y="4508803"/>
              <a:ext cx="2417848" cy="2040592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5880720-BA15-5EE1-2BF8-6B9C66327D51}"/>
                </a:ext>
              </a:extLst>
            </p:cNvPr>
            <p:cNvSpPr txBox="1"/>
            <p:nvPr/>
          </p:nvSpPr>
          <p:spPr>
            <a:xfrm>
              <a:off x="860712" y="6562093"/>
              <a:ext cx="36586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Fig3c: </a:t>
              </a:r>
              <a:r>
                <a:rPr kumimoji="1" lang="ja-JP" altLang="en-US" sz="1600" dirty="0">
                  <a:latin typeface="+mj-ea"/>
                  <a:ea typeface="+mj-ea"/>
                </a:rPr>
                <a:t>第</a:t>
              </a:r>
              <a:r>
                <a:rPr kumimoji="1" lang="en-US" altLang="ja-JP" sz="1600" dirty="0">
                  <a:latin typeface="+mj-lt"/>
                </a:rPr>
                <a:t>3</a:t>
              </a:r>
              <a:r>
                <a:rPr kumimoji="1" lang="ja-JP" altLang="en-US" sz="1600" dirty="0">
                  <a:latin typeface="+mj-ea"/>
                  <a:ea typeface="+mj-ea"/>
                </a:rPr>
                <a:t>分画のバイオアッセイ結果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118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3B555-12E3-77FF-0E1D-5978B6EBE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381B42-EEB4-7B70-5624-F53F65994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分画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60D54FF3-A890-8897-F91C-39B26212E29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en-US" altLang="ja-JP" dirty="0"/>
              <a:t>S3</a:t>
            </a:r>
            <a:r>
              <a:rPr lang="ja-JP" altLang="en-US" dirty="0"/>
              <a:t>分画について，再度ピークごとに分けて，</a:t>
            </a:r>
            <a:r>
              <a:rPr lang="en-US" altLang="ja-JP" dirty="0"/>
              <a:t>S3A, S3B, S3C</a:t>
            </a:r>
            <a:r>
              <a:rPr lang="ja-JP" altLang="en-US" dirty="0"/>
              <a:t>と名付けた </a:t>
            </a:r>
            <a:r>
              <a:rPr lang="en-US" altLang="ja-JP" dirty="0">
                <a:latin typeface="+mj-lt"/>
              </a:rPr>
              <a:t>(Fig4a)</a:t>
            </a:r>
            <a:r>
              <a:rPr lang="ja-JP" altLang="en-US" dirty="0"/>
              <a:t>．</a:t>
            </a:r>
            <a:endParaRPr lang="en-US" altLang="ja-JP" dirty="0"/>
          </a:p>
          <a:p>
            <a:r>
              <a:rPr lang="ja-JP" altLang="en-US" dirty="0"/>
              <a:t>バイオアッセイの結果から</a:t>
            </a:r>
            <a:r>
              <a:rPr lang="en-US" altLang="ja-JP" dirty="0">
                <a:solidFill>
                  <a:schemeClr val="accent6"/>
                </a:solidFill>
              </a:rPr>
              <a:t>S3B</a:t>
            </a:r>
            <a:r>
              <a:rPr lang="ja-JP" altLang="en-US" dirty="0">
                <a:solidFill>
                  <a:schemeClr val="accent6"/>
                </a:solidFill>
              </a:rPr>
              <a:t>に活性</a:t>
            </a:r>
            <a:r>
              <a:rPr lang="ja-JP" altLang="en-US" dirty="0"/>
              <a:t>があった </a:t>
            </a:r>
            <a:r>
              <a:rPr lang="en-US" altLang="ja-JP" dirty="0">
                <a:latin typeface="+mj-lt"/>
              </a:rPr>
              <a:t>(Fig4b)</a:t>
            </a:r>
            <a:r>
              <a:rPr lang="ja-JP" altLang="en-US" dirty="0"/>
              <a:t>．</a:t>
            </a:r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32A8D2C9-4E38-5597-F382-5C48F71C8472}"/>
              </a:ext>
            </a:extLst>
          </p:cNvPr>
          <p:cNvGrpSpPr/>
          <p:nvPr/>
        </p:nvGrpSpPr>
        <p:grpSpPr>
          <a:xfrm>
            <a:off x="386713" y="1598109"/>
            <a:ext cx="2739275" cy="2855459"/>
            <a:chOff x="386713" y="1598109"/>
            <a:chExt cx="2739275" cy="2855459"/>
          </a:xfrm>
        </p:grpSpPr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83718A59-D779-93FE-2F42-BD012080F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29417" y="1598109"/>
              <a:ext cx="2453869" cy="2247934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402A29CA-9121-AC93-9E60-079BEBE22E59}"/>
                </a:ext>
              </a:extLst>
            </p:cNvPr>
            <p:cNvSpPr txBox="1"/>
            <p:nvPr/>
          </p:nvSpPr>
          <p:spPr>
            <a:xfrm>
              <a:off x="386713" y="3868793"/>
              <a:ext cx="2739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Fig4a: S3</a:t>
              </a:r>
              <a:r>
                <a:rPr kumimoji="1" lang="ja-JP" altLang="en-US" sz="1600" dirty="0">
                  <a:latin typeface="+mj-ea"/>
                  <a:ea typeface="+mj-ea"/>
                </a:rPr>
                <a:t>分画の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algn="ctr"/>
              <a:r>
                <a:rPr kumimoji="1" lang="ja-JP" altLang="en-US" sz="1600" dirty="0">
                  <a:latin typeface="+mj-ea"/>
                  <a:ea typeface="+mj-ea"/>
                </a:rPr>
                <a:t>マトグラム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90FDD3D6-8904-24C0-250D-666F465F4D67}"/>
              </a:ext>
            </a:extLst>
          </p:cNvPr>
          <p:cNvGrpSpPr/>
          <p:nvPr/>
        </p:nvGrpSpPr>
        <p:grpSpPr>
          <a:xfrm>
            <a:off x="1692385" y="4279897"/>
            <a:ext cx="3658657" cy="2734405"/>
            <a:chOff x="1692385" y="4279897"/>
            <a:chExt cx="3658657" cy="2734405"/>
          </a:xfrm>
        </p:grpSpPr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84E84F45-0FCB-3F6E-8E87-7AD4E997A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"/>
            <a:stretch>
              <a:fillRect/>
            </a:stretch>
          </p:blipFill>
          <p:spPr>
            <a:xfrm>
              <a:off x="2627589" y="4279897"/>
              <a:ext cx="2338111" cy="2149630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293F42A3-CC20-568F-3A2F-FD7BF5A97FC6}"/>
                </a:ext>
              </a:extLst>
            </p:cNvPr>
            <p:cNvSpPr txBox="1"/>
            <p:nvPr/>
          </p:nvSpPr>
          <p:spPr>
            <a:xfrm>
              <a:off x="1692385" y="6429527"/>
              <a:ext cx="36586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Fig4b: S3</a:t>
              </a:r>
              <a:r>
                <a:rPr kumimoji="1" lang="ja-JP" altLang="en-US" sz="1600" dirty="0">
                  <a:latin typeface="+mj-ea"/>
                  <a:ea typeface="+mj-ea"/>
                </a:rPr>
                <a:t>サブ分画の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indent="1168400" algn="ctr"/>
              <a:r>
                <a:rPr kumimoji="1" lang="ja-JP" altLang="en-US" sz="1600" dirty="0">
                  <a:latin typeface="+mj-ea"/>
                  <a:ea typeface="+mj-ea"/>
                </a:rPr>
                <a:t>バイオアッセイ結果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4345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5A25FA-A25F-3B3A-DC9A-191DCBD8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分画フローチャート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49D0FFF-5925-8B61-CF7E-49FC2FB81777}"/>
              </a:ext>
            </a:extLst>
          </p:cNvPr>
          <p:cNvSpPr/>
          <p:nvPr/>
        </p:nvSpPr>
        <p:spPr>
          <a:xfrm>
            <a:off x="8884716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精製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HPLC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34A08C6-37DE-280D-B0A6-1BD3D9B32915}"/>
              </a:ext>
            </a:extLst>
          </p:cNvPr>
          <p:cNvSpPr/>
          <p:nvPr/>
        </p:nvSpPr>
        <p:spPr>
          <a:xfrm>
            <a:off x="7152767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ピーク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分け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AABD0A9C-4F98-213D-87B5-91FCA42B6769}"/>
              </a:ext>
            </a:extLst>
          </p:cNvPr>
          <p:cNvSpPr/>
          <p:nvPr/>
        </p:nvSpPr>
        <p:spPr>
          <a:xfrm>
            <a:off x="5475609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精密分画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HPLC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4F606F0-2F25-9383-E8C6-F0905CB6EAB0}"/>
              </a:ext>
            </a:extLst>
          </p:cNvPr>
          <p:cNvSpPr/>
          <p:nvPr/>
        </p:nvSpPr>
        <p:spPr>
          <a:xfrm>
            <a:off x="3771056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ピーク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分け</a:t>
            </a:r>
            <a:endParaRPr kumimoji="1" lang="en-US" altLang="ja-JP" sz="2000" kern="1200" dirty="0">
              <a:latin typeface="+mn-ea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1798D72-5939-158E-402D-FAAF41253114}"/>
              </a:ext>
            </a:extLst>
          </p:cNvPr>
          <p:cNvSpPr/>
          <p:nvPr/>
        </p:nvSpPr>
        <p:spPr>
          <a:xfrm>
            <a:off x="2066503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粗分画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HPLC</a:t>
            </a:r>
            <a:endParaRPr kumimoji="1" lang="ja-JP" altLang="en-US" sz="1600" kern="1200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15ACD53-6027-E79B-93F3-F3BF7E44E622}"/>
              </a:ext>
            </a:extLst>
          </p:cNvPr>
          <p:cNvSpPr/>
          <p:nvPr/>
        </p:nvSpPr>
        <p:spPr>
          <a:xfrm>
            <a:off x="361951" y="1475532"/>
            <a:ext cx="1461045" cy="497544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42240" tIns="142240" rIns="142240" bIns="3965459" numCol="1" spcCol="1270" anchor="ctr" anchorCtr="0">
            <a:noAutofit/>
          </a:bodyPr>
          <a:lstStyle/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n-ea"/>
              </a:rPr>
              <a:t>固相抽出</a:t>
            </a:r>
            <a:endParaRPr kumimoji="1" lang="en-US" altLang="ja-JP" sz="2000" kern="1200" dirty="0">
              <a:latin typeface="+mn-ea"/>
            </a:endParaRPr>
          </a:p>
          <a:p>
            <a:pPr marL="0" lvl="0" indent="0" algn="ctr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dirty="0"/>
              <a:t>C18</a:t>
            </a:r>
            <a:r>
              <a:rPr kumimoji="1" lang="ja-JP" altLang="en-US" sz="1600" dirty="0">
                <a:latin typeface="+mn-ea"/>
              </a:rPr>
              <a:t>カラム</a:t>
            </a:r>
            <a:endParaRPr kumimoji="1" lang="ja-JP" altLang="en-US" sz="1600" kern="1200" dirty="0">
              <a:latin typeface="+mn-ea"/>
            </a:endParaRPr>
          </a:p>
        </p:txBody>
      </p: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6D131DB6-EE3D-9C20-AD02-FB70892E0B21}"/>
              </a:ext>
            </a:extLst>
          </p:cNvPr>
          <p:cNvCxnSpPr>
            <a:cxnSpLocks/>
            <a:stCxn id="31" idx="3"/>
            <a:endCxn id="10" idx="1"/>
          </p:cNvCxnSpPr>
          <p:nvPr/>
        </p:nvCxnSpPr>
        <p:spPr>
          <a:xfrm>
            <a:off x="8519455" y="3745468"/>
            <a:ext cx="4870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8390AA2E-D637-4218-2E88-21DD9C2F4A16}"/>
              </a:ext>
            </a:extLst>
          </p:cNvPr>
          <p:cNvCxnSpPr>
            <a:stCxn id="27" idx="3"/>
            <a:endCxn id="29" idx="1"/>
          </p:cNvCxnSpPr>
          <p:nvPr/>
        </p:nvCxnSpPr>
        <p:spPr>
          <a:xfrm flipV="1">
            <a:off x="6814900" y="3282334"/>
            <a:ext cx="487015" cy="4631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12474B2E-0D19-2B1F-9DCC-A32D0A0D8B81}"/>
              </a:ext>
            </a:extLst>
          </p:cNvPr>
          <p:cNvCxnSpPr>
            <a:stCxn id="27" idx="3"/>
            <a:endCxn id="31" idx="1"/>
          </p:cNvCxnSpPr>
          <p:nvPr/>
        </p:nvCxnSpPr>
        <p:spPr>
          <a:xfrm>
            <a:off x="6814900" y="3745468"/>
            <a:ext cx="487018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1D9D997-555A-A794-9EA4-D553ECB7BBD9}"/>
              </a:ext>
            </a:extLst>
          </p:cNvPr>
          <p:cNvCxnSpPr>
            <a:stCxn id="27" idx="3"/>
            <a:endCxn id="35" idx="1"/>
          </p:cNvCxnSpPr>
          <p:nvPr/>
        </p:nvCxnSpPr>
        <p:spPr>
          <a:xfrm>
            <a:off x="6814900" y="3745468"/>
            <a:ext cx="487018" cy="4574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985150AB-1B97-6289-F2DD-C4422D9EB0CF}"/>
              </a:ext>
            </a:extLst>
          </p:cNvPr>
          <p:cNvCxnSpPr>
            <a:cxnSpLocks/>
            <a:stCxn id="47" idx="3"/>
            <a:endCxn id="20" idx="1"/>
          </p:cNvCxnSpPr>
          <p:nvPr/>
        </p:nvCxnSpPr>
        <p:spPr>
          <a:xfrm>
            <a:off x="6814900" y="5117687"/>
            <a:ext cx="2191569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B47CF802-398E-7032-F000-04A924F87071}"/>
              </a:ext>
            </a:extLst>
          </p:cNvPr>
          <p:cNvCxnSpPr>
            <a:cxnSpLocks/>
            <a:stCxn id="21" idx="3"/>
            <a:endCxn id="39" idx="1"/>
          </p:cNvCxnSpPr>
          <p:nvPr/>
        </p:nvCxnSpPr>
        <p:spPr>
          <a:xfrm>
            <a:off x="5110348" y="3745468"/>
            <a:ext cx="487015" cy="91481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50EFC240-336D-AEE6-C616-63DCCEBC7549}"/>
              </a:ext>
            </a:extLst>
          </p:cNvPr>
          <p:cNvCxnSpPr>
            <a:cxnSpLocks/>
            <a:stCxn id="21" idx="3"/>
            <a:endCxn id="37" idx="1"/>
          </p:cNvCxnSpPr>
          <p:nvPr/>
        </p:nvCxnSpPr>
        <p:spPr>
          <a:xfrm>
            <a:off x="5110348" y="3745468"/>
            <a:ext cx="487015" cy="4574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E8C7755A-4285-4221-7282-546DC122CEA9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>
            <a:off x="5110348" y="3745468"/>
            <a:ext cx="487015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43060C1F-A5B1-1016-D336-81FC27611DFB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 flipV="1">
            <a:off x="5110348" y="3288062"/>
            <a:ext cx="487015" cy="45740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95110F39-925B-6746-8163-F27B20BF08D1}"/>
              </a:ext>
            </a:extLst>
          </p:cNvPr>
          <p:cNvCxnSpPr>
            <a:stCxn id="21" idx="3"/>
            <a:endCxn id="23" idx="1"/>
          </p:cNvCxnSpPr>
          <p:nvPr/>
        </p:nvCxnSpPr>
        <p:spPr>
          <a:xfrm flipV="1">
            <a:off x="5110348" y="2830657"/>
            <a:ext cx="487015" cy="91481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68843B24-E5E9-AFFC-8E1F-AAAEFEF45183}"/>
              </a:ext>
            </a:extLst>
          </p:cNvPr>
          <p:cNvCxnSpPr>
            <a:cxnSpLocks/>
            <a:stCxn id="45" idx="3"/>
            <a:endCxn id="47" idx="1"/>
          </p:cNvCxnSpPr>
          <p:nvPr/>
        </p:nvCxnSpPr>
        <p:spPr>
          <a:xfrm flipV="1">
            <a:off x="5110348" y="5117687"/>
            <a:ext cx="487015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1A6E20D4-13B6-8F25-7286-CF0AB2A8BD02}"/>
              </a:ext>
            </a:extLst>
          </p:cNvPr>
          <p:cNvCxnSpPr>
            <a:cxnSpLocks/>
            <a:stCxn id="45" idx="3"/>
            <a:endCxn id="51" idx="1"/>
          </p:cNvCxnSpPr>
          <p:nvPr/>
        </p:nvCxnSpPr>
        <p:spPr>
          <a:xfrm>
            <a:off x="5110348" y="5346390"/>
            <a:ext cx="487015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39746E99-F80C-AD73-9D04-8F6D291342E1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 flipV="1">
            <a:off x="3405794" y="3745468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94A606C1-1EFB-1A9F-C596-619E65EACFD6}"/>
              </a:ext>
            </a:extLst>
          </p:cNvPr>
          <p:cNvCxnSpPr>
            <a:stCxn id="19" idx="3"/>
            <a:endCxn id="41" idx="1"/>
          </p:cNvCxnSpPr>
          <p:nvPr/>
        </p:nvCxnSpPr>
        <p:spPr>
          <a:xfrm>
            <a:off x="3405794" y="3974171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BB429B51-B746-28F1-04BB-8AA058A21A20}"/>
              </a:ext>
            </a:extLst>
          </p:cNvPr>
          <p:cNvCxnSpPr>
            <a:stCxn id="43" idx="3"/>
            <a:endCxn id="45" idx="1"/>
          </p:cNvCxnSpPr>
          <p:nvPr/>
        </p:nvCxnSpPr>
        <p:spPr>
          <a:xfrm flipV="1">
            <a:off x="3405794" y="5346390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2560EA94-0758-A59E-B5C7-E57E64CCEA7E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>
            <a:off x="3405794" y="5575093"/>
            <a:ext cx="487017" cy="228703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4ED6D74B-9B0E-BE88-E19C-B95BFFF515A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1701242" y="3974171"/>
            <a:ext cx="487015" cy="10291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976671E4-C4EF-AB07-609A-07DCC103E75B}"/>
              </a:ext>
            </a:extLst>
          </p:cNvPr>
          <p:cNvCxnSpPr>
            <a:stCxn id="17" idx="3"/>
            <a:endCxn id="43" idx="1"/>
          </p:cNvCxnSpPr>
          <p:nvPr/>
        </p:nvCxnSpPr>
        <p:spPr>
          <a:xfrm>
            <a:off x="1701242" y="5003335"/>
            <a:ext cx="487015" cy="57175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9AE96560-964F-E436-EEC7-B05E84F587E5}"/>
              </a:ext>
            </a:extLst>
          </p:cNvPr>
          <p:cNvCxnSpPr>
            <a:stCxn id="17" idx="3"/>
            <a:endCxn id="55" idx="1"/>
          </p:cNvCxnSpPr>
          <p:nvPr/>
        </p:nvCxnSpPr>
        <p:spPr>
          <a:xfrm>
            <a:off x="1701242" y="5003335"/>
            <a:ext cx="487015" cy="10291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702F9B5-E0E7-D2A6-FFC5-7AECCCAE9730}"/>
              </a:ext>
            </a:extLst>
          </p:cNvPr>
          <p:cNvSpPr/>
          <p:nvPr/>
        </p:nvSpPr>
        <p:spPr>
          <a:xfrm>
            <a:off x="483705" y="4804463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1600" kern="1200" dirty="0">
                <a:latin typeface="+mn-ea"/>
              </a:rPr>
              <a:t>中極性画分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53D1E29A-0ABE-B023-1A18-633CC517192F}"/>
              </a:ext>
            </a:extLst>
          </p:cNvPr>
          <p:cNvSpPr/>
          <p:nvPr/>
        </p:nvSpPr>
        <p:spPr>
          <a:xfrm>
            <a:off x="2188257" y="3775299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F1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CC3DCB5-A32D-FBF8-9FD5-FC64FCB2A2A1}"/>
              </a:ext>
            </a:extLst>
          </p:cNvPr>
          <p:cNvSpPr/>
          <p:nvPr/>
        </p:nvSpPr>
        <p:spPr>
          <a:xfrm>
            <a:off x="3892811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F1A1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3DF4E0F0-967C-9E85-8DAF-F245ADA326FC}"/>
              </a:ext>
            </a:extLst>
          </p:cNvPr>
          <p:cNvSpPr/>
          <p:nvPr/>
        </p:nvSpPr>
        <p:spPr>
          <a:xfrm>
            <a:off x="5597363" y="2631785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S1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AB0B36FA-2E33-921C-B184-6E7AE990C891}"/>
              </a:ext>
            </a:extLst>
          </p:cNvPr>
          <p:cNvSpPr/>
          <p:nvPr/>
        </p:nvSpPr>
        <p:spPr>
          <a:xfrm>
            <a:off x="5597363" y="3089190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S2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025AA89-CDDF-54E5-85B4-5014D00A2648}"/>
              </a:ext>
            </a:extLst>
          </p:cNvPr>
          <p:cNvSpPr/>
          <p:nvPr/>
        </p:nvSpPr>
        <p:spPr>
          <a:xfrm>
            <a:off x="5597363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S3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D1D036B8-6286-D395-5619-511400B2F5DB}"/>
              </a:ext>
            </a:extLst>
          </p:cNvPr>
          <p:cNvSpPr/>
          <p:nvPr/>
        </p:nvSpPr>
        <p:spPr>
          <a:xfrm>
            <a:off x="7301918" y="3089190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S3A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99A5EEBF-E056-DF4C-6B00-FE098826E009}"/>
              </a:ext>
            </a:extLst>
          </p:cNvPr>
          <p:cNvSpPr/>
          <p:nvPr/>
        </p:nvSpPr>
        <p:spPr>
          <a:xfrm>
            <a:off x="7301918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S3B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A530E9EB-51D4-E8D0-354E-52AE780C3A7B}"/>
              </a:ext>
            </a:extLst>
          </p:cNvPr>
          <p:cNvSpPr/>
          <p:nvPr/>
        </p:nvSpPr>
        <p:spPr>
          <a:xfrm>
            <a:off x="7301918" y="4004002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S3C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0B0B132D-2464-00BA-302A-3DE071C59859}"/>
              </a:ext>
            </a:extLst>
          </p:cNvPr>
          <p:cNvSpPr/>
          <p:nvPr/>
        </p:nvSpPr>
        <p:spPr>
          <a:xfrm>
            <a:off x="5597363" y="4004002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S4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6200874-2716-7571-ED42-BC6AEB53108D}"/>
              </a:ext>
            </a:extLst>
          </p:cNvPr>
          <p:cNvSpPr/>
          <p:nvPr/>
        </p:nvSpPr>
        <p:spPr>
          <a:xfrm>
            <a:off x="5597363" y="4461409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S5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81F7B413-F500-B217-18B2-A8F18B7A3D92}"/>
              </a:ext>
            </a:extLst>
          </p:cNvPr>
          <p:cNvSpPr/>
          <p:nvPr/>
        </p:nvSpPr>
        <p:spPr>
          <a:xfrm>
            <a:off x="3892811" y="4004002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F1A2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50E01C93-58FB-215C-FF09-A2D7B7775BA6}"/>
              </a:ext>
            </a:extLst>
          </p:cNvPr>
          <p:cNvSpPr/>
          <p:nvPr/>
        </p:nvSpPr>
        <p:spPr>
          <a:xfrm>
            <a:off x="2188257" y="5376221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F2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5BD84BCB-2947-5BB3-EFDC-57057E5AFEEB}"/>
              </a:ext>
            </a:extLst>
          </p:cNvPr>
          <p:cNvSpPr/>
          <p:nvPr/>
        </p:nvSpPr>
        <p:spPr>
          <a:xfrm>
            <a:off x="3892811" y="5147518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F2B1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8C1A61D8-43FC-61E6-F3F7-B2C78ABBAB21}"/>
              </a:ext>
            </a:extLst>
          </p:cNvPr>
          <p:cNvSpPr/>
          <p:nvPr/>
        </p:nvSpPr>
        <p:spPr>
          <a:xfrm>
            <a:off x="5597363" y="4918815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>
                <a:latin typeface="+mj-lt"/>
              </a:rPr>
              <a:t>S6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E1580DFD-3EE2-0765-1E5E-01766E6BD6DC}"/>
              </a:ext>
            </a:extLst>
          </p:cNvPr>
          <p:cNvSpPr/>
          <p:nvPr/>
        </p:nvSpPr>
        <p:spPr>
          <a:xfrm>
            <a:off x="5597363" y="5376221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S7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53" name="四角形: 角を丸くする 52">
            <a:extLst>
              <a:ext uri="{FF2B5EF4-FFF2-40B4-BE49-F238E27FC236}">
                <a16:creationId xmlns:a16="http://schemas.microsoft.com/office/drawing/2014/main" id="{D1698C78-C349-BF2A-29E1-17EAC3E39F99}"/>
              </a:ext>
            </a:extLst>
          </p:cNvPr>
          <p:cNvSpPr/>
          <p:nvPr/>
        </p:nvSpPr>
        <p:spPr>
          <a:xfrm>
            <a:off x="3892811" y="5604924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F2B2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ADDA6B11-6B13-1BC5-A0F9-F58BCAC13C1D}"/>
              </a:ext>
            </a:extLst>
          </p:cNvPr>
          <p:cNvSpPr/>
          <p:nvPr/>
        </p:nvSpPr>
        <p:spPr>
          <a:xfrm>
            <a:off x="2188257" y="5833627"/>
            <a:ext cx="1217537" cy="397744"/>
          </a:xfrm>
          <a:prstGeom prst="roundRect">
            <a:avLst/>
          </a:prstGeom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>
                <a:latin typeface="+mj-lt"/>
              </a:rPr>
              <a:t>F3</a:t>
            </a:r>
            <a:endParaRPr kumimoji="1" lang="ja-JP" altLang="en-US" sz="1600" kern="1200" dirty="0">
              <a:latin typeface="+mj-lt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FDAA02F1-C590-E43B-ED4C-D557C12620BD}"/>
              </a:ext>
            </a:extLst>
          </p:cNvPr>
          <p:cNvSpPr/>
          <p:nvPr/>
        </p:nvSpPr>
        <p:spPr>
          <a:xfrm>
            <a:off x="2188253" y="3775299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F1</a:t>
            </a:r>
            <a:endParaRPr kumimoji="1" lang="ja-JP" altLang="en-US" sz="1600" kern="1200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4E0D45D-7DCF-FCD8-4F69-5C141C26804E}"/>
              </a:ext>
            </a:extLst>
          </p:cNvPr>
          <p:cNvSpPr/>
          <p:nvPr/>
        </p:nvSpPr>
        <p:spPr>
          <a:xfrm>
            <a:off x="2188252" y="5379114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F2</a:t>
            </a:r>
            <a:endParaRPr kumimoji="1" lang="ja-JP" altLang="en-US" sz="1600" kern="12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E996C58-7929-9EA9-9E1E-6B1F6D5B6832}"/>
              </a:ext>
            </a:extLst>
          </p:cNvPr>
          <p:cNvSpPr/>
          <p:nvPr/>
        </p:nvSpPr>
        <p:spPr>
          <a:xfrm>
            <a:off x="3891263" y="3551669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F1A1</a:t>
            </a:r>
            <a:endParaRPr kumimoji="1" lang="ja-JP" altLang="en-US" sz="1600" kern="1200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97A2D6D-E6DD-EADF-099E-D379B4143F68}"/>
              </a:ext>
            </a:extLst>
          </p:cNvPr>
          <p:cNvSpPr/>
          <p:nvPr/>
        </p:nvSpPr>
        <p:spPr>
          <a:xfrm>
            <a:off x="3891263" y="5144625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F2B1</a:t>
            </a:r>
            <a:endParaRPr kumimoji="1" lang="ja-JP" altLang="en-US" sz="1600" kern="1200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381EB62-E4BA-0A06-95D9-2324188EFDF2}"/>
              </a:ext>
            </a:extLst>
          </p:cNvPr>
          <p:cNvSpPr/>
          <p:nvPr/>
        </p:nvSpPr>
        <p:spPr>
          <a:xfrm>
            <a:off x="5597361" y="3551669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S3</a:t>
            </a:r>
            <a:endParaRPr kumimoji="1" lang="ja-JP" altLang="en-US" sz="1600" kern="1200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6A93D81-21FC-2E3B-FB96-293FCFE8FD37}"/>
              </a:ext>
            </a:extLst>
          </p:cNvPr>
          <p:cNvSpPr/>
          <p:nvPr/>
        </p:nvSpPr>
        <p:spPr>
          <a:xfrm>
            <a:off x="5597363" y="4918479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S6</a:t>
            </a:r>
            <a:endParaRPr kumimoji="1" lang="ja-JP" altLang="en-US" sz="1600" kern="1200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4F1187E-0C99-2907-2BF5-67651D1E5C89}"/>
              </a:ext>
            </a:extLst>
          </p:cNvPr>
          <p:cNvSpPr/>
          <p:nvPr/>
        </p:nvSpPr>
        <p:spPr>
          <a:xfrm>
            <a:off x="7301915" y="3551914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S3B</a:t>
            </a:r>
            <a:endParaRPr kumimoji="1" lang="ja-JP" altLang="en-US" sz="1600" kern="1200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A33BAF33-03E2-0649-B859-54FE04A8D0A6}"/>
              </a:ext>
            </a:extLst>
          </p:cNvPr>
          <p:cNvSpPr/>
          <p:nvPr/>
        </p:nvSpPr>
        <p:spPr>
          <a:xfrm>
            <a:off x="9006470" y="3546596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/>
              <a:t>P-1</a:t>
            </a:r>
            <a:endParaRPr kumimoji="1" lang="ja-JP" altLang="en-US" sz="1600" kern="1200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1058BC6C-7FAE-5C2B-8B24-0B441499E70A}"/>
              </a:ext>
            </a:extLst>
          </p:cNvPr>
          <p:cNvSpPr/>
          <p:nvPr/>
        </p:nvSpPr>
        <p:spPr>
          <a:xfrm>
            <a:off x="9006469" y="4918815"/>
            <a:ext cx="1217537" cy="397744"/>
          </a:xfrm>
          <a:prstGeom prst="roundRect">
            <a:avLst/>
          </a:prstGeom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18643" tIns="18643" rIns="18643" bIns="18643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1600" kern="1200" dirty="0"/>
              <a:t>P-2</a:t>
            </a:r>
            <a:endParaRPr kumimoji="1" lang="ja-JP" altLang="en-US" sz="1600" kern="1200" dirty="0"/>
          </a:p>
        </p:txBody>
      </p:sp>
      <p:sp>
        <p:nvSpPr>
          <p:cNvPr id="30" name="フリーフォーム: 図形 29">
            <a:extLst>
              <a:ext uri="{FF2B5EF4-FFF2-40B4-BE49-F238E27FC236}">
                <a16:creationId xmlns:a16="http://schemas.microsoft.com/office/drawing/2014/main" id="{AD6291A2-F4F9-3256-B563-1ADBB59C9CD2}"/>
              </a:ext>
            </a:extLst>
          </p:cNvPr>
          <p:cNvSpPr/>
          <p:nvPr/>
        </p:nvSpPr>
        <p:spPr>
          <a:xfrm>
            <a:off x="234053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0 w 1813465"/>
              <a:gd name="csY5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ja-JP" altLang="en-US" sz="2000" kern="1200" dirty="0">
                <a:latin typeface="+mj-ea"/>
                <a:ea typeface="+mj-ea"/>
              </a:rPr>
              <a:t>事前分離</a:t>
            </a:r>
          </a:p>
        </p:txBody>
      </p:sp>
      <p:sp>
        <p:nvSpPr>
          <p:cNvPr id="32" name="フリーフォーム: 図形 31">
            <a:extLst>
              <a:ext uri="{FF2B5EF4-FFF2-40B4-BE49-F238E27FC236}">
                <a16:creationId xmlns:a16="http://schemas.microsoft.com/office/drawing/2014/main" id="{09FE421F-FC3D-39DE-C28F-A97F8CA6DBF7}"/>
              </a:ext>
            </a:extLst>
          </p:cNvPr>
          <p:cNvSpPr/>
          <p:nvPr/>
        </p:nvSpPr>
        <p:spPr>
          <a:xfrm>
            <a:off x="1944749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 dirty="0">
                <a:latin typeface="+mj-lt"/>
              </a:rPr>
              <a:t>Fig1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33" name="フリーフォーム: 図形 32">
            <a:extLst>
              <a:ext uri="{FF2B5EF4-FFF2-40B4-BE49-F238E27FC236}">
                <a16:creationId xmlns:a16="http://schemas.microsoft.com/office/drawing/2014/main" id="{305F7FFC-3C91-DD37-01E2-1F5DB15E28D0}"/>
              </a:ext>
            </a:extLst>
          </p:cNvPr>
          <p:cNvSpPr/>
          <p:nvPr/>
        </p:nvSpPr>
        <p:spPr>
          <a:xfrm>
            <a:off x="3646209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 dirty="0">
                <a:latin typeface="+mj-lt"/>
              </a:rPr>
              <a:t>Fig2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34" name="フリーフォーム: 図形 33">
            <a:extLst>
              <a:ext uri="{FF2B5EF4-FFF2-40B4-BE49-F238E27FC236}">
                <a16:creationId xmlns:a16="http://schemas.microsoft.com/office/drawing/2014/main" id="{78F87A26-7D53-591D-17BE-A4B51B641BB6}"/>
              </a:ext>
            </a:extLst>
          </p:cNvPr>
          <p:cNvSpPr/>
          <p:nvPr/>
        </p:nvSpPr>
        <p:spPr>
          <a:xfrm>
            <a:off x="5343114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>
                <a:latin typeface="+mj-lt"/>
              </a:rPr>
              <a:t>Fig3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F5B85BC4-D573-A989-A56D-3E4787AB180F}"/>
              </a:ext>
            </a:extLst>
          </p:cNvPr>
          <p:cNvSpPr/>
          <p:nvPr/>
        </p:nvSpPr>
        <p:spPr>
          <a:xfrm>
            <a:off x="7056860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>
                <a:latin typeface="+mj-lt"/>
              </a:rPr>
              <a:t>Fig4</a:t>
            </a:r>
            <a:endParaRPr kumimoji="1" lang="ja-JP" altLang="en-US" sz="2000" kern="1200" dirty="0">
              <a:latin typeface="+mj-lt"/>
            </a:endParaRPr>
          </a:p>
        </p:txBody>
      </p:sp>
      <p:sp>
        <p:nvSpPr>
          <p:cNvPr id="38" name="フリーフォーム: 図形 37">
            <a:extLst>
              <a:ext uri="{FF2B5EF4-FFF2-40B4-BE49-F238E27FC236}">
                <a16:creationId xmlns:a16="http://schemas.microsoft.com/office/drawing/2014/main" id="{D3492E35-5014-B5BD-1227-B950594B0DEF}"/>
              </a:ext>
            </a:extLst>
          </p:cNvPr>
          <p:cNvSpPr/>
          <p:nvPr/>
        </p:nvSpPr>
        <p:spPr>
          <a:xfrm>
            <a:off x="8770606" y="6541547"/>
            <a:ext cx="1707646" cy="419030"/>
          </a:xfrm>
          <a:custGeom>
            <a:avLst/>
            <a:gdLst>
              <a:gd name="csX0" fmla="*/ 0 w 1813465"/>
              <a:gd name="csY0" fmla="*/ 0 h 419030"/>
              <a:gd name="csX1" fmla="*/ 1603950 w 1813465"/>
              <a:gd name="csY1" fmla="*/ 0 h 419030"/>
              <a:gd name="csX2" fmla="*/ 1813465 w 1813465"/>
              <a:gd name="csY2" fmla="*/ 209515 h 419030"/>
              <a:gd name="csX3" fmla="*/ 1603950 w 1813465"/>
              <a:gd name="csY3" fmla="*/ 419030 h 419030"/>
              <a:gd name="csX4" fmla="*/ 0 w 1813465"/>
              <a:gd name="csY4" fmla="*/ 419030 h 419030"/>
              <a:gd name="csX5" fmla="*/ 209515 w 1813465"/>
              <a:gd name="csY5" fmla="*/ 209515 h 419030"/>
              <a:gd name="csX6" fmla="*/ 0 w 1813465"/>
              <a:gd name="csY6" fmla="*/ 0 h 4190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813465" h="419030">
                <a:moveTo>
                  <a:pt x="0" y="0"/>
                </a:moveTo>
                <a:lnTo>
                  <a:pt x="1603950" y="0"/>
                </a:lnTo>
                <a:lnTo>
                  <a:pt x="1813465" y="209515"/>
                </a:lnTo>
                <a:lnTo>
                  <a:pt x="1603950" y="419030"/>
                </a:lnTo>
                <a:lnTo>
                  <a:pt x="0" y="419030"/>
                </a:lnTo>
                <a:lnTo>
                  <a:pt x="209515" y="209515"/>
                </a:lnTo>
                <a:lnTo>
                  <a:pt x="0" y="0"/>
                </a:lnTo>
                <a:close/>
              </a:path>
            </a:pathLst>
          </a:custGeom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0" vert="horz" wrap="square" lIns="305527" tIns="32004" rIns="241519" bIns="32004" numCol="1" spcCol="1270" anchor="ctr" anchorCtr="0">
            <a:noAutofit/>
          </a:bodyPr>
          <a:lstStyle/>
          <a:p>
            <a:pPr marL="0" lvl="0" indent="0" algn="ctr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kumimoji="1" lang="en-US" altLang="ja-JP" sz="2000" kern="1200" dirty="0">
                <a:latin typeface="+mj-lt"/>
              </a:rPr>
              <a:t>Fig5</a:t>
            </a:r>
            <a:endParaRPr kumimoji="1" lang="ja-JP" altLang="en-US" sz="2000" kern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092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20" grpId="0" animBg="1"/>
      <p:bldP spid="3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C6448-2CBD-6193-AE9C-0CF4921F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5D7D15-0DCE-2E53-3D65-0A21F97D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最終精製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1DB1C2A-CF41-F84C-2748-D583201A5E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26F8A1EE-9D54-380D-D717-E418A3AE71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082" y="2636380"/>
            <a:ext cx="10455647" cy="3049601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96FB2C1-AC34-E033-B52B-9F35687E6332}"/>
              </a:ext>
            </a:extLst>
          </p:cNvPr>
          <p:cNvSpPr/>
          <p:nvPr/>
        </p:nvSpPr>
        <p:spPr>
          <a:xfrm>
            <a:off x="9322595" y="3556000"/>
            <a:ext cx="585786" cy="223837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99C6755-3119-37AC-D79B-5A6F44CF26C7}"/>
              </a:ext>
            </a:extLst>
          </p:cNvPr>
          <p:cNvSpPr/>
          <p:nvPr/>
        </p:nvSpPr>
        <p:spPr>
          <a:xfrm>
            <a:off x="7367588" y="3556000"/>
            <a:ext cx="704849" cy="223837"/>
          </a:xfrm>
          <a:prstGeom prst="rect">
            <a:avLst/>
          </a:prstGeom>
          <a:solidFill>
            <a:srgbClr val="FEFE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38C8BB6-F4FA-7E1A-EDFF-216F5962B1B1}"/>
              </a:ext>
            </a:extLst>
          </p:cNvPr>
          <p:cNvSpPr txBox="1"/>
          <p:nvPr/>
        </p:nvSpPr>
        <p:spPr>
          <a:xfrm>
            <a:off x="7279025" y="3514029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+mj-lt"/>
              </a:rPr>
              <a:t>S3B</a:t>
            </a:r>
            <a:r>
              <a:rPr kumimoji="1" lang="ja-JP" altLang="en-US" sz="1400" dirty="0">
                <a:latin typeface="+mj-ea"/>
                <a:ea typeface="+mj-ea"/>
              </a:rPr>
              <a:t>由来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3967FF7-E252-8192-3F9D-4AF9A66BFEAE}"/>
              </a:ext>
            </a:extLst>
          </p:cNvPr>
          <p:cNvSpPr txBox="1"/>
          <p:nvPr/>
        </p:nvSpPr>
        <p:spPr>
          <a:xfrm>
            <a:off x="9229003" y="3514028"/>
            <a:ext cx="7729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+mj-lt"/>
              </a:rPr>
              <a:t>S6</a:t>
            </a:r>
            <a:r>
              <a:rPr kumimoji="1" lang="ja-JP" altLang="en-US" sz="1400" dirty="0">
                <a:latin typeface="+mj-ea"/>
                <a:ea typeface="+mj-ea"/>
              </a:rPr>
              <a:t>由来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3A060AF-FB30-57D8-E5CD-17F9EEE5AAFD}"/>
              </a:ext>
            </a:extLst>
          </p:cNvPr>
          <p:cNvSpPr/>
          <p:nvPr/>
        </p:nvSpPr>
        <p:spPr>
          <a:xfrm>
            <a:off x="4552948" y="4833938"/>
            <a:ext cx="666750" cy="25717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BE62970-5771-6140-1E9F-31A378C5132E}"/>
              </a:ext>
            </a:extLst>
          </p:cNvPr>
          <p:cNvSpPr txBox="1"/>
          <p:nvPr/>
        </p:nvSpPr>
        <p:spPr>
          <a:xfrm>
            <a:off x="4476687" y="4807537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+mj-ea"/>
                <a:ea typeface="+mj-ea"/>
              </a:rPr>
              <a:t>篩管液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7F2F35-456A-FD89-2CF3-EA452CC3DF1E}"/>
              </a:ext>
            </a:extLst>
          </p:cNvPr>
          <p:cNvSpPr/>
          <p:nvPr/>
        </p:nvSpPr>
        <p:spPr>
          <a:xfrm>
            <a:off x="3914775" y="5101175"/>
            <a:ext cx="638173" cy="257175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FCBF6AC-8A6D-DD02-F260-60CCC59D7084}"/>
              </a:ext>
            </a:extLst>
          </p:cNvPr>
          <p:cNvSpPr txBox="1"/>
          <p:nvPr/>
        </p:nvSpPr>
        <p:spPr>
          <a:xfrm>
            <a:off x="3833751" y="506795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+mn-ea"/>
              </a:rPr>
              <a:t>篩管液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D4F689B-B519-3A3E-1903-DFD4944984F5}"/>
              </a:ext>
            </a:extLst>
          </p:cNvPr>
          <p:cNvSpPr/>
          <p:nvPr/>
        </p:nvSpPr>
        <p:spPr>
          <a:xfrm>
            <a:off x="4919663" y="5091113"/>
            <a:ext cx="426243" cy="267237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73FFA3-FB51-C209-5987-3FBA308BA442}"/>
              </a:ext>
            </a:extLst>
          </p:cNvPr>
          <p:cNvSpPr txBox="1"/>
          <p:nvPr/>
        </p:nvSpPr>
        <p:spPr>
          <a:xfrm>
            <a:off x="4835266" y="507748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溶出</a:t>
            </a:r>
          </a:p>
        </p:txBody>
      </p:sp>
    </p:spTree>
    <p:extLst>
      <p:ext uri="{BB962C8B-B14F-4D97-AF65-F5344CB8AC3E}">
        <p14:creationId xmlns:p14="http://schemas.microsoft.com/office/powerpoint/2010/main" val="2074005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03027-950D-A0C6-5D83-03EB4D005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精製</a:t>
            </a:r>
            <a:r>
              <a:rPr lang="ja-JP" altLang="en-US" dirty="0"/>
              <a:t>後のクロマトグラム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06CC8C-2CA0-7289-C333-2A152BD77E6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105488" y="1368572"/>
            <a:ext cx="5586326" cy="5646765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sz="3200" dirty="0"/>
              <a:t>純化した</a:t>
            </a:r>
            <a:r>
              <a:rPr lang="en-US" altLang="ja-JP" sz="3200" dirty="0"/>
              <a:t>2</a:t>
            </a:r>
            <a:r>
              <a:rPr lang="ja-JP" altLang="en-US" sz="3200" dirty="0"/>
              <a:t>つの活性物質</a:t>
            </a:r>
            <a:r>
              <a:rPr lang="en-US" altLang="ja-JP" sz="3200" dirty="0"/>
              <a:t>P-1, P-2</a:t>
            </a:r>
            <a:r>
              <a:rPr lang="ja-JP" altLang="en-US" sz="3200" dirty="0"/>
              <a:t>の</a:t>
            </a:r>
            <a:r>
              <a:rPr lang="en-US" altLang="ja-JP" sz="3200" dirty="0"/>
              <a:t>HPLC</a:t>
            </a:r>
            <a:r>
              <a:rPr lang="ja-JP" altLang="en-US" sz="3200" dirty="0"/>
              <a:t>クロマトグラムである </a:t>
            </a:r>
            <a:r>
              <a:rPr lang="en-US" altLang="ja-JP" sz="3200" dirty="0">
                <a:latin typeface="+mj-lt"/>
              </a:rPr>
              <a:t>(Fig5a, 5b)</a:t>
            </a:r>
            <a:r>
              <a:rPr lang="ja-JP" altLang="en-US" sz="3200" dirty="0"/>
              <a:t>．</a:t>
            </a:r>
            <a:endParaRPr lang="en-US" altLang="ja-JP" sz="3200" dirty="0"/>
          </a:p>
          <a:p>
            <a:r>
              <a:rPr lang="ja-JP" altLang="en-US" sz="3200" dirty="0"/>
              <a:t>ピークの形状が</a:t>
            </a:r>
            <a:r>
              <a:rPr lang="ja-JP" altLang="en-US" sz="3200" dirty="0">
                <a:solidFill>
                  <a:schemeClr val="accent6"/>
                </a:solidFill>
              </a:rPr>
              <a:t>左右対称で滑らかな形状</a:t>
            </a:r>
            <a:r>
              <a:rPr lang="ja-JP" altLang="en-US" sz="3200" dirty="0"/>
              <a:t>をしている．</a:t>
            </a:r>
            <a:endParaRPr lang="en-US" altLang="ja-JP" sz="3200" dirty="0"/>
          </a:p>
          <a:p>
            <a:r>
              <a:rPr lang="ja-JP" altLang="en-US" sz="3200" dirty="0"/>
              <a:t>そのため，</a:t>
            </a:r>
            <a:r>
              <a:rPr lang="ja-JP" altLang="en-US" sz="3200" dirty="0">
                <a:solidFill>
                  <a:schemeClr val="accent6"/>
                </a:solidFill>
              </a:rPr>
              <a:t>高い純度まで精製</a:t>
            </a:r>
            <a:r>
              <a:rPr lang="ja-JP" altLang="en-US" sz="3200" dirty="0"/>
              <a:t>されていることを示唆している．</a:t>
            </a:r>
            <a:endParaRPr lang="en-US" altLang="ja-JP" sz="3200" dirty="0"/>
          </a:p>
          <a:p>
            <a:r>
              <a:rPr kumimoji="1" lang="ja-JP" altLang="en-US" sz="3200" dirty="0"/>
              <a:t>バイオアッセイの結果から，</a:t>
            </a:r>
            <a:r>
              <a:rPr kumimoji="1" lang="ja-JP" altLang="en-US" sz="3200" dirty="0">
                <a:solidFill>
                  <a:schemeClr val="accent6"/>
                </a:solidFill>
              </a:rPr>
              <a:t>両者ともに活性</a:t>
            </a:r>
            <a:r>
              <a:rPr kumimoji="1" lang="ja-JP" altLang="en-US" sz="3200" dirty="0"/>
              <a:t>があることが確認できる </a:t>
            </a:r>
            <a:r>
              <a:rPr kumimoji="1" lang="en-US" altLang="ja-JP" sz="3200" dirty="0">
                <a:latin typeface="+mj-lt"/>
              </a:rPr>
              <a:t>(Fig5c)</a:t>
            </a:r>
            <a:r>
              <a:rPr kumimoji="1" lang="ja-JP" altLang="en-US" sz="3200" dirty="0"/>
              <a:t>．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EBCF47A-45C2-0330-BD11-2425B6B2F2E2}"/>
              </a:ext>
            </a:extLst>
          </p:cNvPr>
          <p:cNvGrpSpPr/>
          <p:nvPr/>
        </p:nvGrpSpPr>
        <p:grpSpPr>
          <a:xfrm>
            <a:off x="10483" y="1659912"/>
            <a:ext cx="2739275" cy="2638064"/>
            <a:chOff x="10483" y="1659912"/>
            <a:chExt cx="2739275" cy="2638064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BBFFCB2F-659F-480E-ED01-3C0883845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50901" y="1659912"/>
              <a:ext cx="2258440" cy="2053289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771C47A6-E012-1822-EB4F-2B26E326EC15}"/>
                </a:ext>
              </a:extLst>
            </p:cNvPr>
            <p:cNvSpPr txBox="1"/>
            <p:nvPr/>
          </p:nvSpPr>
          <p:spPr>
            <a:xfrm>
              <a:off x="10483" y="3713201"/>
              <a:ext cx="2739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Fig5a: P-1</a:t>
              </a:r>
              <a:r>
                <a:rPr kumimoji="1" lang="ja-JP" altLang="en-US" sz="1600" dirty="0">
                  <a:latin typeface="+mj-ea"/>
                  <a:ea typeface="+mj-ea"/>
                </a:rPr>
                <a:t>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indent="174625" algn="ctr"/>
              <a:r>
                <a:rPr kumimoji="1" lang="ja-JP" altLang="en-US" sz="1600" dirty="0">
                  <a:latin typeface="+mj-ea"/>
                  <a:ea typeface="+mj-ea"/>
                </a:rPr>
                <a:t>マトグラム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0119C860-6B9B-93DB-B608-12EC2A16C73A}"/>
              </a:ext>
            </a:extLst>
          </p:cNvPr>
          <p:cNvGrpSpPr/>
          <p:nvPr/>
        </p:nvGrpSpPr>
        <p:grpSpPr>
          <a:xfrm>
            <a:off x="2557986" y="1672609"/>
            <a:ext cx="2739275" cy="2625367"/>
            <a:chOff x="2557986" y="1672609"/>
            <a:chExt cx="2739275" cy="2625367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B0C16BC3-BC75-4E12-33CB-F11C55271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943314" y="1672609"/>
              <a:ext cx="1968618" cy="2040592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2675458A-56F0-77B7-8B80-6CB64DCD5B36}"/>
                </a:ext>
              </a:extLst>
            </p:cNvPr>
            <p:cNvSpPr txBox="1"/>
            <p:nvPr/>
          </p:nvSpPr>
          <p:spPr>
            <a:xfrm>
              <a:off x="2557986" y="3713201"/>
              <a:ext cx="2739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Fig5b: P-2</a:t>
              </a:r>
              <a:r>
                <a:rPr kumimoji="1" lang="ja-JP" altLang="en-US" sz="1600" dirty="0">
                  <a:latin typeface="+mj-ea"/>
                  <a:ea typeface="+mj-ea"/>
                </a:rPr>
                <a:t>の</a:t>
              </a:r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indent="174625" algn="ctr"/>
              <a:r>
                <a:rPr kumimoji="1" lang="ja-JP" altLang="en-US" sz="1600" dirty="0">
                  <a:latin typeface="+mj-ea"/>
                  <a:ea typeface="+mj-ea"/>
                </a:rPr>
                <a:t>マトグラム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FBE117A-9FA1-BCB7-3071-599765ACC9A2}"/>
              </a:ext>
            </a:extLst>
          </p:cNvPr>
          <p:cNvGrpSpPr/>
          <p:nvPr/>
        </p:nvGrpSpPr>
        <p:grpSpPr>
          <a:xfrm>
            <a:off x="1320401" y="4406062"/>
            <a:ext cx="2739275" cy="2623922"/>
            <a:chOff x="1320401" y="4406062"/>
            <a:chExt cx="2739275" cy="2623922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9534F082-0784-449E-68C3-A44767B9F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524742" y="4406062"/>
              <a:ext cx="2330595" cy="2039147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CA1E463-6BE4-8726-8E66-BD9EEC114724}"/>
                </a:ext>
              </a:extLst>
            </p:cNvPr>
            <p:cNvSpPr txBox="1"/>
            <p:nvPr/>
          </p:nvSpPr>
          <p:spPr>
            <a:xfrm>
              <a:off x="1320401" y="6445209"/>
              <a:ext cx="273927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Fig5c: P-1, P-2</a:t>
              </a:r>
              <a:r>
                <a:rPr kumimoji="1" lang="ja-JP" altLang="en-US" sz="1600" dirty="0">
                  <a:latin typeface="+mj-ea"/>
                  <a:ea typeface="+mj-ea"/>
                </a:rPr>
                <a:t>のバイオ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indent="266700" algn="ctr"/>
              <a:r>
                <a:rPr kumimoji="1" lang="ja-JP" altLang="en-US" sz="1600" dirty="0">
                  <a:latin typeface="+mj-ea"/>
                  <a:ea typeface="+mj-ea"/>
                </a:rPr>
                <a:t>アッセイ結果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051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19619973-3E95-62B7-A75D-7D71DE12F971}"/>
              </a:ext>
            </a:extLst>
          </p:cNvPr>
          <p:cNvGrpSpPr/>
          <p:nvPr/>
        </p:nvGrpSpPr>
        <p:grpSpPr>
          <a:xfrm>
            <a:off x="119983" y="2589651"/>
            <a:ext cx="5105937" cy="3682986"/>
            <a:chOff x="906662" y="4273006"/>
            <a:chExt cx="3821202" cy="2756288"/>
          </a:xfrm>
        </p:grpSpPr>
        <p:pic>
          <p:nvPicPr>
            <p:cNvPr id="20" name="図 19" descr="ダイアグラム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AD1DD8C7-2468-FB0C-BB64-630DB64D6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6662" y="4273006"/>
              <a:ext cx="3821202" cy="2262364"/>
            </a:xfrm>
            <a:prstGeom prst="rect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1264EA5-17BF-87CC-02CA-1020A276FEC9}"/>
                </a:ext>
              </a:extLst>
            </p:cNvPr>
            <p:cNvSpPr txBox="1"/>
            <p:nvPr/>
          </p:nvSpPr>
          <p:spPr>
            <a:xfrm>
              <a:off x="906662" y="6591658"/>
              <a:ext cx="3821202" cy="4376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+mj-lt"/>
                </a:rPr>
                <a:t>Fig6: W82/NOD1-3</a:t>
              </a:r>
              <a:r>
                <a:rPr kumimoji="1" lang="ja-JP" altLang="en-US" sz="1600" dirty="0">
                  <a:latin typeface="+mj-ea"/>
                  <a:ea typeface="+mj-ea"/>
                </a:rPr>
                <a:t>の篩管液から調整した</a:t>
              </a:r>
              <a:endParaRPr kumimoji="1" lang="en-US" altLang="ja-JP" sz="1600" dirty="0">
                <a:latin typeface="+mj-ea"/>
                <a:ea typeface="+mj-ea"/>
              </a:endParaRPr>
            </a:p>
            <a:p>
              <a:pPr algn="ctr"/>
              <a:r>
                <a:rPr kumimoji="1" lang="en-US" altLang="ja-JP" sz="1600" dirty="0">
                  <a:latin typeface="+mj-lt"/>
                </a:rPr>
                <a:t>HPLC</a:t>
              </a:r>
              <a:r>
                <a:rPr kumimoji="1" lang="ja-JP" altLang="en-US" sz="1600" dirty="0">
                  <a:latin typeface="+mj-ea"/>
                  <a:ea typeface="+mj-ea"/>
                </a:rPr>
                <a:t>クロマトグラム</a:t>
              </a:r>
              <a:endParaRPr kumimoji="1" lang="en-US" altLang="ja-JP" sz="1600" dirty="0">
                <a:latin typeface="+mj-ea"/>
                <a:ea typeface="+mj-ea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15C32F-177B-12EB-8A74-CBBC9A6B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SNRS</a:t>
            </a:r>
            <a:r>
              <a:rPr lang="ja-JP" altLang="en-US" dirty="0"/>
              <a:t>は少なくとも</a:t>
            </a:r>
            <a:r>
              <a:rPr kumimoji="1" lang="en-US" altLang="ja-JP" dirty="0"/>
              <a:t>2</a:t>
            </a:r>
            <a:r>
              <a:rPr kumimoji="1" lang="ja-JP" altLang="en-US" dirty="0"/>
              <a:t>種類存在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3CDC63-4AA3-C004-26E8-B6CA7F5FFB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5906" y="1368572"/>
            <a:ext cx="5345907" cy="5646765"/>
          </a:xfrm>
        </p:spPr>
        <p:txBody>
          <a:bodyPr>
            <a:noAutofit/>
          </a:bodyPr>
          <a:lstStyle/>
          <a:p>
            <a:r>
              <a:rPr lang="en-US" altLang="ja-JP" sz="3200" dirty="0"/>
              <a:t>W82/NOD1-3</a:t>
            </a:r>
            <a:r>
              <a:rPr lang="ja-JP" altLang="en-US" sz="3200" dirty="0">
                <a:latin typeface="+mn-ea"/>
              </a:rPr>
              <a:t>の篩管液を，</a:t>
            </a:r>
            <a:r>
              <a:rPr lang="en-US" altLang="ja-JP" sz="3200" dirty="0"/>
              <a:t>HPLC</a:t>
            </a:r>
            <a:r>
              <a:rPr lang="ja-JP" altLang="en-US" sz="3200" dirty="0">
                <a:latin typeface="+mn-ea"/>
              </a:rPr>
              <a:t>で分析した </a:t>
            </a:r>
            <a:r>
              <a:rPr lang="en-US" altLang="ja-JP" sz="3200" dirty="0">
                <a:latin typeface="+mj-lt"/>
              </a:rPr>
              <a:t>(Fig6)</a:t>
            </a:r>
            <a:r>
              <a:rPr lang="ja-JP" altLang="en-US" sz="3200" dirty="0">
                <a:latin typeface="+mn-ea"/>
              </a:rPr>
              <a:t>．</a:t>
            </a:r>
            <a:endParaRPr lang="en-US" altLang="ja-JP" sz="3200" dirty="0">
              <a:latin typeface="+mn-ea"/>
            </a:endParaRPr>
          </a:p>
          <a:p>
            <a:r>
              <a:rPr lang="ja-JP" altLang="en-US" sz="3200" dirty="0">
                <a:latin typeface="+mn-ea"/>
              </a:rPr>
              <a:t>両者ともに </a:t>
            </a:r>
            <a:r>
              <a:rPr lang="en-US" altLang="ja-JP" sz="3200" dirty="0">
                <a:solidFill>
                  <a:schemeClr val="accent6"/>
                </a:solidFill>
              </a:rPr>
              <a:t>W82</a:t>
            </a:r>
            <a:r>
              <a:rPr lang="ja-JP" altLang="en-US" sz="3200" dirty="0">
                <a:solidFill>
                  <a:schemeClr val="accent6"/>
                </a:solidFill>
                <a:latin typeface="+mn-ea"/>
              </a:rPr>
              <a:t>の篩管液のみで検出 </a:t>
            </a:r>
            <a:r>
              <a:rPr lang="ja-JP" altLang="en-US" sz="3200" dirty="0">
                <a:latin typeface="+mn-ea"/>
              </a:rPr>
              <a:t>された．</a:t>
            </a:r>
            <a:endParaRPr lang="en-US" altLang="ja-JP" sz="3200" dirty="0">
              <a:latin typeface="+mn-ea"/>
            </a:endParaRPr>
          </a:p>
          <a:p>
            <a:pPr>
              <a:buClr>
                <a:schemeClr val="tx1"/>
              </a:buClr>
            </a:pPr>
            <a:r>
              <a:rPr lang="en-US" altLang="ja-JP" sz="3200" dirty="0">
                <a:solidFill>
                  <a:schemeClr val="accent6"/>
                </a:solidFill>
              </a:rPr>
              <a:t>W82</a:t>
            </a:r>
            <a:r>
              <a:rPr lang="ja-JP" altLang="en-US" sz="3200" dirty="0">
                <a:solidFill>
                  <a:schemeClr val="accent6"/>
                </a:solidFill>
              </a:rPr>
              <a:t>に限った化合物</a:t>
            </a:r>
            <a:r>
              <a:rPr lang="ja-JP" altLang="en-US" sz="3200" dirty="0"/>
              <a:t>である．</a:t>
            </a:r>
            <a:endParaRPr lang="en-US" altLang="ja-JP" sz="3200" dirty="0"/>
          </a:p>
          <a:p>
            <a:r>
              <a:rPr lang="ja-JP" altLang="en-US" sz="3200" dirty="0">
                <a:latin typeface="+mn-ea"/>
              </a:rPr>
              <a:t>ピークの </a:t>
            </a:r>
            <a:r>
              <a:rPr lang="ja-JP" altLang="en-US" sz="3200" dirty="0">
                <a:solidFill>
                  <a:schemeClr val="accent6"/>
                </a:solidFill>
                <a:latin typeface="+mn-ea"/>
              </a:rPr>
              <a:t>保持時間が</a:t>
            </a:r>
            <a:r>
              <a:rPr lang="en-US" altLang="ja-JP" sz="3200" dirty="0">
                <a:solidFill>
                  <a:schemeClr val="accent6"/>
                </a:solidFill>
              </a:rPr>
              <a:t>30</a:t>
            </a:r>
            <a:r>
              <a:rPr lang="ja-JP" altLang="en-US" sz="3200" dirty="0">
                <a:solidFill>
                  <a:schemeClr val="accent6"/>
                </a:solidFill>
              </a:rPr>
              <a:t>分</a:t>
            </a:r>
            <a:r>
              <a:rPr lang="ja-JP" altLang="en-US" sz="3200" dirty="0">
                <a:solidFill>
                  <a:schemeClr val="accent6"/>
                </a:solidFill>
                <a:latin typeface="+mn-ea"/>
              </a:rPr>
              <a:t>差</a:t>
            </a:r>
            <a:r>
              <a:rPr lang="ja-JP" altLang="en-US" sz="3200" dirty="0">
                <a:latin typeface="+mn-ea"/>
              </a:rPr>
              <a:t>より，</a:t>
            </a:r>
            <a:r>
              <a:rPr lang="ja-JP" altLang="en-US" sz="3200" dirty="0">
                <a:solidFill>
                  <a:schemeClr val="accent6"/>
                </a:solidFill>
                <a:latin typeface="+mn-ea"/>
              </a:rPr>
              <a:t>別の化合物由来であると判断できる</a:t>
            </a:r>
            <a:r>
              <a:rPr lang="ja-JP" altLang="en-US" sz="3200" dirty="0">
                <a:latin typeface="+mn-ea"/>
              </a:rPr>
              <a:t>．</a:t>
            </a:r>
            <a:endParaRPr lang="en-US" altLang="ja-JP" sz="3200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951D054-8443-9533-9F35-CB39B636519E}"/>
              </a:ext>
            </a:extLst>
          </p:cNvPr>
          <p:cNvSpPr/>
          <p:nvPr/>
        </p:nvSpPr>
        <p:spPr>
          <a:xfrm>
            <a:off x="786890" y="3352800"/>
            <a:ext cx="294194" cy="495296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8828208-15B7-BE30-80F6-C9A078EC7C27}"/>
              </a:ext>
            </a:extLst>
          </p:cNvPr>
          <p:cNvSpPr/>
          <p:nvPr/>
        </p:nvSpPr>
        <p:spPr>
          <a:xfrm>
            <a:off x="3707115" y="3744042"/>
            <a:ext cx="294194" cy="116757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57C1E20-C778-7385-7743-1129D16B384B}"/>
              </a:ext>
            </a:extLst>
          </p:cNvPr>
          <p:cNvCxnSpPr>
            <a:cxnSpLocks/>
          </p:cNvCxnSpPr>
          <p:nvPr/>
        </p:nvCxnSpPr>
        <p:spPr>
          <a:xfrm>
            <a:off x="704850" y="3860799"/>
            <a:ext cx="4406900" cy="0"/>
          </a:xfrm>
          <a:prstGeom prst="line">
            <a:avLst/>
          </a:prstGeom>
          <a:ln w="381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E9820AF-D33B-8674-AE0B-AA9063B14480}"/>
              </a:ext>
            </a:extLst>
          </p:cNvPr>
          <p:cNvCxnSpPr>
            <a:cxnSpLocks/>
          </p:cNvCxnSpPr>
          <p:nvPr/>
        </p:nvCxnSpPr>
        <p:spPr>
          <a:xfrm>
            <a:off x="704850" y="5211762"/>
            <a:ext cx="4406900" cy="0"/>
          </a:xfrm>
          <a:prstGeom prst="line">
            <a:avLst/>
          </a:prstGeom>
          <a:ln w="381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矢印: 左右 17">
            <a:extLst>
              <a:ext uri="{FF2B5EF4-FFF2-40B4-BE49-F238E27FC236}">
                <a16:creationId xmlns:a16="http://schemas.microsoft.com/office/drawing/2014/main" id="{C26298C3-0D26-641E-1047-44C6F7405D0E}"/>
              </a:ext>
            </a:extLst>
          </p:cNvPr>
          <p:cNvSpPr/>
          <p:nvPr/>
        </p:nvSpPr>
        <p:spPr>
          <a:xfrm>
            <a:off x="1081084" y="3352799"/>
            <a:ext cx="2626031" cy="495296"/>
          </a:xfrm>
          <a:prstGeom prst="leftRightArrow">
            <a:avLst>
              <a:gd name="adj1" fmla="val 51923"/>
              <a:gd name="adj2" fmla="val 61539"/>
            </a:avLst>
          </a:prstGeom>
          <a:gradFill>
            <a:gsLst>
              <a:gs pos="0">
                <a:schemeClr val="accent4">
                  <a:tint val="50000"/>
                  <a:satMod val="300000"/>
                  <a:alpha val="90000"/>
                </a:schemeClr>
              </a:gs>
              <a:gs pos="35000">
                <a:schemeClr val="accent4">
                  <a:tint val="37000"/>
                  <a:satMod val="300000"/>
                  <a:alpha val="90000"/>
                </a:schemeClr>
              </a:gs>
              <a:gs pos="100000">
                <a:schemeClr val="accent4">
                  <a:tint val="15000"/>
                  <a:satMod val="350000"/>
                  <a:alpha val="90000"/>
                </a:schemeClr>
              </a:gs>
            </a:gsLst>
          </a:gradFill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>
                <a:latin typeface="+mj-lt"/>
                <a:ea typeface="+mj-ea"/>
              </a:rPr>
              <a:t>30</a:t>
            </a:r>
            <a:r>
              <a:rPr kumimoji="1" lang="ja-JP" altLang="en-US" sz="2000" dirty="0">
                <a:latin typeface="+mj-lt"/>
                <a:ea typeface="+mj-ea"/>
              </a:rPr>
              <a:t>分</a:t>
            </a:r>
            <a:r>
              <a:rPr kumimoji="1" lang="ja-JP" altLang="en-US" sz="2000" dirty="0">
                <a:latin typeface="+mj-ea"/>
                <a:ea typeface="+mj-ea"/>
              </a:rPr>
              <a:t>差</a:t>
            </a:r>
          </a:p>
        </p:txBody>
      </p:sp>
    </p:spTree>
    <p:extLst>
      <p:ext uri="{BB962C8B-B14F-4D97-AF65-F5344CB8AC3E}">
        <p14:creationId xmlns:p14="http://schemas.microsoft.com/office/powerpoint/2010/main" val="141080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15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DD2A23-45C3-83E0-7653-8BFF92583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UV</a:t>
            </a:r>
            <a:r>
              <a:rPr lang="ja-JP" altLang="en-US" dirty="0"/>
              <a:t>スペクトルの比較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6D071BD-4B0A-9135-8B6D-47655A8FEA1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0" y="5873783"/>
            <a:ext cx="10691813" cy="1141554"/>
          </a:xfrm>
        </p:spPr>
        <p:txBody>
          <a:bodyPr>
            <a:normAutofit/>
          </a:bodyPr>
          <a:lstStyle/>
          <a:p>
            <a:r>
              <a:rPr kumimoji="1" lang="ja-JP" altLang="en-US" sz="3200" dirty="0"/>
              <a:t>植物ホルモン，ポリアミンとの</a:t>
            </a:r>
            <a:r>
              <a:rPr kumimoji="1" lang="ja-JP" altLang="en-US" sz="3200" dirty="0">
                <a:solidFill>
                  <a:schemeClr val="accent6"/>
                </a:solidFill>
              </a:rPr>
              <a:t>非一致が確認</a:t>
            </a:r>
            <a:r>
              <a:rPr kumimoji="1" lang="ja-JP" altLang="en-US" sz="3200" dirty="0"/>
              <a:t>された．</a:t>
            </a:r>
            <a:endParaRPr kumimoji="1" lang="en-US" altLang="ja-JP" sz="32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CE8D8CB-89BB-1652-3361-7C56F0DF04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002" y="1479179"/>
            <a:ext cx="8587575" cy="4239031"/>
          </a:xfrm>
          <a:prstGeom prst="rect">
            <a:avLst/>
          </a:prstGeom>
        </p:spPr>
      </p:pic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0BA2B0D1-DE03-AAFB-E82D-9028B08D84D4}"/>
              </a:ext>
            </a:extLst>
          </p:cNvPr>
          <p:cNvGrpSpPr>
            <a:grpSpLocks/>
          </p:cNvGrpSpPr>
          <p:nvPr/>
        </p:nvGrpSpPr>
        <p:grpSpPr>
          <a:xfrm>
            <a:off x="6748464" y="1466481"/>
            <a:ext cx="2821115" cy="1352919"/>
            <a:chOff x="6495744" y="1463470"/>
            <a:chExt cx="2646443" cy="1221758"/>
          </a:xfrm>
        </p:grpSpPr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D9AFC865-1B28-6914-D77F-A2C339A6C0DC}"/>
                </a:ext>
              </a:extLst>
            </p:cNvPr>
            <p:cNvSpPr>
              <a:spLocks/>
            </p:cNvSpPr>
            <p:nvPr/>
          </p:nvSpPr>
          <p:spPr>
            <a:xfrm>
              <a:off x="6495744" y="1463470"/>
              <a:ext cx="2646443" cy="1221758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3" name="グラフィックス 72">
              <a:extLst>
                <a:ext uri="{FF2B5EF4-FFF2-40B4-BE49-F238E27FC236}">
                  <a16:creationId xmlns:a16="http://schemas.microsoft.com/office/drawing/2014/main" id="{0F2717B4-3549-D542-755F-DCABCFA2EF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83384" y="1521288"/>
              <a:ext cx="1167196" cy="1123152"/>
            </a:xfrm>
            <a:prstGeom prst="rect">
              <a:avLst/>
            </a:prstGeom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3AAD6E1-FC48-8188-6A8E-65CD29AD5389}"/>
              </a:ext>
            </a:extLst>
          </p:cNvPr>
          <p:cNvGrpSpPr>
            <a:grpSpLocks/>
          </p:cNvGrpSpPr>
          <p:nvPr/>
        </p:nvGrpSpPr>
        <p:grpSpPr>
          <a:xfrm>
            <a:off x="3862388" y="2870727"/>
            <a:ext cx="2886077" cy="1384819"/>
            <a:chOff x="3843406" y="2674009"/>
            <a:chExt cx="3068007" cy="1417141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BF631FFA-2FCF-B85E-7844-A6DE44EA93F2}"/>
                </a:ext>
              </a:extLst>
            </p:cNvPr>
            <p:cNvSpPr>
              <a:spLocks/>
            </p:cNvSpPr>
            <p:nvPr/>
          </p:nvSpPr>
          <p:spPr>
            <a:xfrm>
              <a:off x="3843406" y="2674009"/>
              <a:ext cx="3068007" cy="1417141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8" name="グラフィックス 77">
              <a:extLst>
                <a:ext uri="{FF2B5EF4-FFF2-40B4-BE49-F238E27FC236}">
                  <a16:creationId xmlns:a16="http://schemas.microsoft.com/office/drawing/2014/main" id="{E63DBC7C-534C-49DE-F70B-5BE0D4F3D4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39609" y="2780521"/>
              <a:ext cx="1894004" cy="1211606"/>
            </a:xfrm>
            <a:prstGeom prst="rect">
              <a:avLst/>
            </a:prstGeom>
            <a:effectLst>
              <a:glow rad="101600">
                <a:schemeClr val="accent3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379E932-FB8F-BCE3-559A-9F923837321A}"/>
              </a:ext>
            </a:extLst>
          </p:cNvPr>
          <p:cNvGrpSpPr>
            <a:grpSpLocks/>
          </p:cNvGrpSpPr>
          <p:nvPr/>
        </p:nvGrpSpPr>
        <p:grpSpPr>
          <a:xfrm>
            <a:off x="6779447" y="2871514"/>
            <a:ext cx="2790131" cy="1445632"/>
            <a:chOff x="6541306" y="2655185"/>
            <a:chExt cx="2966012" cy="1479372"/>
          </a:xfrm>
        </p:grpSpPr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45D82AC3-A96D-CEB3-B785-8CD3819D82E7}"/>
                </a:ext>
              </a:extLst>
            </p:cNvPr>
            <p:cNvSpPr>
              <a:spLocks/>
            </p:cNvSpPr>
            <p:nvPr/>
          </p:nvSpPr>
          <p:spPr>
            <a:xfrm>
              <a:off x="6541306" y="2664895"/>
              <a:ext cx="2966012" cy="1469662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0" name="グラフィックス 79">
              <a:extLst>
                <a:ext uri="{FF2B5EF4-FFF2-40B4-BE49-F238E27FC236}">
                  <a16:creationId xmlns:a16="http://schemas.microsoft.com/office/drawing/2014/main" id="{3EFE57D8-C5F7-E5DD-C3F3-20BFEB9EBB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41596" y="2655185"/>
              <a:ext cx="1427042" cy="1456773"/>
            </a:xfrm>
            <a:prstGeom prst="rect">
              <a:avLst/>
            </a:prstGeom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35621E00-90BF-17F7-9AF3-3D87AF896E9B}"/>
              </a:ext>
            </a:extLst>
          </p:cNvPr>
          <p:cNvGrpSpPr>
            <a:grpSpLocks/>
          </p:cNvGrpSpPr>
          <p:nvPr/>
        </p:nvGrpSpPr>
        <p:grpSpPr>
          <a:xfrm>
            <a:off x="982000" y="4317144"/>
            <a:ext cx="2833148" cy="1411338"/>
            <a:chOff x="1733763" y="3895570"/>
            <a:chExt cx="3011742" cy="1444279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28FE906E-66F2-4418-884D-0BCEA295F828}"/>
                </a:ext>
              </a:extLst>
            </p:cNvPr>
            <p:cNvSpPr>
              <a:spLocks/>
            </p:cNvSpPr>
            <p:nvPr/>
          </p:nvSpPr>
          <p:spPr>
            <a:xfrm>
              <a:off x="1733763" y="3895570"/>
              <a:ext cx="3011742" cy="1444279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439C5F98-988D-A82C-4204-285C795163E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018297" y="3975321"/>
              <a:ext cx="2442486" cy="1317198"/>
            </a:xfrm>
            <a:prstGeom prst="rect">
              <a:avLst/>
            </a:prstGeom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3AC53E0A-4C98-38ED-171C-9490E7FA2C07}"/>
              </a:ext>
            </a:extLst>
          </p:cNvPr>
          <p:cNvGrpSpPr>
            <a:grpSpLocks/>
          </p:cNvGrpSpPr>
          <p:nvPr/>
        </p:nvGrpSpPr>
        <p:grpSpPr>
          <a:xfrm>
            <a:off x="3862388" y="4306871"/>
            <a:ext cx="2833148" cy="1411338"/>
            <a:chOff x="4152945" y="3889195"/>
            <a:chExt cx="3011742" cy="1444279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D39EE89-44E3-3770-66F6-B0014D11BC49}"/>
                </a:ext>
              </a:extLst>
            </p:cNvPr>
            <p:cNvSpPr>
              <a:spLocks/>
            </p:cNvSpPr>
            <p:nvPr/>
          </p:nvSpPr>
          <p:spPr>
            <a:xfrm>
              <a:off x="4152945" y="3889195"/>
              <a:ext cx="3011742" cy="1444279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93F0A4EE-99FE-A2F0-822E-5029BAB659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91152" y="3989973"/>
              <a:ext cx="2397286" cy="1289911"/>
            </a:xfrm>
            <a:prstGeom prst="rect">
              <a:avLst/>
            </a:prstGeom>
            <a:effectLst>
              <a:glow rad="101600">
                <a:schemeClr val="accent5">
                  <a:satMod val="175000"/>
                  <a:alpha val="40000"/>
                </a:schemeClr>
              </a:glow>
            </a:effectLst>
          </p:spPr>
        </p:pic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A56EC61B-77C0-C85D-B4D0-57741C0F9B28}"/>
              </a:ext>
            </a:extLst>
          </p:cNvPr>
          <p:cNvGrpSpPr>
            <a:grpSpLocks/>
          </p:cNvGrpSpPr>
          <p:nvPr/>
        </p:nvGrpSpPr>
        <p:grpSpPr>
          <a:xfrm>
            <a:off x="965564" y="2861239"/>
            <a:ext cx="2865842" cy="1388436"/>
            <a:chOff x="1747807" y="2694281"/>
            <a:chExt cx="3046496" cy="1420842"/>
          </a:xfrm>
        </p:grpSpPr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A34CFD79-6767-A3E8-79C6-424E54774282}"/>
                </a:ext>
              </a:extLst>
            </p:cNvPr>
            <p:cNvSpPr>
              <a:spLocks/>
            </p:cNvSpPr>
            <p:nvPr/>
          </p:nvSpPr>
          <p:spPr>
            <a:xfrm>
              <a:off x="1747807" y="2697983"/>
              <a:ext cx="3046496" cy="1417140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pic>
          <p:nvPicPr>
            <p:cNvPr id="75" name="グラフィックス 74">
              <a:extLst>
                <a:ext uri="{FF2B5EF4-FFF2-40B4-BE49-F238E27FC236}">
                  <a16:creationId xmlns:a16="http://schemas.microsoft.com/office/drawing/2014/main" id="{C749509B-E21D-FCEE-5C61-696E143A44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323941" y="2694281"/>
              <a:ext cx="1632995" cy="1417140"/>
            </a:xfrm>
            <a:prstGeom prst="rect">
              <a:avLst/>
            </a:prstGeom>
            <a:effectLst>
              <a:glow rad="139700">
                <a:srgbClr val="7030A0">
                  <a:alpha val="40000"/>
                </a:srgbClr>
              </a:glow>
            </a:effectLst>
          </p:spPr>
        </p:pic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D9B0B6F-5BA3-AE9B-D188-2DC815A16038}"/>
              </a:ext>
            </a:extLst>
          </p:cNvPr>
          <p:cNvSpPr txBox="1"/>
          <p:nvPr/>
        </p:nvSpPr>
        <p:spPr>
          <a:xfrm>
            <a:off x="982002" y="5725693"/>
            <a:ext cx="8587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+mj-lt"/>
              </a:rPr>
              <a:t>Fig7: P-1, P-2</a:t>
            </a:r>
            <a:r>
              <a:rPr kumimoji="1" lang="ja-JP" altLang="en-US" sz="1600" dirty="0">
                <a:latin typeface="+mj-ea"/>
                <a:ea typeface="+mj-ea"/>
              </a:rPr>
              <a:t>と既存候補化合物との</a:t>
            </a:r>
            <a:r>
              <a:rPr kumimoji="1" lang="en-US" altLang="ja-JP" sz="1600" dirty="0">
                <a:latin typeface="+mj-lt"/>
              </a:rPr>
              <a:t>UV</a:t>
            </a:r>
            <a:r>
              <a:rPr kumimoji="1" lang="ja-JP" altLang="en-US" sz="1600" dirty="0">
                <a:latin typeface="+mj-ea"/>
                <a:ea typeface="+mj-ea"/>
              </a:rPr>
              <a:t>スペクトルの比較</a:t>
            </a:r>
            <a:endParaRPr kumimoji="1" lang="en-US" altLang="ja-JP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1937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B68B22-6235-7401-262D-D88B86CB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既存候補化合物との非一致</a:t>
            </a:r>
          </a:p>
        </p:txBody>
      </p:sp>
      <p:sp>
        <p:nvSpPr>
          <p:cNvPr id="23" name="テキスト プレースホルダー 2">
            <a:extLst>
              <a:ext uri="{FF2B5EF4-FFF2-40B4-BE49-F238E27FC236}">
                <a16:creationId xmlns:a16="http://schemas.microsoft.com/office/drawing/2014/main" id="{97E78DBC-39B1-68A8-8EC0-8015B9496CD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 err="1"/>
              <a:t>NotebookLM</a:t>
            </a:r>
            <a:r>
              <a:rPr lang="ja-JP" altLang="en-US" dirty="0"/>
              <a:t>で作成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3A3B68A-DFC1-CDCA-5A2B-E878963D17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835" y="1530875"/>
            <a:ext cx="9154274" cy="526061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134CBCB-ABC2-4E6E-03FD-2899B2EC9656}"/>
              </a:ext>
            </a:extLst>
          </p:cNvPr>
          <p:cNvSpPr/>
          <p:nvPr/>
        </p:nvSpPr>
        <p:spPr>
          <a:xfrm>
            <a:off x="7753350" y="5080000"/>
            <a:ext cx="1708150" cy="285750"/>
          </a:xfrm>
          <a:prstGeom prst="rect">
            <a:avLst/>
          </a:prstGeom>
          <a:solidFill>
            <a:srgbClr val="F6F4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6DB1F52-E2EA-A133-DC6F-8025CCE40050}"/>
              </a:ext>
            </a:extLst>
          </p:cNvPr>
          <p:cNvSpPr txBox="1"/>
          <p:nvPr/>
        </p:nvSpPr>
        <p:spPr>
          <a:xfrm>
            <a:off x="7596571" y="5139323"/>
            <a:ext cx="2021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+mj-ea"/>
                <a:ea typeface="+mj-ea"/>
              </a:rPr>
              <a:t>ジャスモン酸メチル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40E5E95-355F-5672-16C4-8C529FCCFB8D}"/>
              </a:ext>
            </a:extLst>
          </p:cNvPr>
          <p:cNvSpPr/>
          <p:nvPr/>
        </p:nvSpPr>
        <p:spPr>
          <a:xfrm>
            <a:off x="6076950" y="5930900"/>
            <a:ext cx="641350" cy="285750"/>
          </a:xfrm>
          <a:prstGeom prst="rect">
            <a:avLst/>
          </a:prstGeom>
          <a:solidFill>
            <a:srgbClr val="F6F4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CD43BC2-2BCB-2FFC-642F-4F0CA2FFCC6C}"/>
              </a:ext>
            </a:extLst>
          </p:cNvPr>
          <p:cNvSpPr txBox="1"/>
          <p:nvPr/>
        </p:nvSpPr>
        <p:spPr>
          <a:xfrm>
            <a:off x="5927293" y="58991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+mj-ea"/>
                <a:ea typeface="+mj-ea"/>
              </a:rPr>
              <a:t>モン酸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30778F5-2BCC-AF26-E700-FC6F0E912C28}"/>
              </a:ext>
            </a:extLst>
          </p:cNvPr>
          <p:cNvSpPr/>
          <p:nvPr/>
        </p:nvSpPr>
        <p:spPr>
          <a:xfrm>
            <a:off x="7869978" y="4500462"/>
            <a:ext cx="1135910" cy="685982"/>
          </a:xfrm>
          <a:prstGeom prst="rect">
            <a:avLst/>
          </a:prstGeom>
          <a:solidFill>
            <a:srgbClr val="F6F2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3E07B61-FA40-B42A-AC5C-FE3174131E41}"/>
              </a:ext>
            </a:extLst>
          </p:cNvPr>
          <p:cNvSpPr/>
          <p:nvPr/>
        </p:nvSpPr>
        <p:spPr>
          <a:xfrm>
            <a:off x="8039469" y="3761258"/>
            <a:ext cx="1135910" cy="484511"/>
          </a:xfrm>
          <a:prstGeom prst="rect">
            <a:avLst/>
          </a:prstGeom>
          <a:solidFill>
            <a:srgbClr val="F6F2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528E1AC-C293-A969-917E-6EF1D45A21EA}"/>
              </a:ext>
            </a:extLst>
          </p:cNvPr>
          <p:cNvSpPr/>
          <p:nvPr/>
        </p:nvSpPr>
        <p:spPr>
          <a:xfrm>
            <a:off x="7858125" y="4258832"/>
            <a:ext cx="1708150" cy="285750"/>
          </a:xfrm>
          <a:prstGeom prst="rect">
            <a:avLst/>
          </a:prstGeom>
          <a:solidFill>
            <a:srgbClr val="F6F4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C1A5908-4781-DD00-8460-305F7600941C}"/>
              </a:ext>
            </a:extLst>
          </p:cNvPr>
          <p:cNvSpPr/>
          <p:nvPr/>
        </p:nvSpPr>
        <p:spPr>
          <a:xfrm>
            <a:off x="7963269" y="2898775"/>
            <a:ext cx="1135910" cy="538263"/>
          </a:xfrm>
          <a:prstGeom prst="rect">
            <a:avLst/>
          </a:prstGeom>
          <a:solidFill>
            <a:srgbClr val="F6F2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6C60A13F-3BB2-9B91-77EB-9BF28FEFE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54633" y="2940090"/>
            <a:ext cx="503511" cy="484511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38E4234-AB11-86DF-CFA8-2E9B073E7DB3}"/>
              </a:ext>
            </a:extLst>
          </p:cNvPr>
          <p:cNvSpPr txBox="1"/>
          <p:nvPr/>
        </p:nvSpPr>
        <p:spPr>
          <a:xfrm>
            <a:off x="7894728" y="4231435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>
                <a:latin typeface="+mj-ea"/>
                <a:ea typeface="+mj-ea"/>
              </a:rPr>
              <a:t>アブシジン酸</a:t>
            </a:r>
          </a:p>
        </p:txBody>
      </p:sp>
      <p:pic>
        <p:nvPicPr>
          <p:cNvPr id="15" name="グラフィックス 14">
            <a:extLst>
              <a:ext uri="{FF2B5EF4-FFF2-40B4-BE49-F238E27FC236}">
                <a16:creationId xmlns:a16="http://schemas.microsoft.com/office/drawing/2014/main" id="{4C086107-EA5F-B6EF-77D5-E293B4668B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8975" y="3679294"/>
            <a:ext cx="590550" cy="602854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2" name="グラフィックス 11">
            <a:extLst>
              <a:ext uri="{FF2B5EF4-FFF2-40B4-BE49-F238E27FC236}">
                <a16:creationId xmlns:a16="http://schemas.microsoft.com/office/drawing/2014/main" id="{588997B7-87D4-088C-1923-66929E016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7675" y="4500461"/>
            <a:ext cx="790469" cy="685982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D131F01-DB60-946F-8A9C-8A158AA09DF6}"/>
              </a:ext>
            </a:extLst>
          </p:cNvPr>
          <p:cNvSpPr/>
          <p:nvPr/>
        </p:nvSpPr>
        <p:spPr>
          <a:xfrm>
            <a:off x="7267512" y="5634048"/>
            <a:ext cx="1319275" cy="285750"/>
          </a:xfrm>
          <a:prstGeom prst="rect">
            <a:avLst/>
          </a:prstGeom>
          <a:solidFill>
            <a:srgbClr val="F6F4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A192EE1-DB83-EB7E-3C53-2D711DD6D245}"/>
              </a:ext>
            </a:extLst>
          </p:cNvPr>
          <p:cNvSpPr txBox="1"/>
          <p:nvPr/>
        </p:nvSpPr>
        <p:spPr>
          <a:xfrm>
            <a:off x="7109508" y="5616584"/>
            <a:ext cx="179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+mj-ea"/>
                <a:ea typeface="+mj-ea"/>
              </a:rPr>
              <a:t>アブシジン酸</a:t>
            </a:r>
          </a:p>
        </p:txBody>
      </p:sp>
    </p:spTree>
    <p:extLst>
      <p:ext uri="{BB962C8B-B14F-4D97-AF65-F5344CB8AC3E}">
        <p14:creationId xmlns:p14="http://schemas.microsoft.com/office/powerpoint/2010/main" val="1728215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89AEDEC-3A1C-E8DA-A09D-2AC8F697D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ja-JP" altLang="en-US" dirty="0"/>
              <a:t>社会実装するために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26FB82-A313-E049-F92A-DCB8A68156D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05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EBF0016-62BF-D882-C9A6-BA733674E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今後の展望</a:t>
            </a:r>
          </a:p>
        </p:txBody>
      </p:sp>
    </p:spTree>
    <p:extLst>
      <p:ext uri="{BB962C8B-B14F-4D97-AF65-F5344CB8AC3E}">
        <p14:creationId xmlns:p14="http://schemas.microsoft.com/office/powerpoint/2010/main" val="1397291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4EE4BAEB-3708-6FFA-0CF6-FFE3BED13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今後の展望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B22C890-CC7C-D85E-D7A0-05E6521D97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1" y="1695236"/>
            <a:ext cx="10691813" cy="494872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52A7E2D-9725-9A7D-DA2A-29506420A009}"/>
              </a:ext>
            </a:extLst>
          </p:cNvPr>
          <p:cNvSpPr/>
          <p:nvPr/>
        </p:nvSpPr>
        <p:spPr>
          <a:xfrm>
            <a:off x="4038600" y="2628900"/>
            <a:ext cx="793750" cy="171450"/>
          </a:xfrm>
          <a:prstGeom prst="rect">
            <a:avLst/>
          </a:prstGeom>
          <a:solidFill>
            <a:srgbClr val="F6FC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09EAF3E-5147-7D3D-CAFD-898F89812CEB}"/>
              </a:ext>
            </a:extLst>
          </p:cNvPr>
          <p:cNvSpPr txBox="1"/>
          <p:nvPr/>
        </p:nvSpPr>
        <p:spPr>
          <a:xfrm>
            <a:off x="3945411" y="2581131"/>
            <a:ext cx="10182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50" dirty="0">
                <a:latin typeface="+mj-ea"/>
                <a:ea typeface="+mj-ea"/>
              </a:rPr>
              <a:t>大規模精製</a:t>
            </a:r>
          </a:p>
        </p:txBody>
      </p:sp>
    </p:spTree>
    <p:extLst>
      <p:ext uri="{BB962C8B-B14F-4D97-AF65-F5344CB8AC3E}">
        <p14:creationId xmlns:p14="http://schemas.microsoft.com/office/powerpoint/2010/main" val="1957060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3EC7D6-BC06-73AC-16DF-9D250CE590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ja-JP" altLang="en-US" dirty="0"/>
              <a:t>質問があればどうぞ</a:t>
            </a:r>
            <a:endParaRPr lang="en-US" altLang="ja-JP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7E140DE-4E50-EE30-370B-0A3612CA407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06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3047A41-D5F7-F420-F5E9-05D532520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質疑応答</a:t>
            </a:r>
          </a:p>
        </p:txBody>
      </p:sp>
    </p:spTree>
    <p:extLst>
      <p:ext uri="{BB962C8B-B14F-4D97-AF65-F5344CB8AC3E}">
        <p14:creationId xmlns:p14="http://schemas.microsoft.com/office/powerpoint/2010/main" val="234065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CCEAF6"/>
      </a:accent2>
      <a:accent3>
        <a:srgbClr val="70AD47"/>
      </a:accent3>
      <a:accent4>
        <a:srgbClr val="ED7D31"/>
      </a:accent4>
      <a:accent5>
        <a:srgbClr val="FFC000"/>
      </a:accent5>
      <a:accent6>
        <a:srgbClr val="FF42A1"/>
      </a:accent6>
      <a:hlink>
        <a:srgbClr val="0563C1"/>
      </a:hlink>
      <a:folHlink>
        <a:srgbClr val="954F72"/>
      </a:folHlink>
    </a:clrScheme>
    <a:fontScheme name="main">
      <a:majorFont>
        <a:latin typeface="Inter Medium"/>
        <a:ea typeface="Noto Sans JP Medium"/>
        <a:cs typeface=""/>
      </a:majorFont>
      <a:minorFont>
        <a:latin typeface="Inter Bold"/>
        <a:ea typeface="Noto Sans JP Bold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1471</Words>
  <Application>Microsoft Office PowerPoint</Application>
  <PresentationFormat>ユーザー設定</PresentationFormat>
  <Paragraphs>304</Paragraphs>
  <Slides>35</Slides>
  <Notes>1</Notes>
  <HiddenSlides>4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35</vt:i4>
      </vt:variant>
    </vt:vector>
  </HeadingPairs>
  <TitlesOfParts>
    <vt:vector size="43" baseType="lpstr">
      <vt:lpstr>Noto Sans JP Bold</vt:lpstr>
      <vt:lpstr>Noto Sans JP Medium</vt:lpstr>
      <vt:lpstr>游ゴシック</vt:lpstr>
      <vt:lpstr>Arial</vt:lpstr>
      <vt:lpstr>Inter 28pt</vt:lpstr>
      <vt:lpstr>Inter Medium</vt:lpstr>
      <vt:lpstr>Wingdings</vt:lpstr>
      <vt:lpstr>Office テーマ</vt:lpstr>
      <vt:lpstr>Shoot-synthesized nodulation-restricting substances of wild-type soybean present in two different high-performance liquid chromatography peaks of the ethanol-soluble medium-polarity fraction</vt:lpstr>
      <vt:lpstr>選んだ論文</vt:lpstr>
      <vt:lpstr>紹介論文</vt:lpstr>
      <vt:lpstr>理解内容</vt:lpstr>
      <vt:lpstr>論文の背景</vt:lpstr>
      <vt:lpstr>マメ科植物と根粒菌の相互作用</vt:lpstr>
      <vt:lpstr>オートレギュレーション</vt:lpstr>
      <vt:lpstr>研究材料</vt:lpstr>
      <vt:lpstr>要旨</vt:lpstr>
      <vt:lpstr>行われた実験</vt:lpstr>
      <vt:lpstr>栽培条件と材料の準備</vt:lpstr>
      <vt:lpstr>初期調製</vt:lpstr>
      <vt:lpstr>固相抽出による中極性画分の回収</vt:lpstr>
      <vt:lpstr>バイオアッセイ</vt:lpstr>
      <vt:lpstr>篩管液の採取</vt:lpstr>
      <vt:lpstr>活性有無の判別</vt:lpstr>
      <vt:lpstr>実験フロー</vt:lpstr>
      <vt:lpstr>生物活性の読み取り</vt:lpstr>
      <vt:lpstr>分画フローチャート</vt:lpstr>
      <vt:lpstr>HPLC分画</vt:lpstr>
      <vt:lpstr>第 1 分画</vt:lpstr>
      <vt:lpstr>第 2 分画</vt:lpstr>
      <vt:lpstr>分画フローチャート</vt:lpstr>
      <vt:lpstr>HPLC分画</vt:lpstr>
      <vt:lpstr>第 3 分画</vt:lpstr>
      <vt:lpstr>第 4 分画</vt:lpstr>
      <vt:lpstr>分画フローチャート</vt:lpstr>
      <vt:lpstr>最終精製</vt:lpstr>
      <vt:lpstr>精製後のクロマトグラム</vt:lpstr>
      <vt:lpstr>SNRSは少なくとも2種類存在</vt:lpstr>
      <vt:lpstr>UVスペクトルの比較</vt:lpstr>
      <vt:lpstr>既存候補化合物との非一致</vt:lpstr>
      <vt:lpstr>今後の展望</vt:lpstr>
      <vt:lpstr>今後の展望</vt:lpstr>
      <vt:lpstr>質疑応答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2026-06-14T14:19:32Z</dcterms:created>
  <dcterms:modified xsi:type="dcterms:W3CDTF">2026-07-05T17:19:44Z</dcterms:modified>
</cp:coreProperties>
</file>